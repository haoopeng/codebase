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notesMasterIdLst>
    <p:notesMasterId r:id="rId65"/>
  </p:notesMasterIdLst>
  <p:sldIdLst>
    <p:sldId id="598" r:id="rId3"/>
    <p:sldId id="331" r:id="rId4"/>
    <p:sldId id="300" r:id="rId5"/>
    <p:sldId id="583" r:id="rId6"/>
    <p:sldId id="599" r:id="rId7"/>
    <p:sldId id="600" r:id="rId8"/>
    <p:sldId id="359" r:id="rId9"/>
    <p:sldId id="278" r:id="rId10"/>
    <p:sldId id="362" r:id="rId11"/>
    <p:sldId id="566" r:id="rId12"/>
    <p:sldId id="259" r:id="rId13"/>
    <p:sldId id="590" r:id="rId14"/>
    <p:sldId id="270" r:id="rId15"/>
    <p:sldId id="588" r:id="rId16"/>
    <p:sldId id="589" r:id="rId17"/>
    <p:sldId id="505" r:id="rId18"/>
    <p:sldId id="271" r:id="rId19"/>
    <p:sldId id="506" r:id="rId20"/>
    <p:sldId id="591" r:id="rId21"/>
    <p:sldId id="501" r:id="rId22"/>
    <p:sldId id="398" r:id="rId23"/>
    <p:sldId id="593" r:id="rId24"/>
    <p:sldId id="594" r:id="rId25"/>
    <p:sldId id="257" r:id="rId26"/>
    <p:sldId id="595" r:id="rId27"/>
    <p:sldId id="261" r:id="rId28"/>
    <p:sldId id="262" r:id="rId29"/>
    <p:sldId id="596" r:id="rId30"/>
    <p:sldId id="263" r:id="rId31"/>
    <p:sldId id="264" r:id="rId32"/>
    <p:sldId id="265" r:id="rId33"/>
    <p:sldId id="267" r:id="rId34"/>
    <p:sldId id="597" r:id="rId35"/>
    <p:sldId id="385" r:id="rId36"/>
    <p:sldId id="384" r:id="rId37"/>
    <p:sldId id="488" r:id="rId38"/>
    <p:sldId id="387" r:id="rId39"/>
    <p:sldId id="389" r:id="rId40"/>
    <p:sldId id="266" r:id="rId41"/>
    <p:sldId id="493" r:id="rId42"/>
    <p:sldId id="391" r:id="rId43"/>
    <p:sldId id="496" r:id="rId44"/>
    <p:sldId id="497" r:id="rId45"/>
    <p:sldId id="392" r:id="rId46"/>
    <p:sldId id="500" r:id="rId47"/>
    <p:sldId id="328" r:id="rId48"/>
    <p:sldId id="329" r:id="rId49"/>
    <p:sldId id="330" r:id="rId50"/>
    <p:sldId id="567" r:id="rId51"/>
    <p:sldId id="332" r:id="rId52"/>
    <p:sldId id="333" r:id="rId53"/>
    <p:sldId id="334" r:id="rId54"/>
    <p:sldId id="336" r:id="rId55"/>
    <p:sldId id="357" r:id="rId56"/>
    <p:sldId id="358" r:id="rId57"/>
    <p:sldId id="587" r:id="rId58"/>
    <p:sldId id="337" r:id="rId59"/>
    <p:sldId id="338" r:id="rId60"/>
    <p:sldId id="340" r:id="rId61"/>
    <p:sldId id="343" r:id="rId62"/>
    <p:sldId id="341" r:id="rId63"/>
    <p:sldId id="346" r:id="rId6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8B9"/>
    <a:srgbClr val="0432FF"/>
    <a:srgbClr val="001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336732-C8B6-1247-BB98-8D90FCEB993F}" v="1" dt="2021-01-12T06:42:57.855"/>
  </p1510:revLst>
</p1510:revInfo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44"/>
    <p:restoredTop sz="95680"/>
  </p:normalViewPr>
  <p:slideViewPr>
    <p:cSldViewPr snapToGrid="0" snapToObjects="1">
      <p:cViewPr varScale="1">
        <p:scale>
          <a:sx n="127" d="100"/>
          <a:sy n="127" d="100"/>
        </p:scale>
        <p:origin x="5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 Z" userId="0598117016cd6850" providerId="LiveId" clId="{1E336732-C8B6-1247-BB98-8D90FCEB993F}"/>
    <pc:docChg chg="custSel modSld">
      <pc:chgData name="Q Z" userId="0598117016cd6850" providerId="LiveId" clId="{1E336732-C8B6-1247-BB98-8D90FCEB993F}" dt="2021-01-12T06:42:57.854" v="267"/>
      <pc:docMkLst>
        <pc:docMk/>
      </pc:docMkLst>
      <pc:sldChg chg="addSp">
        <pc:chgData name="Q Z" userId="0598117016cd6850" providerId="LiveId" clId="{1E336732-C8B6-1247-BB98-8D90FCEB993F}" dt="2021-01-12T06:42:57.854" v="267"/>
        <pc:sldMkLst>
          <pc:docMk/>
          <pc:sldMk cId="532418191" sldId="261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532418191" sldId="261"/>
            <ac:inkMk id="3" creationId="{A30FF634-57C9-7447-A2A9-0989AB6EC147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200450022" sldId="262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200450022" sldId="262"/>
            <ac:inkMk id="3" creationId="{60C952EA-9E65-F140-B5F4-DC99132B4E6A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2495955489" sldId="264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2495955489" sldId="264"/>
            <ac:inkMk id="6" creationId="{32BCD74E-1CC4-E842-8CA9-181800AB9985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3318632322" sldId="265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3318632322" sldId="265"/>
            <ac:inkMk id="4" creationId="{B8BFEC17-95EF-214A-97B0-07A7611296C6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502340965" sldId="274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502340965" sldId="274"/>
            <ac:inkMk id="5" creationId="{86494887-27ED-4E4F-AE19-1D4461D58E14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3678248846" sldId="277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3678248846" sldId="277"/>
            <ac:inkMk id="5" creationId="{EF01DF33-D127-9845-9AB3-86A8074B59B4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2548179530" sldId="281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2548179530" sldId="281"/>
            <ac:inkMk id="5" creationId="{FCF82DE6-E3B1-C24C-8507-9D117A6BDB32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1688405579" sldId="283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1688405579" sldId="283"/>
            <ac:inkMk id="4" creationId="{1EE2DC9D-3483-374E-9030-025F16FF530B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1740026222" sldId="286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1740026222" sldId="286"/>
            <ac:inkMk id="5" creationId="{51BFC437-AB53-E04E-B9D7-7F023A3FBEA2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1144012446" sldId="295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1144012446" sldId="295"/>
            <ac:inkMk id="4" creationId="{3C202D86-3016-534E-83B1-6176C2AE0675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800579994" sldId="298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800579994" sldId="298"/>
            <ac:inkMk id="3" creationId="{B1D23E70-D545-4040-85EB-59B1CFB82A4A}"/>
          </ac:inkMkLst>
        </pc:inkChg>
      </pc:sldChg>
      <pc:sldChg chg="modSp mod">
        <pc:chgData name="Q Z" userId="0598117016cd6850" providerId="LiveId" clId="{1E336732-C8B6-1247-BB98-8D90FCEB993F}" dt="2021-01-12T00:36:45.806" v="176" actId="20577"/>
        <pc:sldMkLst>
          <pc:docMk/>
          <pc:sldMk cId="1668323801" sldId="300"/>
        </pc:sldMkLst>
        <pc:spChg chg="mod">
          <ac:chgData name="Q Z" userId="0598117016cd6850" providerId="LiveId" clId="{1E336732-C8B6-1247-BB98-8D90FCEB993F}" dt="2021-01-12T00:36:45.806" v="176" actId="20577"/>
          <ac:spMkLst>
            <pc:docMk/>
            <pc:sldMk cId="1668323801" sldId="300"/>
            <ac:spMk id="3" creationId="{551CAB00-106C-FD48-80DB-4E60597D50E9}"/>
          </ac:spMkLst>
        </pc:sp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3105363865" sldId="302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3105363865" sldId="302"/>
            <ac:inkMk id="4" creationId="{8587AAA6-D756-A64B-93AF-74519FE60536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2062287952" sldId="304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2062287952" sldId="304"/>
            <ac:inkMk id="2" creationId="{7C6ADA49-4D6A-3340-9313-17AFD1137008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1989142146" sldId="307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1989142146" sldId="307"/>
            <ac:inkMk id="4" creationId="{79E07468-77F3-514C-B80C-802205A48887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3545004305" sldId="308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3545004305" sldId="308"/>
            <ac:inkMk id="4" creationId="{5C043EB2-8D58-D448-A5A6-EF951083F642}"/>
          </ac:inkMkLst>
        </pc:inkChg>
      </pc:sldChg>
      <pc:sldChg chg="addSp modSp mod">
        <pc:chgData name="Q Z" userId="0598117016cd6850" providerId="LiveId" clId="{1E336732-C8B6-1247-BB98-8D90FCEB993F}" dt="2021-01-12T06:42:57.854" v="267"/>
        <pc:sldMkLst>
          <pc:docMk/>
          <pc:sldMk cId="581332896" sldId="309"/>
        </pc:sldMkLst>
        <pc:spChg chg="mod">
          <ac:chgData name="Q Z" userId="0598117016cd6850" providerId="LiveId" clId="{1E336732-C8B6-1247-BB98-8D90FCEB993F}" dt="2021-01-12T00:40:56.082" v="266" actId="113"/>
          <ac:spMkLst>
            <pc:docMk/>
            <pc:sldMk cId="581332896" sldId="309"/>
            <ac:spMk id="3" creationId="{1B15B996-5952-CA44-90B0-02ABAA4EAC6C}"/>
          </ac:spMkLst>
        </pc:spChg>
        <pc:inkChg chg="add">
          <ac:chgData name="Q Z" userId="0598117016cd6850" providerId="LiveId" clId="{1E336732-C8B6-1247-BB98-8D90FCEB993F}" dt="2021-01-12T06:42:57.854" v="267"/>
          <ac:inkMkLst>
            <pc:docMk/>
            <pc:sldMk cId="581332896" sldId="309"/>
            <ac:inkMk id="4" creationId="{B47DC87F-0A15-2342-BA53-E570C6B9257C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758662977" sldId="313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758662977" sldId="313"/>
            <ac:inkMk id="6" creationId="{236CEAF4-9349-8C43-97FA-E755F87043D3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806699933" sldId="314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806699933" sldId="314"/>
            <ac:inkMk id="4" creationId="{824F5F81-9516-B84B-85A3-183C8C8282B0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690263055" sldId="315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690263055" sldId="315"/>
            <ac:inkMk id="6" creationId="{1D5ABB7D-7DB8-0242-92E5-1AC09ED25904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938421699" sldId="320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938421699" sldId="320"/>
            <ac:inkMk id="4" creationId="{F6C17624-A201-7443-A1EF-5BEF317DC94F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108173595" sldId="321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108173595" sldId="321"/>
            <ac:inkMk id="5" creationId="{50BE96FE-AAC5-B447-9208-F7FE53F6A0B9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82143924" sldId="322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82143924" sldId="322"/>
            <ac:inkMk id="4" creationId="{F0D28E15-1894-8146-8F56-660176DCC755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1207180606" sldId="323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1207180606" sldId="323"/>
            <ac:inkMk id="5" creationId="{D1CB38B3-DBF0-1043-9BE1-8314B02773AE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2223405279" sldId="327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2223405279" sldId="327"/>
            <ac:inkMk id="4" creationId="{BFFBAD07-1ABE-7246-BB7B-7B93C6C05F60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2580820078" sldId="329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2580820078" sldId="329"/>
            <ac:inkMk id="6" creationId="{B5F4D88E-6934-564D-BE81-1340A8E269EB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3730086564" sldId="331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3730086564" sldId="331"/>
            <ac:inkMk id="4" creationId="{F8ED0622-DF26-A748-84B6-474F576CC577}"/>
          </ac:inkMkLst>
        </pc:inkChg>
      </pc:sldChg>
    </pc:docChg>
  </pc:docChgLst>
  <pc:docChgLst>
    <pc:chgData name="Q Z" userId="0598117016cd6850" providerId="LiveId" clId="{D2FDEEAF-84E1-154D-A946-0BAEA53F7449}"/>
    <pc:docChg chg="undo custSel addSld delSld modSld">
      <pc:chgData name="Q Z" userId="0598117016cd6850" providerId="LiveId" clId="{D2FDEEAF-84E1-154D-A946-0BAEA53F7449}" dt="2019-09-04T18:21:47.967" v="1277" actId="20577"/>
      <pc:docMkLst>
        <pc:docMk/>
      </pc:docMkLst>
      <pc:sldChg chg="modSp">
        <pc:chgData name="Q Z" userId="0598117016cd6850" providerId="LiveId" clId="{D2FDEEAF-84E1-154D-A946-0BAEA53F7449}" dt="2019-09-04T17:50:06.927" v="44" actId="20577"/>
        <pc:sldMkLst>
          <pc:docMk/>
          <pc:sldMk cId="2533019783" sldId="256"/>
        </pc:sldMkLst>
        <pc:spChg chg="mod">
          <ac:chgData name="Q Z" userId="0598117016cd6850" providerId="LiveId" clId="{D2FDEEAF-84E1-154D-A946-0BAEA53F7449}" dt="2019-09-04T17:50:06.927" v="44" actId="20577"/>
          <ac:spMkLst>
            <pc:docMk/>
            <pc:sldMk cId="2533019783" sldId="256"/>
            <ac:spMk id="2" creationId="{4F6B6359-AFC8-5749-ABD8-D22C31534A8C}"/>
          </ac:spMkLst>
        </pc:spChg>
        <pc:spChg chg="mod">
          <ac:chgData name="Q Z" userId="0598117016cd6850" providerId="LiveId" clId="{D2FDEEAF-84E1-154D-A946-0BAEA53F7449}" dt="2019-09-04T14:49:56.657" v="31" actId="20577"/>
          <ac:spMkLst>
            <pc:docMk/>
            <pc:sldMk cId="2533019783" sldId="256"/>
            <ac:spMk id="3" creationId="{03BB8D86-7309-C04C-901B-36514C38109C}"/>
          </ac:spMkLst>
        </pc:spChg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595021793" sldId="257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21927036" sldId="258"/>
        </pc:sldMkLst>
      </pc:sldChg>
      <pc:sldChg chg="modSp">
        <pc:chgData name="Q Z" userId="0598117016cd6850" providerId="LiveId" clId="{D2FDEEAF-84E1-154D-A946-0BAEA53F7449}" dt="2019-09-04T17:51:15.354" v="96" actId="20577"/>
        <pc:sldMkLst>
          <pc:docMk/>
          <pc:sldMk cId="2090911193" sldId="260"/>
        </pc:sldMkLst>
        <pc:spChg chg="mod">
          <ac:chgData name="Q Z" userId="0598117016cd6850" providerId="LiveId" clId="{D2FDEEAF-84E1-154D-A946-0BAEA53F7449}" dt="2019-09-04T17:51:15.354" v="96" actId="20577"/>
          <ac:spMkLst>
            <pc:docMk/>
            <pc:sldMk cId="2090911193" sldId="260"/>
            <ac:spMk id="3" creationId="{858FDFE8-5660-3142-B97F-1D1C17F05F34}"/>
          </ac:spMkLst>
        </pc:spChg>
      </pc:sldChg>
      <pc:sldChg chg="modSp add">
        <pc:chgData name="Q Z" userId="0598117016cd6850" providerId="LiveId" clId="{D2FDEEAF-84E1-154D-A946-0BAEA53F7449}" dt="2019-09-04T18:17:04.095" v="715" actId="27636"/>
        <pc:sldMkLst>
          <pc:docMk/>
          <pc:sldMk cId="532418191" sldId="261"/>
        </pc:sldMkLst>
        <pc:spChg chg="mod">
          <ac:chgData name="Q Z" userId="0598117016cd6850" providerId="LiveId" clId="{D2FDEEAF-84E1-154D-A946-0BAEA53F7449}" dt="2019-09-04T18:17:04.095" v="715" actId="27636"/>
          <ac:spMkLst>
            <pc:docMk/>
            <pc:sldMk cId="532418191" sldId="261"/>
            <ac:spMk id="2" creationId="{A41F1BB6-7C99-144F-B969-F0BD4E7E05F1}"/>
          </ac:spMkLst>
        </pc:spChg>
      </pc:sldChg>
      <pc:sldChg chg="del">
        <pc:chgData name="Q Z" userId="0598117016cd6850" providerId="LiveId" clId="{D2FDEEAF-84E1-154D-A946-0BAEA53F7449}" dt="2019-09-04T14:50:58.821" v="34" actId="2696"/>
        <pc:sldMkLst>
          <pc:docMk/>
          <pc:sldMk cId="783585029" sldId="261"/>
        </pc:sldMkLst>
      </pc:sldChg>
      <pc:sldChg chg="modSp add">
        <pc:chgData name="Q Z" userId="0598117016cd6850" providerId="LiveId" clId="{D2FDEEAF-84E1-154D-A946-0BAEA53F7449}" dt="2019-09-04T18:17:04.108" v="716" actId="27636"/>
        <pc:sldMkLst>
          <pc:docMk/>
          <pc:sldMk cId="200450022" sldId="262"/>
        </pc:sldMkLst>
        <pc:spChg chg="mod">
          <ac:chgData name="Q Z" userId="0598117016cd6850" providerId="LiveId" clId="{D2FDEEAF-84E1-154D-A946-0BAEA53F7449}" dt="2019-09-04T18:17:04.108" v="716" actId="27636"/>
          <ac:spMkLst>
            <pc:docMk/>
            <pc:sldMk cId="200450022" sldId="262"/>
            <ac:spMk id="2" creationId="{A41F1BB6-7C99-144F-B969-F0BD4E7E05F1}"/>
          </ac:spMkLst>
        </pc:spChg>
      </pc:sldChg>
      <pc:sldChg chg="del">
        <pc:chgData name="Q Z" userId="0598117016cd6850" providerId="LiveId" clId="{D2FDEEAF-84E1-154D-A946-0BAEA53F7449}" dt="2019-09-04T14:50:58.824" v="37" actId="2696"/>
        <pc:sldMkLst>
          <pc:docMk/>
          <pc:sldMk cId="2838881580" sldId="262"/>
        </pc:sldMkLst>
      </pc:sldChg>
      <pc:sldChg chg="del">
        <pc:chgData name="Q Z" userId="0598117016cd6850" providerId="LiveId" clId="{D2FDEEAF-84E1-154D-A946-0BAEA53F7449}" dt="2019-09-04T14:50:58.823" v="36" actId="2696"/>
        <pc:sldMkLst>
          <pc:docMk/>
          <pc:sldMk cId="1942777124" sldId="263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048896579" sldId="263"/>
        </pc:sldMkLst>
      </pc:sldChg>
      <pc:sldChg chg="del">
        <pc:chgData name="Q Z" userId="0598117016cd6850" providerId="LiveId" clId="{D2FDEEAF-84E1-154D-A946-0BAEA53F7449}" dt="2019-09-04T14:50:58.825" v="38" actId="2696"/>
        <pc:sldMkLst>
          <pc:docMk/>
          <pc:sldMk cId="2231365434" sldId="264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495955489" sldId="264"/>
        </pc:sldMkLst>
      </pc:sldChg>
      <pc:sldChg chg="del">
        <pc:chgData name="Q Z" userId="0598117016cd6850" providerId="LiveId" clId="{D2FDEEAF-84E1-154D-A946-0BAEA53F7449}" dt="2019-09-04T14:50:58.834" v="42" actId="2696"/>
        <pc:sldMkLst>
          <pc:docMk/>
          <pc:sldMk cId="2283137282" sldId="265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3318632322" sldId="265"/>
        </pc:sldMkLst>
      </pc:sldChg>
      <pc:sldChg chg="del">
        <pc:chgData name="Q Z" userId="0598117016cd6850" providerId="LiveId" clId="{D2FDEEAF-84E1-154D-A946-0BAEA53F7449}" dt="2019-09-04T14:50:58.827" v="40" actId="2696"/>
        <pc:sldMkLst>
          <pc:docMk/>
          <pc:sldMk cId="2210613991" sldId="266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3492845242" sldId="266"/>
        </pc:sldMkLst>
      </pc:sldChg>
      <pc:sldChg chg="modSp">
        <pc:chgData name="Q Z" userId="0598117016cd6850" providerId="LiveId" clId="{D2FDEEAF-84E1-154D-A946-0BAEA53F7449}" dt="2019-09-04T17:52:07.105" v="112" actId="207"/>
        <pc:sldMkLst>
          <pc:docMk/>
          <pc:sldMk cId="2096993788" sldId="267"/>
        </pc:sldMkLst>
        <pc:spChg chg="mod">
          <ac:chgData name="Q Z" userId="0598117016cd6850" providerId="LiveId" clId="{D2FDEEAF-84E1-154D-A946-0BAEA53F7449}" dt="2019-09-04T17:52:07.105" v="112" actId="207"/>
          <ac:spMkLst>
            <pc:docMk/>
            <pc:sldMk cId="2096993788" sldId="267"/>
            <ac:spMk id="3" creationId="{92C5435D-7C46-D248-89C2-A468B8E05E4B}"/>
          </ac:spMkLst>
        </pc:spChg>
      </pc:sldChg>
      <pc:sldChg chg="del">
        <pc:chgData name="Q Z" userId="0598117016cd6850" providerId="LiveId" clId="{D2FDEEAF-84E1-154D-A946-0BAEA53F7449}" dt="2019-09-04T14:50:58.822" v="35" actId="2696"/>
        <pc:sldMkLst>
          <pc:docMk/>
          <pc:sldMk cId="1861225924" sldId="268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3454883529" sldId="268"/>
        </pc:sldMkLst>
      </pc:sldChg>
      <pc:sldChg chg="add del">
        <pc:chgData name="Q Z" userId="0598117016cd6850" providerId="LiveId" clId="{D2FDEEAF-84E1-154D-A946-0BAEA53F7449}" dt="2019-09-04T17:53:35.526" v="120" actId="2696"/>
        <pc:sldMkLst>
          <pc:docMk/>
          <pc:sldMk cId="3305728334" sldId="270"/>
        </pc:sldMkLst>
      </pc:sldChg>
      <pc:sldChg chg="modSp add del">
        <pc:chgData name="Q Z" userId="0598117016cd6850" providerId="LiveId" clId="{D2FDEEAF-84E1-154D-A946-0BAEA53F7449}" dt="2019-09-04T17:55:57.015" v="138" actId="20577"/>
        <pc:sldMkLst>
          <pc:docMk/>
          <pc:sldMk cId="3331877505" sldId="271"/>
        </pc:sldMkLst>
        <pc:spChg chg="mod">
          <ac:chgData name="Q Z" userId="0598117016cd6850" providerId="LiveId" clId="{D2FDEEAF-84E1-154D-A946-0BAEA53F7449}" dt="2019-09-04T17:55:57.015" v="138" actId="20577"/>
          <ac:spMkLst>
            <pc:docMk/>
            <pc:sldMk cId="3331877505" sldId="271"/>
            <ac:spMk id="2" creationId="{6660E2C4-0D9F-6543-92DC-EEC98C67AB17}"/>
          </ac:spMkLst>
        </pc:spChg>
      </pc:sldChg>
      <pc:sldChg chg="add del">
        <pc:chgData name="Q Z" userId="0598117016cd6850" providerId="LiveId" clId="{D2FDEEAF-84E1-154D-A946-0BAEA53F7449}" dt="2019-09-04T17:53:35.482" v="117" actId="2696"/>
        <pc:sldMkLst>
          <pc:docMk/>
          <pc:sldMk cId="3558231805" sldId="272"/>
        </pc:sldMkLst>
      </pc:sldChg>
      <pc:sldChg chg="modSp add">
        <pc:chgData name="Q Z" userId="0598117016cd6850" providerId="LiveId" clId="{D2FDEEAF-84E1-154D-A946-0BAEA53F7449}" dt="2019-09-04T18:17:04.328" v="720" actId="27636"/>
        <pc:sldMkLst>
          <pc:docMk/>
          <pc:sldMk cId="502340965" sldId="274"/>
        </pc:sldMkLst>
        <pc:spChg chg="mod">
          <ac:chgData name="Q Z" userId="0598117016cd6850" providerId="LiveId" clId="{D2FDEEAF-84E1-154D-A946-0BAEA53F7449}" dt="2019-09-04T18:17:04.328" v="720" actId="27636"/>
          <ac:spMkLst>
            <pc:docMk/>
            <pc:sldMk cId="502340965" sldId="274"/>
            <ac:spMk id="3" creationId="{3E183C73-DAEA-B44A-A5FE-7317F31E7B1F}"/>
          </ac:spMkLst>
        </pc:spChg>
      </pc:sldChg>
      <pc:sldChg chg="add del">
        <pc:chgData name="Q Z" userId="0598117016cd6850" providerId="LiveId" clId="{D2FDEEAF-84E1-154D-A946-0BAEA53F7449}" dt="2019-09-04T17:56:05.978" v="139" actId="2696"/>
        <pc:sldMkLst>
          <pc:docMk/>
          <pc:sldMk cId="1213925051" sldId="274"/>
        </pc:sldMkLst>
      </pc:sldChg>
      <pc:sldChg chg="modSp">
        <pc:chgData name="Q Z" userId="0598117016cd6850" providerId="LiveId" clId="{D2FDEEAF-84E1-154D-A946-0BAEA53F7449}" dt="2019-09-04T17:55:32.064" v="121" actId="20577"/>
        <pc:sldMkLst>
          <pc:docMk/>
          <pc:sldMk cId="954695919" sldId="275"/>
        </pc:sldMkLst>
        <pc:spChg chg="mod">
          <ac:chgData name="Q Z" userId="0598117016cd6850" providerId="LiveId" clId="{D2FDEEAF-84E1-154D-A946-0BAEA53F7449}" dt="2019-09-04T17:55:32.064" v="121" actId="20577"/>
          <ac:spMkLst>
            <pc:docMk/>
            <pc:sldMk cId="954695919" sldId="275"/>
            <ac:spMk id="3" creationId="{8156CB1A-BF1B-814F-B131-5A4E9A2B2F55}"/>
          </ac:spMkLst>
        </pc:spChg>
      </pc:sldChg>
      <pc:sldChg chg="del">
        <pc:chgData name="Q Z" userId="0598117016cd6850" providerId="LiveId" clId="{D2FDEEAF-84E1-154D-A946-0BAEA53F7449}" dt="2019-09-04T17:56:38.052" v="144" actId="2696"/>
        <pc:sldMkLst>
          <pc:docMk/>
          <pc:sldMk cId="1065454564" sldId="277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3678248846" sldId="277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081087372" sldId="280"/>
        </pc:sldMkLst>
      </pc:sldChg>
      <pc:sldChg chg="del">
        <pc:chgData name="Q Z" userId="0598117016cd6850" providerId="LiveId" clId="{D2FDEEAF-84E1-154D-A946-0BAEA53F7449}" dt="2019-09-04T17:56:34.037" v="142" actId="2696"/>
        <pc:sldMkLst>
          <pc:docMk/>
          <pc:sldMk cId="1143589674" sldId="280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548179530" sldId="281"/>
        </pc:sldMkLst>
      </pc:sldChg>
      <pc:sldChg chg="del">
        <pc:chgData name="Q Z" userId="0598117016cd6850" providerId="LiveId" clId="{D2FDEEAF-84E1-154D-A946-0BAEA53F7449}" dt="2019-09-04T17:56:34.036" v="141" actId="2696"/>
        <pc:sldMkLst>
          <pc:docMk/>
          <pc:sldMk cId="4098453554" sldId="281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494661934" sldId="282"/>
        </pc:sldMkLst>
      </pc:sldChg>
      <pc:sldChg chg="del">
        <pc:chgData name="Q Z" userId="0598117016cd6850" providerId="LiveId" clId="{D2FDEEAF-84E1-154D-A946-0BAEA53F7449}" dt="2019-09-04T17:56:34.038" v="143" actId="2696"/>
        <pc:sldMkLst>
          <pc:docMk/>
          <pc:sldMk cId="4145358547" sldId="282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688405579" sldId="283"/>
        </pc:sldMkLst>
      </pc:sldChg>
      <pc:sldChg chg="del">
        <pc:chgData name="Q Z" userId="0598117016cd6850" providerId="LiveId" clId="{D2FDEEAF-84E1-154D-A946-0BAEA53F7449}" dt="2019-09-04T14:50:58.826" v="39" actId="2696"/>
        <pc:sldMkLst>
          <pc:docMk/>
          <pc:sldMk cId="3749237926" sldId="283"/>
        </pc:sldMkLst>
      </pc:sldChg>
      <pc:sldChg chg="del">
        <pc:chgData name="Q Z" userId="0598117016cd6850" providerId="LiveId" clId="{D2FDEEAF-84E1-154D-A946-0BAEA53F7449}" dt="2019-09-04T17:56:34.035" v="140" actId="2696"/>
        <pc:sldMkLst>
          <pc:docMk/>
          <pc:sldMk cId="1766107003" sldId="284"/>
        </pc:sldMkLst>
      </pc:sldChg>
      <pc:sldChg chg="modSp add">
        <pc:chgData name="Q Z" userId="0598117016cd6850" providerId="LiveId" clId="{D2FDEEAF-84E1-154D-A946-0BAEA53F7449}" dt="2019-09-04T18:17:04.209" v="717" actId="27636"/>
        <pc:sldMkLst>
          <pc:docMk/>
          <pc:sldMk cId="3382824642" sldId="284"/>
        </pc:sldMkLst>
        <pc:spChg chg="mod">
          <ac:chgData name="Q Z" userId="0598117016cd6850" providerId="LiveId" clId="{D2FDEEAF-84E1-154D-A946-0BAEA53F7449}" dt="2019-09-04T18:17:04.209" v="717" actId="27636"/>
          <ac:spMkLst>
            <pc:docMk/>
            <pc:sldMk cId="3382824642" sldId="284"/>
            <ac:spMk id="3" creationId="{C7F9E529-8EAE-E242-ABE3-8FF4C6CFE94E}"/>
          </ac:spMkLst>
        </pc:spChg>
      </pc:sldChg>
      <pc:sldChg chg="modSp">
        <pc:chgData name="Q Z" userId="0598117016cd6850" providerId="LiveId" clId="{D2FDEEAF-84E1-154D-A946-0BAEA53F7449}" dt="2019-09-04T17:57:06.144" v="161" actId="20577"/>
        <pc:sldMkLst>
          <pc:docMk/>
          <pc:sldMk cId="1964004983" sldId="285"/>
        </pc:sldMkLst>
        <pc:spChg chg="mod">
          <ac:chgData name="Q Z" userId="0598117016cd6850" providerId="LiveId" clId="{D2FDEEAF-84E1-154D-A946-0BAEA53F7449}" dt="2019-09-04T17:57:06.144" v="161" actId="20577"/>
          <ac:spMkLst>
            <pc:docMk/>
            <pc:sldMk cId="1964004983" sldId="285"/>
            <ac:spMk id="3" creationId="{5F1D1A32-6966-D74D-BC08-BB6F9D54EB65}"/>
          </ac:spMkLst>
        </pc:spChg>
      </pc:sldChg>
      <pc:sldChg chg="del">
        <pc:chgData name="Q Z" userId="0598117016cd6850" providerId="LiveId" clId="{D2FDEEAF-84E1-154D-A946-0BAEA53F7449}" dt="2019-09-04T17:57:19.396" v="162" actId="2696"/>
        <pc:sldMkLst>
          <pc:docMk/>
          <pc:sldMk cId="1027414483" sldId="286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740026222" sldId="286"/>
        </pc:sldMkLst>
      </pc:sldChg>
      <pc:sldChg chg="del">
        <pc:chgData name="Q Z" userId="0598117016cd6850" providerId="LiveId" clId="{D2FDEEAF-84E1-154D-A946-0BAEA53F7449}" dt="2019-09-04T17:59:18.421" v="163" actId="2696"/>
        <pc:sldMkLst>
          <pc:docMk/>
          <pc:sldMk cId="3061299955" sldId="299"/>
        </pc:sldMkLst>
      </pc:sldChg>
      <pc:sldChg chg="modSp del">
        <pc:chgData name="Q Z" userId="0598117016cd6850" providerId="LiveId" clId="{D2FDEEAF-84E1-154D-A946-0BAEA53F7449}" dt="2019-09-04T18:15:41.903" v="685" actId="2696"/>
        <pc:sldMkLst>
          <pc:docMk/>
          <pc:sldMk cId="485196877" sldId="300"/>
        </pc:sldMkLst>
        <pc:spChg chg="mod">
          <ac:chgData name="Q Z" userId="0598117016cd6850" providerId="LiveId" clId="{D2FDEEAF-84E1-154D-A946-0BAEA53F7449}" dt="2019-09-04T18:13:29.105" v="592" actId="20577"/>
          <ac:spMkLst>
            <pc:docMk/>
            <pc:sldMk cId="485196877" sldId="300"/>
            <ac:spMk id="3" creationId="{551CAB00-106C-FD48-80DB-4E60597D50E9}"/>
          </ac:spMkLst>
        </pc:spChg>
      </pc:sldChg>
      <pc:sldChg chg="modSp add">
        <pc:chgData name="Q Z" userId="0598117016cd6850" providerId="LiveId" clId="{D2FDEEAF-84E1-154D-A946-0BAEA53F7449}" dt="2019-09-04T18:20:13.592" v="1095" actId="15"/>
        <pc:sldMkLst>
          <pc:docMk/>
          <pc:sldMk cId="1668323801" sldId="300"/>
        </pc:sldMkLst>
        <pc:spChg chg="mod">
          <ac:chgData name="Q Z" userId="0598117016cd6850" providerId="LiveId" clId="{D2FDEEAF-84E1-154D-A946-0BAEA53F7449}" dt="2019-09-04T18:20:13.592" v="1095" actId="15"/>
          <ac:spMkLst>
            <pc:docMk/>
            <pc:sldMk cId="1668323801" sldId="300"/>
            <ac:spMk id="3" creationId="{551CAB00-106C-FD48-80DB-4E60597D50E9}"/>
          </ac:spMkLst>
        </pc:spChg>
      </pc:sldChg>
      <pc:sldChg chg="add">
        <pc:chgData name="Q Z" userId="0598117016cd6850" providerId="LiveId" clId="{D2FDEEAF-84E1-154D-A946-0BAEA53F7449}" dt="2019-09-04T18:15:48.786" v="686"/>
        <pc:sldMkLst>
          <pc:docMk/>
          <pc:sldMk cId="164302631" sldId="301"/>
        </pc:sldMkLst>
      </pc:sldChg>
      <pc:sldChg chg="modSp del">
        <pc:chgData name="Q Z" userId="0598117016cd6850" providerId="LiveId" clId="{D2FDEEAF-84E1-154D-A946-0BAEA53F7449}" dt="2019-09-04T18:15:41.898" v="684" actId="2696"/>
        <pc:sldMkLst>
          <pc:docMk/>
          <pc:sldMk cId="3603428551" sldId="301"/>
        </pc:sldMkLst>
        <pc:spChg chg="mod">
          <ac:chgData name="Q Z" userId="0598117016cd6850" providerId="LiveId" clId="{D2FDEEAF-84E1-154D-A946-0BAEA53F7449}" dt="2019-09-04T18:15:28.173" v="683" actId="20577"/>
          <ac:spMkLst>
            <pc:docMk/>
            <pc:sldMk cId="3603428551" sldId="301"/>
            <ac:spMk id="3" creationId="{045F8D64-8F34-2744-8A83-F43DB949F89C}"/>
          </ac:spMkLst>
        </pc:spChg>
      </pc:sldChg>
      <pc:sldChg chg="modSp add">
        <pc:chgData name="Q Z" userId="0598117016cd6850" providerId="LiveId" clId="{D2FDEEAF-84E1-154D-A946-0BAEA53F7449}" dt="2019-09-04T18:21:47.967" v="1277" actId="20577"/>
        <pc:sldMkLst>
          <pc:docMk/>
          <pc:sldMk cId="3105363865" sldId="302"/>
        </pc:sldMkLst>
        <pc:spChg chg="mod">
          <ac:chgData name="Q Z" userId="0598117016cd6850" providerId="LiveId" clId="{D2FDEEAF-84E1-154D-A946-0BAEA53F7449}" dt="2019-09-04T18:21:47.967" v="1277" actId="20577"/>
          <ac:spMkLst>
            <pc:docMk/>
            <pc:sldMk cId="3105363865" sldId="302"/>
            <ac:spMk id="2" creationId="{284F9CDD-41B2-3041-9CA4-BA9DAE607F54}"/>
          </ac:spMkLst>
        </pc:spChg>
        <pc:spChg chg="mod">
          <ac:chgData name="Q Z" userId="0598117016cd6850" providerId="LiveId" clId="{D2FDEEAF-84E1-154D-A946-0BAEA53F7449}" dt="2019-09-04T18:17:52.749" v="841" actId="20577"/>
          <ac:spMkLst>
            <pc:docMk/>
            <pc:sldMk cId="3105363865" sldId="302"/>
            <ac:spMk id="3" creationId="{524CCAD7-23D9-E84C-8DAC-C00F9425778D}"/>
          </ac:spMkLst>
        </pc:spChg>
      </pc:sldChg>
      <pc:sldChg chg="del">
        <pc:chgData name="Q Z" userId="0598117016cd6850" providerId="LiveId" clId="{D2FDEEAF-84E1-154D-A946-0BAEA53F7449}" dt="2019-09-04T14:50:58.827" v="41" actId="2696"/>
        <pc:sldMkLst>
          <pc:docMk/>
          <pc:sldMk cId="3428064723" sldId="302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657279489" sldId="303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062287952" sldId="304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590203373" sldId="305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71758653" sldId="306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989142146" sldId="307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3545004305" sldId="308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581332896" sldId="309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4283312347" sldId="310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278548823" sldId="311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187985168" sldId="312"/>
        </pc:sldMkLst>
      </pc:sldChg>
      <pc:sldChg chg="modSp add">
        <pc:chgData name="Q Z" userId="0598117016cd6850" providerId="LiveId" clId="{D2FDEEAF-84E1-154D-A946-0BAEA53F7449}" dt="2019-09-04T18:17:04.231" v="718" actId="27636"/>
        <pc:sldMkLst>
          <pc:docMk/>
          <pc:sldMk cId="758662977" sldId="313"/>
        </pc:sldMkLst>
        <pc:spChg chg="mod">
          <ac:chgData name="Q Z" userId="0598117016cd6850" providerId="LiveId" clId="{D2FDEEAF-84E1-154D-A946-0BAEA53F7449}" dt="2019-09-04T18:17:04.231" v="718" actId="27636"/>
          <ac:spMkLst>
            <pc:docMk/>
            <pc:sldMk cId="758662977" sldId="313"/>
            <ac:spMk id="3" creationId="{ECDE4A1C-2F14-8F49-8E66-0CAD7BB35774}"/>
          </ac:spMkLst>
        </pc:spChg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806699933" sldId="314"/>
        </pc:sldMkLst>
      </pc:sldChg>
      <pc:sldChg chg="modSp add">
        <pc:chgData name="Q Z" userId="0598117016cd6850" providerId="LiveId" clId="{D2FDEEAF-84E1-154D-A946-0BAEA53F7449}" dt="2019-09-04T18:17:04.304" v="719" actId="27636"/>
        <pc:sldMkLst>
          <pc:docMk/>
          <pc:sldMk cId="690263055" sldId="315"/>
        </pc:sldMkLst>
        <pc:spChg chg="mod">
          <ac:chgData name="Q Z" userId="0598117016cd6850" providerId="LiveId" clId="{D2FDEEAF-84E1-154D-A946-0BAEA53F7449}" dt="2019-09-04T18:17:04.304" v="719" actId="27636"/>
          <ac:spMkLst>
            <pc:docMk/>
            <pc:sldMk cId="690263055" sldId="315"/>
            <ac:spMk id="3" creationId="{833E0AB9-AE05-854F-B0E8-CCE667980C18}"/>
          </ac:spMkLst>
        </pc:spChg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334250750" sldId="316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607632866" sldId="317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608597354" sldId="318"/>
        </pc:sldMkLst>
      </pc:sldChg>
      <pc:sldChg chg="modSp add">
        <pc:chgData name="Q Z" userId="0598117016cd6850" providerId="LiveId" clId="{D2FDEEAF-84E1-154D-A946-0BAEA53F7449}" dt="2019-09-04T18:21:23.153" v="1262" actId="20577"/>
        <pc:sldMkLst>
          <pc:docMk/>
          <pc:sldMk cId="2458459384" sldId="319"/>
        </pc:sldMkLst>
        <pc:spChg chg="mod">
          <ac:chgData name="Q Z" userId="0598117016cd6850" providerId="LiveId" clId="{D2FDEEAF-84E1-154D-A946-0BAEA53F7449}" dt="2019-09-04T18:18:07.927" v="853" actId="20577"/>
          <ac:spMkLst>
            <pc:docMk/>
            <pc:sldMk cId="2458459384" sldId="319"/>
            <ac:spMk id="2" creationId="{0AEC5667-D50F-3E47-A4DA-BC797509AD6B}"/>
          </ac:spMkLst>
        </pc:spChg>
        <pc:spChg chg="mod">
          <ac:chgData name="Q Z" userId="0598117016cd6850" providerId="LiveId" clId="{D2FDEEAF-84E1-154D-A946-0BAEA53F7449}" dt="2019-09-04T18:21:23.153" v="1262" actId="20577"/>
          <ac:spMkLst>
            <pc:docMk/>
            <pc:sldMk cId="2458459384" sldId="319"/>
            <ac:spMk id="3" creationId="{8232105E-677A-EF4D-B7AC-71CF68479263}"/>
          </ac:spMkLst>
        </pc:spChg>
      </pc:sldChg>
    </pc:docChg>
  </pc:docChgLst>
  <pc:docChgLst>
    <pc:chgData name="Q Z" userId="0598117016cd6850" providerId="LiveId" clId="{2BA66019-4591-C846-9028-2CD292E1765D}"/>
    <pc:docChg chg="undo custSel addSld delSld modSld">
      <pc:chgData name="Q Z" userId="0598117016cd6850" providerId="LiveId" clId="{2BA66019-4591-C846-9028-2CD292E1765D}" dt="2020-09-02T18:14:30.582" v="379" actId="2696"/>
      <pc:docMkLst>
        <pc:docMk/>
      </pc:docMkLst>
      <pc:sldChg chg="modSp mod">
        <pc:chgData name="Q Z" userId="0598117016cd6850" providerId="LiveId" clId="{2BA66019-4591-C846-9028-2CD292E1765D}" dt="2020-09-02T17:54:00.188" v="147" actId="404"/>
        <pc:sldMkLst>
          <pc:docMk/>
          <pc:sldMk cId="2090911193" sldId="260"/>
        </pc:sldMkLst>
        <pc:spChg chg="mod">
          <ac:chgData name="Q Z" userId="0598117016cd6850" providerId="LiveId" clId="{2BA66019-4591-C846-9028-2CD292E1765D}" dt="2020-09-02T17:54:00.188" v="147" actId="404"/>
          <ac:spMkLst>
            <pc:docMk/>
            <pc:sldMk cId="2090911193" sldId="260"/>
            <ac:spMk id="3" creationId="{858FDFE8-5660-3142-B97F-1D1C17F05F34}"/>
          </ac:spMkLst>
        </pc:spChg>
      </pc:sldChg>
      <pc:sldChg chg="modSp mod">
        <pc:chgData name="Q Z" userId="0598117016cd6850" providerId="LiveId" clId="{2BA66019-4591-C846-9028-2CD292E1765D}" dt="2020-09-02T18:06:08.458" v="310" actId="1076"/>
        <pc:sldMkLst>
          <pc:docMk/>
          <pc:sldMk cId="3690723403" sldId="279"/>
        </pc:sldMkLst>
        <pc:picChg chg="mod">
          <ac:chgData name="Q Z" userId="0598117016cd6850" providerId="LiveId" clId="{2BA66019-4591-C846-9028-2CD292E1765D}" dt="2020-09-02T18:06:08.458" v="310" actId="1076"/>
          <ac:picMkLst>
            <pc:docMk/>
            <pc:sldMk cId="3690723403" sldId="279"/>
            <ac:picMk id="4" creationId="{2B40250E-5C73-B04A-BBCC-724D95A16E1D}"/>
          </ac:picMkLst>
        </pc:picChg>
      </pc:sldChg>
      <pc:sldChg chg="modSp mod">
        <pc:chgData name="Q Z" userId="0598117016cd6850" providerId="LiveId" clId="{2BA66019-4591-C846-9028-2CD292E1765D}" dt="2020-09-02T17:57:35.733" v="206" actId="20577"/>
        <pc:sldMkLst>
          <pc:docMk/>
          <pc:sldMk cId="1668323801" sldId="300"/>
        </pc:sldMkLst>
        <pc:spChg chg="mod">
          <ac:chgData name="Q Z" userId="0598117016cd6850" providerId="LiveId" clId="{2BA66019-4591-C846-9028-2CD292E1765D}" dt="2020-09-02T17:57:35.733" v="206" actId="20577"/>
          <ac:spMkLst>
            <pc:docMk/>
            <pc:sldMk cId="1668323801" sldId="300"/>
            <ac:spMk id="3" creationId="{551CAB00-106C-FD48-80DB-4E60597D50E9}"/>
          </ac:spMkLst>
        </pc:spChg>
      </pc:sldChg>
      <pc:sldChg chg="modSp mod">
        <pc:chgData name="Q Z" userId="0598117016cd6850" providerId="LiveId" clId="{2BA66019-4591-C846-9028-2CD292E1765D}" dt="2020-09-02T18:04:21" v="307" actId="20577"/>
        <pc:sldMkLst>
          <pc:docMk/>
          <pc:sldMk cId="2458459384" sldId="319"/>
        </pc:sldMkLst>
        <pc:spChg chg="mod">
          <ac:chgData name="Q Z" userId="0598117016cd6850" providerId="LiveId" clId="{2BA66019-4591-C846-9028-2CD292E1765D}" dt="2020-09-02T18:04:21" v="307" actId="20577"/>
          <ac:spMkLst>
            <pc:docMk/>
            <pc:sldMk cId="2458459384" sldId="319"/>
            <ac:spMk id="3" creationId="{8232105E-677A-EF4D-B7AC-71CF68479263}"/>
          </ac:spMkLst>
        </pc:spChg>
      </pc:sldChg>
      <pc:sldChg chg="del">
        <pc:chgData name="Q Z" userId="0598117016cd6850" providerId="LiveId" clId="{2BA66019-4591-C846-9028-2CD292E1765D}" dt="2020-09-02T18:14:30.582" v="379" actId="2696"/>
        <pc:sldMkLst>
          <pc:docMk/>
          <pc:sldMk cId="1315374295" sldId="324"/>
        </pc:sldMkLst>
      </pc:sldChg>
      <pc:sldChg chg="addSp modSp add mod">
        <pc:chgData name="Q Z" userId="0598117016cd6850" providerId="LiveId" clId="{2BA66019-4591-C846-9028-2CD292E1765D}" dt="2020-09-02T18:10:24.651" v="378" actId="1076"/>
        <pc:sldMkLst>
          <pc:docMk/>
          <pc:sldMk cId="1771734156" sldId="326"/>
        </pc:sldMkLst>
        <pc:spChg chg="mod">
          <ac:chgData name="Q Z" userId="0598117016cd6850" providerId="LiveId" clId="{2BA66019-4591-C846-9028-2CD292E1765D}" dt="2020-09-02T18:07:38.347" v="353" actId="20577"/>
          <ac:spMkLst>
            <pc:docMk/>
            <pc:sldMk cId="1771734156" sldId="326"/>
            <ac:spMk id="2" creationId="{B9E0B195-2247-F141-ACF4-E4A1A8DA7C76}"/>
          </ac:spMkLst>
        </pc:spChg>
        <pc:spChg chg="mod">
          <ac:chgData name="Q Z" userId="0598117016cd6850" providerId="LiveId" clId="{2BA66019-4591-C846-9028-2CD292E1765D}" dt="2020-09-02T18:09:33.994" v="372" actId="404"/>
          <ac:spMkLst>
            <pc:docMk/>
            <pc:sldMk cId="1771734156" sldId="326"/>
            <ac:spMk id="3" creationId="{3541D7D8-FD16-F344-A89A-0C487F5F535C}"/>
          </ac:spMkLst>
        </pc:spChg>
        <pc:picChg chg="add mod">
          <ac:chgData name="Q Z" userId="0598117016cd6850" providerId="LiveId" clId="{2BA66019-4591-C846-9028-2CD292E1765D}" dt="2020-09-02T18:09:14.362" v="355" actId="1076"/>
          <ac:picMkLst>
            <pc:docMk/>
            <pc:sldMk cId="1771734156" sldId="326"/>
            <ac:picMk id="4" creationId="{28A2F7EC-1506-584F-9F84-478CF2DAE9A0}"/>
          </ac:picMkLst>
        </pc:picChg>
        <pc:picChg chg="add mod">
          <ac:chgData name="Q Z" userId="0598117016cd6850" providerId="LiveId" clId="{2BA66019-4591-C846-9028-2CD292E1765D}" dt="2020-09-02T18:10:24.651" v="378" actId="1076"/>
          <ac:picMkLst>
            <pc:docMk/>
            <pc:sldMk cId="1771734156" sldId="326"/>
            <ac:picMk id="1026" creationId="{06B1BA0E-569A-9645-9A7C-B513FF505C70}"/>
          </ac:picMkLst>
        </pc:picChg>
      </pc:sldChg>
    </pc:docChg>
  </pc:docChgLst>
  <pc:docChgLst>
    <pc:chgData name="Q Z" userId="0598117016cd6850" providerId="LiveId" clId="{3351F81B-803C-2C49-B9B7-94669ACAE3A8}"/>
    <pc:docChg chg="addSld modSld">
      <pc:chgData name="Q Z" userId="0598117016cd6850" providerId="LiveId" clId="{3351F81B-803C-2C49-B9B7-94669ACAE3A8}" dt="2020-09-03T09:04:41.933" v="55" actId="207"/>
      <pc:docMkLst>
        <pc:docMk/>
      </pc:docMkLst>
      <pc:sldChg chg="modSp">
        <pc:chgData name="Q Z" userId="0598117016cd6850" providerId="LiveId" clId="{3351F81B-803C-2C49-B9B7-94669ACAE3A8}" dt="2020-09-03T09:04:41.933" v="55" actId="207"/>
        <pc:sldMkLst>
          <pc:docMk/>
          <pc:sldMk cId="581332896" sldId="309"/>
        </pc:sldMkLst>
        <pc:spChg chg="mod">
          <ac:chgData name="Q Z" userId="0598117016cd6850" providerId="LiveId" clId="{3351F81B-803C-2C49-B9B7-94669ACAE3A8}" dt="2020-09-03T09:04:41.933" v="55" actId="207"/>
          <ac:spMkLst>
            <pc:docMk/>
            <pc:sldMk cId="581332896" sldId="309"/>
            <ac:spMk id="3" creationId="{1B15B996-5952-CA44-90B0-02ABAA4EAC6C}"/>
          </ac:spMkLst>
        </pc:spChg>
      </pc:sldChg>
      <pc:sldChg chg="addSp delSp modSp add">
        <pc:chgData name="Q Z" userId="0598117016cd6850" providerId="LiveId" clId="{3351F81B-803C-2C49-B9B7-94669ACAE3A8}" dt="2020-09-03T07:22:19.689" v="50" actId="1076"/>
        <pc:sldMkLst>
          <pc:docMk/>
          <pc:sldMk cId="2223405279" sldId="327"/>
        </pc:sldMkLst>
        <pc:spChg chg="mod">
          <ac:chgData name="Q Z" userId="0598117016cd6850" providerId="LiveId" clId="{3351F81B-803C-2C49-B9B7-94669ACAE3A8}" dt="2020-09-03T06:59:39.432" v="3"/>
          <ac:spMkLst>
            <pc:docMk/>
            <pc:sldMk cId="2223405279" sldId="327"/>
            <ac:spMk id="2" creationId="{1387362F-A24A-6342-BAAE-FACB800A3028}"/>
          </ac:spMkLst>
        </pc:spChg>
        <pc:spChg chg="mod">
          <ac:chgData name="Q Z" userId="0598117016cd6850" providerId="LiveId" clId="{3351F81B-803C-2C49-B9B7-94669ACAE3A8}" dt="2020-09-03T07:01:37.255" v="17" actId="14100"/>
          <ac:spMkLst>
            <pc:docMk/>
            <pc:sldMk cId="2223405279" sldId="327"/>
            <ac:spMk id="3" creationId="{09CB959C-A4EF-9742-8A17-1FEE29A4E276}"/>
          </ac:spMkLst>
        </pc:spChg>
        <pc:picChg chg="add del mod">
          <ac:chgData name="Q Z" userId="0598117016cd6850" providerId="LiveId" clId="{3351F81B-803C-2C49-B9B7-94669ACAE3A8}" dt="2020-09-03T07:03:47.855" v="32" actId="21"/>
          <ac:picMkLst>
            <pc:docMk/>
            <pc:sldMk cId="2223405279" sldId="327"/>
            <ac:picMk id="1026" creationId="{2CC0705B-C583-EB44-A6F0-3D7914EA4F67}"/>
          </ac:picMkLst>
        </pc:picChg>
        <pc:picChg chg="add del mod">
          <ac:chgData name="Q Z" userId="0598117016cd6850" providerId="LiveId" clId="{3351F81B-803C-2C49-B9B7-94669ACAE3A8}" dt="2020-09-03T07:03:47.855" v="32" actId="21"/>
          <ac:picMkLst>
            <pc:docMk/>
            <pc:sldMk cId="2223405279" sldId="327"/>
            <ac:picMk id="1028" creationId="{3C27A4E4-1D03-A64E-AD97-BCA56FBF8CD3}"/>
          </ac:picMkLst>
        </pc:picChg>
        <pc:picChg chg="add del mod">
          <ac:chgData name="Q Z" userId="0598117016cd6850" providerId="LiveId" clId="{3351F81B-803C-2C49-B9B7-94669ACAE3A8}" dt="2020-09-03T07:01:38.281" v="18"/>
          <ac:picMkLst>
            <pc:docMk/>
            <pc:sldMk cId="2223405279" sldId="327"/>
            <ac:picMk id="1030" creationId="{342F3586-D385-E742-A2C2-22F776B620DD}"/>
          </ac:picMkLst>
        </pc:picChg>
        <pc:picChg chg="add mod">
          <ac:chgData name="Q Z" userId="0598117016cd6850" providerId="LiveId" clId="{3351F81B-803C-2C49-B9B7-94669ACAE3A8}" dt="2020-09-03T07:22:19.689" v="50" actId="1076"/>
          <ac:picMkLst>
            <pc:docMk/>
            <pc:sldMk cId="2223405279" sldId="327"/>
            <ac:picMk id="1032" creationId="{51408161-DC70-BF41-B4E9-3A5ED79BA1B9}"/>
          </ac:picMkLst>
        </pc:picChg>
      </pc:sldChg>
      <pc:sldChg chg="addSp modSp add">
        <pc:chgData name="Q Z" userId="0598117016cd6850" providerId="LiveId" clId="{3351F81B-803C-2C49-B9B7-94669ACAE3A8}" dt="2020-09-03T07:04:16.074" v="38" actId="1076"/>
        <pc:sldMkLst>
          <pc:docMk/>
          <pc:sldMk cId="2711338742" sldId="328"/>
        </pc:sldMkLst>
        <pc:spChg chg="mod">
          <ac:chgData name="Q Z" userId="0598117016cd6850" providerId="LiveId" clId="{3351F81B-803C-2C49-B9B7-94669ACAE3A8}" dt="2020-09-03T07:03:29.915" v="31"/>
          <ac:spMkLst>
            <pc:docMk/>
            <pc:sldMk cId="2711338742" sldId="328"/>
            <ac:spMk id="2" creationId="{AC25ADB1-CF40-D540-82AD-CA29789D7DDA}"/>
          </ac:spMkLst>
        </pc:spChg>
        <pc:spChg chg="mod">
          <ac:chgData name="Q Z" userId="0598117016cd6850" providerId="LiveId" clId="{3351F81B-803C-2C49-B9B7-94669ACAE3A8}" dt="2020-09-03T07:02:22.768" v="26"/>
          <ac:spMkLst>
            <pc:docMk/>
            <pc:sldMk cId="2711338742" sldId="328"/>
            <ac:spMk id="3" creationId="{932B9BCA-7B9C-DF45-B6F8-04054E4A03F1}"/>
          </ac:spMkLst>
        </pc:spChg>
        <pc:picChg chg="add mod">
          <ac:chgData name="Q Z" userId="0598117016cd6850" providerId="LiveId" clId="{3351F81B-803C-2C49-B9B7-94669ACAE3A8}" dt="2020-09-03T07:04:16.074" v="38" actId="1076"/>
          <ac:picMkLst>
            <pc:docMk/>
            <pc:sldMk cId="2711338742" sldId="328"/>
            <ac:picMk id="4" creationId="{C25F8C83-F8D4-DD42-A362-8C519A77A271}"/>
          </ac:picMkLst>
        </pc:picChg>
      </pc:sldChg>
      <pc:sldChg chg="addSp delSp modSp add">
        <pc:chgData name="Q Z" userId="0598117016cd6850" providerId="LiveId" clId="{3351F81B-803C-2C49-B9B7-94669ACAE3A8}" dt="2020-09-03T07:05:16.381" v="42" actId="1076"/>
        <pc:sldMkLst>
          <pc:docMk/>
          <pc:sldMk cId="2580820078" sldId="329"/>
        </pc:sldMkLst>
        <pc:picChg chg="add mod">
          <ac:chgData name="Q Z" userId="0598117016cd6850" providerId="LiveId" clId="{3351F81B-803C-2C49-B9B7-94669ACAE3A8}" dt="2020-09-03T07:04:03.759" v="34"/>
          <ac:picMkLst>
            <pc:docMk/>
            <pc:sldMk cId="2580820078" sldId="329"/>
            <ac:picMk id="4" creationId="{23E38AF4-EE30-9748-8A9A-36C60CF5EA36}"/>
          </ac:picMkLst>
        </pc:picChg>
        <pc:picChg chg="add del mod">
          <ac:chgData name="Q Z" userId="0598117016cd6850" providerId="LiveId" clId="{3351F81B-803C-2C49-B9B7-94669ACAE3A8}" dt="2020-09-03T07:05:06.740" v="39" actId="1076"/>
          <ac:picMkLst>
            <pc:docMk/>
            <pc:sldMk cId="2580820078" sldId="329"/>
            <ac:picMk id="5" creationId="{E736130E-66FA-2E44-A00B-1FC5AD39B6DF}"/>
          </ac:picMkLst>
        </pc:picChg>
        <pc:picChg chg="add mod">
          <ac:chgData name="Q Z" userId="0598117016cd6850" providerId="LiveId" clId="{3351F81B-803C-2C49-B9B7-94669ACAE3A8}" dt="2020-09-03T07:05:16.381" v="42" actId="1076"/>
          <ac:picMkLst>
            <pc:docMk/>
            <pc:sldMk cId="2580820078" sldId="329"/>
            <ac:picMk id="2050" creationId="{885110A3-036A-974F-915C-551E62C9FA11}"/>
          </ac:picMkLst>
        </pc:picChg>
      </pc:sldChg>
      <pc:sldChg chg="addSp modSp add">
        <pc:chgData name="Q Z" userId="0598117016cd6850" providerId="LiveId" clId="{3351F81B-803C-2C49-B9B7-94669ACAE3A8}" dt="2020-09-03T07:23:27.125" v="54" actId="1076"/>
        <pc:sldMkLst>
          <pc:docMk/>
          <pc:sldMk cId="2355989735" sldId="330"/>
        </pc:sldMkLst>
        <pc:picChg chg="add mod">
          <ac:chgData name="Q Z" userId="0598117016cd6850" providerId="LiveId" clId="{3351F81B-803C-2C49-B9B7-94669ACAE3A8}" dt="2020-09-03T07:23:27.125" v="54" actId="1076"/>
          <ac:picMkLst>
            <pc:docMk/>
            <pc:sldMk cId="2355989735" sldId="330"/>
            <ac:picMk id="4098" creationId="{7CFFEB50-B1F5-4D46-8D41-1D790CF5C271}"/>
          </ac:picMkLst>
        </pc:picChg>
      </pc:sldChg>
      <pc:sldChg chg="modSp add">
        <pc:chgData name="Q Z" userId="0598117016cd6850" providerId="LiveId" clId="{3351F81B-803C-2C49-B9B7-94669ACAE3A8}" dt="2020-09-03T07:20:48.810" v="47" actId="20577"/>
        <pc:sldMkLst>
          <pc:docMk/>
          <pc:sldMk cId="3730086564" sldId="331"/>
        </pc:sldMkLst>
        <pc:spChg chg="mod">
          <ac:chgData name="Q Z" userId="0598117016cd6850" providerId="LiveId" clId="{3351F81B-803C-2C49-B9B7-94669ACAE3A8}" dt="2020-09-03T07:20:48.810" v="47" actId="20577"/>
          <ac:spMkLst>
            <pc:docMk/>
            <pc:sldMk cId="3730086564" sldId="331"/>
            <ac:spMk id="3" creationId="{52F30828-5CE0-BC4B-9D54-707C0B699CC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72524C-7966-684C-BDC9-CFD451BFAD4B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06C42A-5AA1-B144-8688-E824ABDD9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254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Categorical: assign individuals to different </a:t>
            </a:r>
            <a:r>
              <a:rPr lang="en-US" dirty="0" err="1"/>
              <a:t>catergory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Quantitative: 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represent amounts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A2D53A-2AF6-4DBF-B05A-A2E1C10652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97585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Tax and providing support for college tuition fee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A2D53A-2AF6-4DBF-B05A-A2E1C10652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7913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6525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9389C-F7CA-003D-D469-1FE72B59F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4E0361-4AAE-B7D4-9BC9-0E2F1BAE8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EE6D08-2AB6-DF49-E3A1-3521A3D54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FBCF8E-C0E2-90B0-23D6-F3E821EC6A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0E0A3-9BF8-4DB2-8CB8-4256C0A802C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9978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D8DB2-68D5-26A4-1281-3AEC72FBD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5198E7-9203-5666-D3F9-90E6D35141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9970AB-434D-0043-431C-83CFB50A7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07238-723F-446D-F55A-664FAE074D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9232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947E4-2256-1EA2-794B-A7F5E00E0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3AB530-CBA9-4123-9DF3-4ACAE2C076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E2A87-CB2E-CA53-37C8-7075B76B6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3D035-B43F-BC77-C668-FC4EA6BF71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1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don’t have full control of data shown in my twitter page (e.g., a random people can retweet my posts the next day), but I can fully control my </a:t>
            </a:r>
            <a:r>
              <a:rPr lang="en-US" dirty="0" err="1"/>
              <a:t>github</a:t>
            </a:r>
            <a:r>
              <a:rPr lang="en-US" dirty="0"/>
              <a:t> page.</a:t>
            </a:r>
          </a:p>
          <a:p>
            <a:endParaRPr lang="en-US" dirty="0"/>
          </a:p>
          <a:p>
            <a:r>
              <a:rPr lang="en-US" dirty="0"/>
              <a:t>Dynamic sites: shopping platforms / Taobao / HK TV mall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8181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e.g., your profile page on LinkedIn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0E0A3-9BF8-4DB2-8CB8-4256C0A802C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2331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1494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 rating: </a:t>
            </a:r>
            <a:r>
              <a:rPr lang="en-US" dirty="0" err="1"/>
              <a:t>result.find</a:t>
            </a:r>
            <a:r>
              <a:rPr lang="en-US" dirty="0"/>
              <a:t>('span', class_="</a:t>
            </a:r>
            <a:r>
              <a:rPr lang="en-US" dirty="0" err="1"/>
              <a:t>tMeterScore</a:t>
            </a:r>
            <a:r>
              <a:rPr lang="en-US" dirty="0"/>
              <a:t>").text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2247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0E0A3-9BF8-4DB2-8CB8-4256C0A802C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7112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0E0A3-9BF8-4DB2-8CB8-4256C0A802C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470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0E0A3-9BF8-4DB2-8CB8-4256C0A802C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073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 b="1" i="0">
                <a:latin typeface="LM Sans 12" panose="00000500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LM Sans 12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C79BAC38-34E9-4242-BB0A-BE2DDD9404B1}" type="datetime1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153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LM Sans 12" panose="00000500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  <a:lvl2pPr>
              <a:defRPr>
                <a:latin typeface="LM Sans 12" panose="00000500000000000000" pitchFamily="50" charset="0"/>
              </a:defRPr>
            </a:lvl2pPr>
            <a:lvl3pPr>
              <a:defRPr>
                <a:latin typeface="LM Sans 12" panose="00000500000000000000" pitchFamily="50" charset="0"/>
              </a:defRPr>
            </a:lvl3pPr>
            <a:lvl4pPr>
              <a:defRPr>
                <a:latin typeface="LM Sans 12" panose="00000500000000000000" pitchFamily="50" charset="0"/>
              </a:defRPr>
            </a:lvl4pPr>
            <a:lvl5pPr>
              <a:defRPr>
                <a:latin typeface="LM Sans 12" panose="00000500000000000000" pitchFamily="50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7FB79824-1599-2D45-A02C-28CD09FD7E14}" type="datetime1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038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4C929-4B2D-344A-9EF2-AB3A1E2C9CD2}" type="datetime1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750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Abadi MT Condensed Extra Bold" panose="020B0306030101010103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  <a:lvl2pPr>
              <a:defRPr>
                <a:latin typeface="Abadi MT Condensed Light" panose="020B0306030101010103" pitchFamily="34" charset="77"/>
              </a:defRPr>
            </a:lvl2pPr>
            <a:lvl3pPr>
              <a:defRPr>
                <a:latin typeface="Abadi MT Condensed Light" panose="020B0306030101010103" pitchFamily="34" charset="77"/>
              </a:defRPr>
            </a:lvl3pPr>
            <a:lvl4pPr>
              <a:defRPr>
                <a:latin typeface="Abadi MT Condensed Light" panose="020B0306030101010103" pitchFamily="34" charset="77"/>
              </a:defRPr>
            </a:lvl4pPr>
            <a:lvl5pPr>
              <a:defRPr>
                <a:latin typeface="Abadi MT Condensed Light" panose="020B0306030101010103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  <a:lvl2pPr>
              <a:defRPr>
                <a:latin typeface="Abadi MT Condensed Light" panose="020B0306030101010103" pitchFamily="34" charset="77"/>
              </a:defRPr>
            </a:lvl2pPr>
            <a:lvl3pPr>
              <a:defRPr>
                <a:latin typeface="Abadi MT Condensed Light" panose="020B0306030101010103" pitchFamily="34" charset="77"/>
              </a:defRPr>
            </a:lvl3pPr>
            <a:lvl4pPr>
              <a:defRPr>
                <a:latin typeface="Abadi MT Condensed Light" panose="020B0306030101010103" pitchFamily="34" charset="77"/>
              </a:defRPr>
            </a:lvl4pPr>
            <a:lvl5pPr>
              <a:defRPr>
                <a:latin typeface="Abadi MT Condensed Light" panose="020B0306030101010103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fld id="{A4374B65-6519-484E-9C47-1615B510C388}" type="datetime1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213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C67E8-81BB-D44F-BCB5-3D37BB91F17C}" type="datetime1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95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B1A99-7612-EB4B-AEAB-054269ECF55E}" type="datetime1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124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28C00-98BB-0A4C-9B7A-E0C9A0D6114B}" type="datetime1">
              <a:rPr lang="en-US" smtClean="0"/>
              <a:t>1/19/26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40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EB20C-F5DC-D045-90B5-4CACA0C6E147}" type="datetime1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822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FE27-42F5-B748-8D36-C704C35B5F61}" type="datetime1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010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DF0BD-E983-D747-A8CF-D828D6BC397B}" type="datetime1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05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D53B-9D60-AB4F-90EE-829E25AB6707}" type="datetime1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215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 b="0" i="0">
                <a:latin typeface="LM Sans 12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0" i="0">
                <a:latin typeface="LM Sans 12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LM Sans 12" pitchFamily="2" charset="77"/>
              </a:defRPr>
            </a:lvl1pPr>
          </a:lstStyle>
          <a:p>
            <a:fld id="{0087BB83-6069-5645-ADCA-76FCB71DDFFB}" type="datetime1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LM Sans 12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LM Sans 12" pitchFamily="2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06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LM Sans 12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LM Sans 12" pitchFamily="2" charset="77"/>
              </a:defRPr>
            </a:lvl1pPr>
            <a:lvl2pPr>
              <a:defRPr b="0" i="0">
                <a:latin typeface="LM Sans 12" pitchFamily="2" charset="77"/>
              </a:defRPr>
            </a:lvl2pPr>
            <a:lvl3pPr>
              <a:defRPr b="0" i="0">
                <a:latin typeface="LM Sans 12" pitchFamily="2" charset="77"/>
              </a:defRPr>
            </a:lvl3pPr>
            <a:lvl4pPr>
              <a:defRPr b="0" i="0">
                <a:latin typeface="LM Sans 12" pitchFamily="2" charset="77"/>
              </a:defRPr>
            </a:lvl4pPr>
            <a:lvl5pPr>
              <a:defRPr b="0" i="0">
                <a:latin typeface="LM Sans 12" pitchFamily="2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LM Sans 12" pitchFamily="2" charset="77"/>
              </a:defRPr>
            </a:lvl1pPr>
          </a:lstStyle>
          <a:p>
            <a:fld id="{D1541F2A-0A8E-E04C-83E9-B55E2C4BD3B8}" type="datetime1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LM Sans 12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LM Sans 12" pitchFamily="2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6356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F400-3976-C44A-A18D-6C94AABA8A32}" type="datetime1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6101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Abadi MT Condensed Extra Bold" panose="020B0306030101010103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  <a:lvl2pPr>
              <a:defRPr>
                <a:latin typeface="Abadi MT Condensed Light" panose="020B0306030101010103" pitchFamily="34" charset="77"/>
              </a:defRPr>
            </a:lvl2pPr>
            <a:lvl3pPr>
              <a:defRPr>
                <a:latin typeface="Abadi MT Condensed Light" panose="020B0306030101010103" pitchFamily="34" charset="77"/>
              </a:defRPr>
            </a:lvl3pPr>
            <a:lvl4pPr>
              <a:defRPr>
                <a:latin typeface="Abadi MT Condensed Light" panose="020B0306030101010103" pitchFamily="34" charset="77"/>
              </a:defRPr>
            </a:lvl4pPr>
            <a:lvl5pPr>
              <a:defRPr>
                <a:latin typeface="Abadi MT Condensed Light" panose="020B0306030101010103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  <a:lvl2pPr>
              <a:defRPr>
                <a:latin typeface="Abadi MT Condensed Light" panose="020B0306030101010103" pitchFamily="34" charset="77"/>
              </a:defRPr>
            </a:lvl2pPr>
            <a:lvl3pPr>
              <a:defRPr>
                <a:latin typeface="Abadi MT Condensed Light" panose="020B0306030101010103" pitchFamily="34" charset="77"/>
              </a:defRPr>
            </a:lvl3pPr>
            <a:lvl4pPr>
              <a:defRPr>
                <a:latin typeface="Abadi MT Condensed Light" panose="020B0306030101010103" pitchFamily="34" charset="77"/>
              </a:defRPr>
            </a:lvl4pPr>
            <a:lvl5pPr>
              <a:defRPr>
                <a:latin typeface="Abadi MT Condensed Light" panose="020B0306030101010103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fld id="{22914C91-D3CC-304D-BFA5-F9081609BE0B}" type="datetime1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1207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3C1F-7F2F-8B42-8C30-A79DDFC00DD2}" type="datetime1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0634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2F2CC-AA9C-B441-87E4-FB44AF6D6EAA}" type="datetime1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0169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FFD9B-982E-0F42-AA9F-618F9A6E5497}" type="datetime1">
              <a:rPr lang="en-US" smtClean="0"/>
              <a:t>1/19/26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0949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B0F5A-7AE4-DB46-9BBC-EAD60A41D2B3}" type="datetime1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1330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6444E-DD9F-594E-9465-137A3F198EDA}" type="datetime1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4829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3BDF5-0239-574F-A4D6-FD78527E0FD7}" type="datetime1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1065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C27D9-4B93-764C-AC3D-BF1F0A72817A}" type="datetime1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818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fld id="{0FB34C5D-9801-E548-9066-35D6B7BD067D}" type="datetime1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948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badi MT Condensed Extra Bold" panose="020B03060301010101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fld id="{F421C839-935C-5241-89DE-AA244A86C926}" type="datetime1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842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badi MT Condensed Extra Bold" panose="020B03060301010101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haopeng@cityu.edu.h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o1.dr-chuck.net/py4inf/EN-us/book.pdf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tif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ogrammableweb.com/" TargetMode="External"/><Relationship Id="rId2" Type="http://schemas.openxmlformats.org/officeDocument/2006/relationships/hyperlink" Target="http://www.internetlivestats.com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xdevplatform/Twitter-API-v2-sample-code" TargetMode="External"/><Relationship Id="rId4" Type="http://schemas.openxmlformats.org/officeDocument/2006/relationships/hyperlink" Target="https://github.com/tweepy/tweepy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nkeylearn/monkeylearn-python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x.com/haoopeng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aoopeng.github.io/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openalex.org/authors?filter=display_name.search%3AHao+Peng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sgsajeewa/sample-web-crawler-using-crawler4j-8033bfcd8e60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editorial.rottentomatoes.com/guide/best-movies-21st-century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ottentomatoes.com/m/avengers_endgame/reviews?type=user" TargetMode="External"/><Relationship Id="rId3" Type="http://schemas.openxmlformats.org/officeDocument/2006/relationships/hyperlink" Target="https://www.rottentomatoes.com/m/avengers_endgame" TargetMode="External"/><Relationship Id="rId7" Type="http://schemas.openxmlformats.org/officeDocument/2006/relationships/hyperlink" Target="https://www.rottentomatoes.com/m/avengers_endgame/reviews?type=top_critics" TargetMode="External"/><Relationship Id="rId2" Type="http://schemas.openxmlformats.org/officeDocument/2006/relationships/hyperlink" Target="https://editorial.rottentomatoes.com/guide/best-movies-21st-century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ottentomatoes.com/m/avengers_endgame/reviews" TargetMode="External"/><Relationship Id="rId5" Type="http://schemas.openxmlformats.org/officeDocument/2006/relationships/hyperlink" Target="https://www.rottentomatoes.com/m/modern_times" TargetMode="External"/><Relationship Id="rId4" Type="http://schemas.openxmlformats.org/officeDocument/2006/relationships/hyperlink" Target="https://www.rottentomatoes.com/m/parasite_2019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ottentomatoes.com/m/parasite_2019" TargetMode="External"/><Relationship Id="rId2" Type="http://schemas.openxmlformats.org/officeDocument/2006/relationships/hyperlink" Target="https://editorial.rottentomatoes.com/guide/best-movies-21st-century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ottentomatoes.com/m/parasite_2019/reviews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rummy.com/software/BeautifulSoup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hyperlink" Target="https://www.crummy.com/software/BeautifulSoup/bs4/doc/#differences-between-parsers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beautiful-soup-4.readthedocs.io/en/latest/#find-all" TargetMode="External"/><Relationship Id="rId2" Type="http://schemas.openxmlformats.org/officeDocument/2006/relationships/hyperlink" Target="https://beautiful-soup-4.readthedocs.io/en/latest/#find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python.org/2/library/json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22.wmf"/><Relationship Id="rId7" Type="http://schemas.openxmlformats.org/officeDocument/2006/relationships/image" Target="../media/image2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25.wmf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B6359-AFC8-5749-ABD8-D22C31534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8602" y="1413845"/>
            <a:ext cx="7746794" cy="1729289"/>
          </a:xfrm>
        </p:spPr>
        <p:txBody>
          <a:bodyPr>
            <a:normAutofit fontScale="90000"/>
          </a:bodyPr>
          <a:lstStyle/>
          <a:p>
            <a:r>
              <a:rPr lang="en-HK" sz="5300" dirty="0">
                <a:latin typeface="+mn-lt"/>
              </a:rPr>
              <a:t>SDSC 2005 - Introduction to Computational Social Science </a:t>
            </a:r>
            <a:br>
              <a:rPr lang="en-HK" sz="5300" dirty="0">
                <a:latin typeface="+mn-lt"/>
              </a:rPr>
            </a:br>
            <a:r>
              <a:rPr lang="en-HK" sz="5300" dirty="0">
                <a:latin typeface="+mn-lt"/>
              </a:rPr>
              <a:t>(Lecture 2)</a:t>
            </a:r>
            <a:endParaRPr lang="en-US" b="1" dirty="0">
              <a:latin typeface="+mn-lt"/>
              <a:cs typeface="Al Nile" pitchFamily="2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BB8D86-7309-C04C-901B-36514C3810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2999" y="3230220"/>
            <a:ext cx="6858000" cy="2653748"/>
          </a:xfrm>
        </p:spPr>
        <p:txBody>
          <a:bodyPr>
            <a:normAutofit lnSpcReduction="10000"/>
          </a:bodyPr>
          <a:lstStyle/>
          <a:p>
            <a:endParaRPr lang="en-US" dirty="0">
              <a:latin typeface="LM Sans 12" panose="00000500000000000000" pitchFamily="50" charset="0"/>
              <a:ea typeface="Apple Symbols" panose="02000000000000000000" pitchFamily="2" charset="-79"/>
              <a:cs typeface="Apple Symbols" panose="02000000000000000000" pitchFamily="2" charset="-79"/>
            </a:endParaRPr>
          </a:p>
          <a:p>
            <a:r>
              <a:rPr lang="en-US" dirty="0"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Hao PENG</a:t>
            </a:r>
          </a:p>
          <a:p>
            <a:r>
              <a:rPr lang="en-US" dirty="0"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(</a:t>
            </a:r>
            <a:r>
              <a:rPr lang="en-US" dirty="0"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  <a:hlinkClick r:id="rId3"/>
              </a:rPr>
              <a:t>haopeng@cityu.edu.hk</a:t>
            </a:r>
            <a:r>
              <a:rPr lang="en-US" dirty="0"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)</a:t>
            </a:r>
          </a:p>
          <a:p>
            <a:r>
              <a:rPr lang="en-US" dirty="0"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Department of Data Science</a:t>
            </a:r>
          </a:p>
          <a:p>
            <a:r>
              <a:rPr lang="en-US" dirty="0"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City University of Hong Kong</a:t>
            </a:r>
          </a:p>
          <a:p>
            <a:r>
              <a:rPr lang="en-US" dirty="0">
                <a:solidFill>
                  <a:srgbClr val="0019FF"/>
                </a:solidFill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https://</a:t>
            </a:r>
            <a:r>
              <a:rPr lang="en-US" dirty="0" err="1">
                <a:solidFill>
                  <a:srgbClr val="0019FF"/>
                </a:solidFill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haoopeng.github.io</a:t>
            </a:r>
            <a:r>
              <a:rPr lang="en-US" dirty="0">
                <a:solidFill>
                  <a:srgbClr val="0019FF"/>
                </a:solidFill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852969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FE3BA-AE12-3F45-86DC-CA082AD8D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07" y="365126"/>
            <a:ext cx="7886700" cy="1325563"/>
          </a:xfrm>
        </p:spPr>
        <p:txBody>
          <a:bodyPr/>
          <a:lstStyle/>
          <a:p>
            <a:r>
              <a:rPr lang="en-US" b="0" dirty="0"/>
              <a:t>Agenda for Week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30828-5CE0-BC4B-9D54-707C0B699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707" y="1690689"/>
            <a:ext cx="7886700" cy="4351338"/>
          </a:xfrm>
        </p:spPr>
        <p:txBody>
          <a:bodyPr>
            <a:normAutofit fontScale="92500" lnSpcReduction="20000"/>
          </a:bodyPr>
          <a:lstStyle/>
          <a:p>
            <a:r>
              <a:rPr lang="en-HK" dirty="0"/>
              <a:t>Data collection, APIs</a:t>
            </a:r>
          </a:p>
          <a:p>
            <a:r>
              <a:rPr lang="en-HK" dirty="0"/>
              <a:t>Requests, BS4, Json</a:t>
            </a:r>
          </a:p>
          <a:p>
            <a:r>
              <a:rPr lang="en-HK" dirty="0"/>
              <a:t>Data preprocessing</a:t>
            </a:r>
          </a:p>
          <a:p>
            <a:r>
              <a:rPr lang="en-US" dirty="0"/>
              <a:t>Python tutorial</a:t>
            </a:r>
          </a:p>
          <a:p>
            <a:pPr lvl="1"/>
            <a:r>
              <a:rPr lang="en-US" sz="2600" dirty="0"/>
              <a:t>Requests</a:t>
            </a:r>
          </a:p>
          <a:p>
            <a:pPr lvl="1"/>
            <a:r>
              <a:rPr lang="en-US" sz="2600" dirty="0" err="1"/>
              <a:t>BeautifulSoup</a:t>
            </a:r>
            <a:endParaRPr lang="en-US" sz="2600" dirty="0"/>
          </a:p>
          <a:p>
            <a:pPr lvl="1"/>
            <a:r>
              <a:rPr lang="en-US" sz="2600" dirty="0" err="1">
                <a:solidFill>
                  <a:srgbClr val="0078B9"/>
                </a:solidFill>
              </a:rPr>
              <a:t>OpenAlex</a:t>
            </a:r>
            <a:r>
              <a:rPr lang="en-US" sz="2600" dirty="0">
                <a:solidFill>
                  <a:srgbClr val="0078B9"/>
                </a:solidFill>
              </a:rPr>
              <a:t> / Wikipedia API</a:t>
            </a:r>
          </a:p>
          <a:p>
            <a:pPr marL="457200" lvl="1" indent="0">
              <a:buNone/>
            </a:pPr>
            <a:endParaRPr lang="en-US" sz="2000" dirty="0">
              <a:solidFill>
                <a:srgbClr val="0078B9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Last minute to find a home group</a:t>
            </a:r>
            <a:endParaRPr lang="en-US" dirty="0"/>
          </a:p>
          <a:p>
            <a:pPr lvl="1"/>
            <a:r>
              <a:rPr lang="en-US" dirty="0"/>
              <a:t>If not, you will get a random home after today</a:t>
            </a:r>
          </a:p>
          <a:p>
            <a:pPr lvl="1"/>
            <a:r>
              <a:rPr lang="en-US" dirty="0"/>
              <a:t>Each group can have max. 6 students (class size: ~95)</a:t>
            </a:r>
          </a:p>
          <a:p>
            <a:pPr lvl="1"/>
            <a:r>
              <a:rPr lang="en-US" dirty="0"/>
              <a:t>18 teams in total so that each group can have ~20 mins.</a:t>
            </a:r>
          </a:p>
        </p:txBody>
      </p:sp>
    </p:spTree>
    <p:extLst>
      <p:ext uri="{BB962C8B-B14F-4D97-AF65-F5344CB8AC3E}">
        <p14:creationId xmlns:p14="http://schemas.microsoft.com/office/powerpoint/2010/main" val="3730086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E06D6-5474-40C6-B5F0-CC629B472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If you need python material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2723A-57E0-4CE1-A7B5-B9EC8FBA4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10627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Check out Chuck </a:t>
            </a:r>
            <a:r>
              <a:rPr lang="en-US" dirty="0" err="1"/>
              <a:t>Severence’s</a:t>
            </a:r>
            <a:r>
              <a:rPr lang="en-US" dirty="0"/>
              <a:t> </a:t>
            </a:r>
            <a:r>
              <a:rPr lang="en-US" b="1" dirty="0">
                <a:solidFill>
                  <a:schemeClr val="accent6"/>
                </a:solidFill>
              </a:rPr>
              <a:t>Python for Informatics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https://do1.dr-chuck.net/py4inf/EN-us/book.pdf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151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914" y="742950"/>
            <a:ext cx="7924800" cy="85725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b="0" dirty="0"/>
              <a:t>Before we can analyze data or make fancy visualizations….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899" y="2000251"/>
            <a:ext cx="6868389" cy="5715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	We need some data to analyze / visualize!</a:t>
            </a:r>
          </a:p>
        </p:txBody>
      </p:sp>
      <p:sp>
        <p:nvSpPr>
          <p:cNvPr id="7" name="Rectangle 6"/>
          <p:cNvSpPr/>
          <p:nvPr/>
        </p:nvSpPr>
        <p:spPr>
          <a:xfrm>
            <a:off x="6286500" y="2914650"/>
            <a:ext cx="1257300" cy="8001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dirty="0"/>
              <a:t>Communicate something interesting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1829587" y="2914650"/>
            <a:ext cx="1489308" cy="800100"/>
            <a:chOff x="915449" y="2743200"/>
            <a:chExt cx="1985744" cy="1066800"/>
          </a:xfrm>
        </p:grpSpPr>
        <p:sp>
          <p:nvSpPr>
            <p:cNvPr id="4" name="Rectangle 3"/>
            <p:cNvSpPr/>
            <p:nvPr/>
          </p:nvSpPr>
          <p:spPr>
            <a:xfrm>
              <a:off x="915449" y="2743200"/>
              <a:ext cx="1524000" cy="10668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350" dirty="0"/>
                <a:t>Get some data</a:t>
              </a:r>
            </a:p>
          </p:txBody>
        </p:sp>
        <p:cxnSp>
          <p:nvCxnSpPr>
            <p:cNvPr id="9" name="Straight Arrow Connector 8"/>
            <p:cNvCxnSpPr>
              <a:stCxn id="4" idx="3"/>
              <a:endCxn id="5" idx="1"/>
            </p:cNvCxnSpPr>
            <p:nvPr/>
          </p:nvCxnSpPr>
          <p:spPr>
            <a:xfrm>
              <a:off x="2439449" y="3276600"/>
              <a:ext cx="461744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>
            <a:off x="3318895" y="2914650"/>
            <a:ext cx="1482492" cy="800100"/>
            <a:chOff x="2901193" y="2743200"/>
            <a:chExt cx="1976656" cy="1066800"/>
          </a:xfrm>
        </p:grpSpPr>
        <p:sp>
          <p:nvSpPr>
            <p:cNvPr id="5" name="Rectangle 4"/>
            <p:cNvSpPr/>
            <p:nvPr/>
          </p:nvSpPr>
          <p:spPr>
            <a:xfrm>
              <a:off x="2901193" y="2743200"/>
              <a:ext cx="1524000" cy="10668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350" dirty="0"/>
                <a:t>Clean it up, transform it</a:t>
              </a:r>
            </a:p>
          </p:txBody>
        </p:sp>
        <p:cxnSp>
          <p:nvCxnSpPr>
            <p:cNvPr id="12" name="Straight Arrow Connector 11"/>
            <p:cNvCxnSpPr>
              <a:stCxn id="5" idx="3"/>
              <a:endCxn id="6" idx="1"/>
            </p:cNvCxnSpPr>
            <p:nvPr/>
          </p:nvCxnSpPr>
          <p:spPr>
            <a:xfrm>
              <a:off x="4425193" y="3276600"/>
              <a:ext cx="452656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1" name="Group 30"/>
          <p:cNvGrpSpPr/>
          <p:nvPr/>
        </p:nvGrpSpPr>
        <p:grpSpPr>
          <a:xfrm>
            <a:off x="1826967" y="3926087"/>
            <a:ext cx="5714213" cy="800100"/>
            <a:chOff x="911954" y="4244182"/>
            <a:chExt cx="7618951" cy="1066800"/>
          </a:xfrm>
        </p:grpSpPr>
        <p:sp>
          <p:nvSpPr>
            <p:cNvPr id="24" name="Rectangle 23"/>
            <p:cNvSpPr/>
            <p:nvPr/>
          </p:nvSpPr>
          <p:spPr>
            <a:xfrm>
              <a:off x="911954" y="4244182"/>
              <a:ext cx="1524000" cy="1066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b="1" dirty="0"/>
                <a:t>GET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897698" y="4244182"/>
              <a:ext cx="1524000" cy="1066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b="1" dirty="0"/>
                <a:t>MANIPULATE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874354" y="4244182"/>
              <a:ext cx="1524000" cy="1066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b="1" dirty="0"/>
                <a:t>LEARN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854505" y="4244182"/>
              <a:ext cx="1676400" cy="1066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b="1" dirty="0"/>
                <a:t>TELL</a:t>
              </a:r>
            </a:p>
          </p:txBody>
        </p:sp>
        <p:cxnSp>
          <p:nvCxnSpPr>
            <p:cNvPr id="28" name="Straight Arrow Connector 27"/>
            <p:cNvCxnSpPr>
              <a:stCxn id="24" idx="3"/>
              <a:endCxn id="25" idx="1"/>
            </p:cNvCxnSpPr>
            <p:nvPr/>
          </p:nvCxnSpPr>
          <p:spPr>
            <a:xfrm>
              <a:off x="2435954" y="4777582"/>
              <a:ext cx="461744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25" idx="3"/>
              <a:endCxn id="26" idx="1"/>
            </p:cNvCxnSpPr>
            <p:nvPr/>
          </p:nvCxnSpPr>
          <p:spPr>
            <a:xfrm>
              <a:off x="4421698" y="4777582"/>
              <a:ext cx="452656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26" idx="3"/>
              <a:endCxn id="27" idx="1"/>
            </p:cNvCxnSpPr>
            <p:nvPr/>
          </p:nvCxnSpPr>
          <p:spPr>
            <a:xfrm>
              <a:off x="6398354" y="4777582"/>
              <a:ext cx="456151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4" name="Group 63"/>
          <p:cNvGrpSpPr/>
          <p:nvPr/>
        </p:nvGrpSpPr>
        <p:grpSpPr>
          <a:xfrm>
            <a:off x="1739646" y="3829051"/>
            <a:ext cx="5918453" cy="1714501"/>
            <a:chOff x="795528" y="3962400"/>
            <a:chExt cx="7891271" cy="2286001"/>
          </a:xfrm>
        </p:grpSpPr>
        <p:sp>
          <p:nvSpPr>
            <p:cNvPr id="35" name="Left Brace 34"/>
            <p:cNvSpPr/>
            <p:nvPr/>
          </p:nvSpPr>
          <p:spPr>
            <a:xfrm rot="16200000">
              <a:off x="2525541" y="3501793"/>
              <a:ext cx="327817" cy="3776392"/>
            </a:xfrm>
            <a:prstGeom prst="leftBrace">
              <a:avLst>
                <a:gd name="adj1" fmla="val 38476"/>
                <a:gd name="adj2" fmla="val 49272"/>
              </a:avLst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3" name="Content Placeholder 2"/>
            <p:cNvSpPr txBox="1">
              <a:spLocks/>
            </p:cNvSpPr>
            <p:nvPr/>
          </p:nvSpPr>
          <p:spPr>
            <a:xfrm>
              <a:off x="1326523" y="5486400"/>
              <a:ext cx="7360276" cy="762001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tabLst>
                  <a:tab pos="339725" algn="l"/>
                </a:tabLst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2100" dirty="0"/>
                <a:t>	This lecture</a:t>
              </a:r>
            </a:p>
          </p:txBody>
        </p:sp>
        <p:cxnSp>
          <p:nvCxnSpPr>
            <p:cNvPr id="45" name="Straight Connector 44"/>
            <p:cNvCxnSpPr>
              <a:cxnSpLocks/>
            </p:cNvCxnSpPr>
            <p:nvPr/>
          </p:nvCxnSpPr>
          <p:spPr>
            <a:xfrm flipV="1">
              <a:off x="4572000" y="3962400"/>
              <a:ext cx="0" cy="1325557"/>
            </a:xfrm>
            <a:prstGeom prst="line">
              <a:avLst/>
            </a:prstGeom>
            <a:ln w="28575"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flipV="1">
              <a:off x="795528" y="3962400"/>
              <a:ext cx="0" cy="1196182"/>
            </a:xfrm>
            <a:prstGeom prst="line">
              <a:avLst/>
            </a:prstGeom>
            <a:ln w="28575"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>
              <a:cxnSpLocks/>
            </p:cNvCxnSpPr>
            <p:nvPr/>
          </p:nvCxnSpPr>
          <p:spPr>
            <a:xfrm>
              <a:off x="795528" y="3962400"/>
              <a:ext cx="3776472" cy="0"/>
            </a:xfrm>
            <a:prstGeom prst="line">
              <a:avLst/>
            </a:prstGeom>
            <a:ln w="28575"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0" name="Group 69"/>
          <p:cNvGrpSpPr/>
          <p:nvPr/>
        </p:nvGrpSpPr>
        <p:grpSpPr>
          <a:xfrm>
            <a:off x="3886200" y="2552350"/>
            <a:ext cx="2400300" cy="1162400"/>
            <a:chOff x="3657600" y="2260134"/>
            <a:chExt cx="3200400" cy="1549866"/>
          </a:xfrm>
        </p:grpSpPr>
        <p:sp>
          <p:nvSpPr>
            <p:cNvPr id="6" name="Rectangle 5"/>
            <p:cNvSpPr/>
            <p:nvPr/>
          </p:nvSpPr>
          <p:spPr>
            <a:xfrm>
              <a:off x="4877849" y="2743200"/>
              <a:ext cx="1524000" cy="10668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350" dirty="0"/>
                <a:t>Explore it,</a:t>
              </a:r>
            </a:p>
            <a:p>
              <a:pPr algn="ctr"/>
              <a:r>
                <a:rPr lang="en-US" sz="1350" dirty="0"/>
                <a:t>analyze it, visualize it</a:t>
              </a:r>
            </a:p>
          </p:txBody>
        </p:sp>
        <p:cxnSp>
          <p:nvCxnSpPr>
            <p:cNvPr id="15" name="Straight Arrow Connector 14"/>
            <p:cNvCxnSpPr>
              <a:stCxn id="6" idx="3"/>
              <a:endCxn id="7" idx="1"/>
            </p:cNvCxnSpPr>
            <p:nvPr/>
          </p:nvCxnSpPr>
          <p:spPr>
            <a:xfrm>
              <a:off x="6401849" y="3276600"/>
              <a:ext cx="456151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9" name="Arc 68"/>
            <p:cNvSpPr/>
            <p:nvPr/>
          </p:nvSpPr>
          <p:spPr>
            <a:xfrm>
              <a:off x="3657600" y="2260134"/>
              <a:ext cx="1976304" cy="914400"/>
            </a:xfrm>
            <a:prstGeom prst="arc">
              <a:avLst>
                <a:gd name="adj1" fmla="val 10695227"/>
                <a:gd name="adj2" fmla="val 107880"/>
              </a:avLst>
            </a:prstGeom>
            <a:ln w="28575">
              <a:prstDash val="solid"/>
              <a:headEnd type="triangle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541597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3D4ED-0110-CE25-1432-FB2A17658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F6D56-9CE9-6899-BA30-C31165EA4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60499"/>
            <a:ext cx="7886700" cy="503237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000" dirty="0">
                <a:latin typeface="+mn-lt"/>
              </a:rPr>
              <a:t>For individuals (people, objects, etc.), measurements are taken for some variables, and the resulting measurement value</a:t>
            </a:r>
            <a:r>
              <a:rPr lang="en-US" altLang="zh-CN" sz="2000" dirty="0">
                <a:latin typeface="+mn-lt"/>
              </a:rPr>
              <a:t>s</a:t>
            </a:r>
            <a:r>
              <a:rPr lang="en-US" sz="2000" dirty="0">
                <a:latin typeface="+mn-lt"/>
              </a:rPr>
              <a:t> are </a:t>
            </a:r>
            <a:r>
              <a:rPr lang="en-US" sz="2000" dirty="0">
                <a:solidFill>
                  <a:srgbClr val="C00000"/>
                </a:solidFill>
                <a:latin typeface="+mn-lt"/>
              </a:rPr>
              <a:t>data</a:t>
            </a:r>
            <a:r>
              <a:rPr lang="en-US" sz="2000" dirty="0">
                <a:latin typeface="+mn-lt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2000" dirty="0">
                <a:latin typeface="+mn-lt"/>
              </a:rPr>
              <a:t>Variable is a characteristic of an individual, and it has two types: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§"/>
            </a:pPr>
            <a:r>
              <a:rPr lang="en-US" sz="2000" b="1" dirty="0">
                <a:latin typeface="+mn-lt"/>
              </a:rPr>
              <a:t>categorical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a.k.a</a:t>
            </a:r>
            <a:r>
              <a:rPr lang="en-US" sz="2000" dirty="0">
                <a:latin typeface="+mn-lt"/>
              </a:rPr>
              <a:t> </a:t>
            </a:r>
            <a:r>
              <a:rPr lang="en-US" sz="2000" b="1" dirty="0">
                <a:latin typeface="+mn-lt"/>
              </a:rPr>
              <a:t>qualitative</a:t>
            </a:r>
            <a:r>
              <a:rPr lang="en-US" sz="2000" dirty="0">
                <a:latin typeface="+mn-lt"/>
              </a:rPr>
              <a:t> (e.g., </a:t>
            </a:r>
            <a:r>
              <a:rPr lang="en-US" sz="2000" dirty="0">
                <a:solidFill>
                  <a:srgbClr val="0019FF"/>
                </a:solidFill>
                <a:latin typeface="+mn-lt"/>
              </a:rPr>
              <a:t>gender, personality type</a:t>
            </a:r>
            <a:r>
              <a:rPr lang="en-US" sz="2000" dirty="0">
                <a:latin typeface="+mn-lt"/>
              </a:rPr>
              <a:t>)</a:t>
            </a:r>
          </a:p>
          <a:p>
            <a:pPr lvl="2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+mn-lt"/>
              </a:rPr>
              <a:t>A categorical variable is called ordinal if its categories can be ordered (e.g., </a:t>
            </a:r>
            <a:r>
              <a:rPr lang="en-US" dirty="0">
                <a:solidFill>
                  <a:srgbClr val="0019FF"/>
                </a:solidFill>
                <a:latin typeface="+mn-lt"/>
              </a:rPr>
              <a:t>letter grade, </a:t>
            </a:r>
            <a:r>
              <a:rPr lang="en-US" altLang="zh-CN" dirty="0" err="1">
                <a:solidFill>
                  <a:srgbClr val="0019FF"/>
                </a:solidFill>
                <a:latin typeface="+mn-lt"/>
              </a:rPr>
              <a:t>edu</a:t>
            </a:r>
            <a:r>
              <a:rPr lang="en-US" dirty="0">
                <a:solidFill>
                  <a:srgbClr val="0019FF"/>
                </a:solidFill>
                <a:latin typeface="+mn-lt"/>
              </a:rPr>
              <a:t> level</a:t>
            </a:r>
            <a:r>
              <a:rPr lang="en-US" dirty="0">
                <a:latin typeface="+mn-lt"/>
              </a:rPr>
              <a:t>)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§"/>
            </a:pPr>
            <a:r>
              <a:rPr lang="en-US" sz="2000" b="1" dirty="0">
                <a:latin typeface="+mn-lt"/>
              </a:rPr>
              <a:t>numerical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a.k.a</a:t>
            </a:r>
            <a:r>
              <a:rPr lang="en-US" sz="2000" dirty="0">
                <a:latin typeface="+mn-lt"/>
              </a:rPr>
              <a:t> </a:t>
            </a:r>
            <a:r>
              <a:rPr lang="en-US" sz="2000" b="1" dirty="0">
                <a:latin typeface="+mn-lt"/>
              </a:rPr>
              <a:t>quantitative </a:t>
            </a:r>
            <a:r>
              <a:rPr lang="en-US" sz="2000" dirty="0">
                <a:latin typeface="+mn-lt"/>
              </a:rPr>
              <a:t>(e.g., </a:t>
            </a:r>
            <a:r>
              <a:rPr lang="en-US" sz="2000" dirty="0">
                <a:solidFill>
                  <a:srgbClr val="0019FF"/>
                </a:solidFill>
                <a:latin typeface="+mn-lt"/>
              </a:rPr>
              <a:t>height, weight, age</a:t>
            </a:r>
            <a:r>
              <a:rPr lang="en-US" sz="2000" dirty="0">
                <a:latin typeface="+mn-lt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2000" dirty="0">
                <a:latin typeface="+mn-lt"/>
              </a:rPr>
              <a:t>Note: </a:t>
            </a:r>
            <a:r>
              <a:rPr lang="en-US" altLang="zh-CN" sz="2000" dirty="0">
                <a:latin typeface="+mn-lt"/>
              </a:rPr>
              <a:t>O</a:t>
            </a:r>
            <a:r>
              <a:rPr lang="en-US" sz="2000" dirty="0">
                <a:latin typeface="+mn-lt"/>
              </a:rPr>
              <a:t>nly numerical variables allow arithmetic operations</a:t>
            </a:r>
            <a:r>
              <a:rPr lang="en-US" altLang="zh-CN" sz="2000" dirty="0">
                <a:latin typeface="+mn-lt"/>
              </a:rPr>
              <a:t>.</a:t>
            </a:r>
            <a:endParaRPr lang="en-US" sz="2000" dirty="0">
              <a:latin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000" dirty="0">
                <a:latin typeface="+mn-lt"/>
              </a:rPr>
              <a:t>               </a:t>
            </a:r>
            <a:r>
              <a:rPr lang="en-US" altLang="zh-CN" sz="2000" dirty="0">
                <a:latin typeface="+mn-lt"/>
              </a:rPr>
              <a:t>C</a:t>
            </a:r>
            <a:r>
              <a:rPr lang="en-US" sz="2000" dirty="0">
                <a:latin typeface="+mn-lt"/>
              </a:rPr>
              <a:t>ategorical variables do not. Most of them have no ordering.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35C71-2F9E-1FE5-9017-166459945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FA791-3060-7643-8677-86D470F575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8104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49A17-BB95-F0B7-BFB5-378D27113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BE9FB-55B8-7F39-B2BA-FC378A977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01121"/>
            <a:ext cx="78867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n-lt"/>
              </a:rPr>
              <a:t>Columns correspond to </a:t>
            </a:r>
            <a:r>
              <a:rPr lang="en-US" altLang="zh-CN" sz="2400" dirty="0">
                <a:latin typeface="+mn-lt"/>
              </a:rPr>
              <a:t>v</a:t>
            </a:r>
            <a:r>
              <a:rPr lang="en-US" sz="2400" dirty="0">
                <a:latin typeface="+mn-lt"/>
              </a:rPr>
              <a:t>ariables</a:t>
            </a:r>
            <a:r>
              <a:rPr lang="en-US" altLang="zh-CN" sz="2400" dirty="0">
                <a:latin typeface="+mn-lt"/>
              </a:rPr>
              <a:t>.</a:t>
            </a:r>
            <a:endParaRPr lang="en-US" sz="2400" dirty="0">
              <a:latin typeface="+mn-lt"/>
            </a:endParaRPr>
          </a:p>
          <a:p>
            <a:r>
              <a:rPr lang="en-US" sz="2400" dirty="0">
                <a:latin typeface="+mn-lt"/>
              </a:rPr>
              <a:t>Row</a:t>
            </a:r>
            <a:r>
              <a:rPr lang="en-US" altLang="zh-CN" sz="2400" dirty="0">
                <a:latin typeface="+mn-lt"/>
              </a:rPr>
              <a:t>s</a:t>
            </a:r>
            <a:r>
              <a:rPr lang="en-US" sz="2400" dirty="0">
                <a:latin typeface="+mn-lt"/>
              </a:rPr>
              <a:t> correspond to individuals, often called </a:t>
            </a:r>
            <a:r>
              <a:rPr lang="en-US" altLang="zh-CN" sz="2400" b="1" dirty="0">
                <a:latin typeface="+mn-lt"/>
              </a:rPr>
              <a:t>o</a:t>
            </a:r>
            <a:r>
              <a:rPr lang="en-US" sz="2400" b="1" dirty="0">
                <a:latin typeface="+mn-lt"/>
              </a:rPr>
              <a:t>bservations</a:t>
            </a:r>
            <a:r>
              <a:rPr lang="en-US" sz="2400" dirty="0">
                <a:latin typeface="+mn-lt"/>
              </a:rPr>
              <a:t>.</a:t>
            </a:r>
          </a:p>
          <a:p>
            <a:r>
              <a:rPr lang="en-US" sz="2400" dirty="0">
                <a:latin typeface="+mn-lt"/>
              </a:rPr>
              <a:t>The number of rows is traditionally denoted </a:t>
            </a:r>
            <a:r>
              <a:rPr lang="en-US" altLang="zh-CN" sz="2400" dirty="0">
                <a:latin typeface="+mn-lt"/>
              </a:rPr>
              <a:t>as</a:t>
            </a:r>
            <a:r>
              <a:rPr lang="zh-CN" altLang="en-US" sz="2400" dirty="0">
                <a:latin typeface="+mn-lt"/>
              </a:rPr>
              <a:t> </a:t>
            </a:r>
            <a:r>
              <a:rPr lang="en-US" sz="2400" dirty="0">
                <a:latin typeface="+mn-lt"/>
              </a:rPr>
              <a:t>n</a:t>
            </a:r>
            <a:r>
              <a:rPr lang="en-US" altLang="zh-CN" sz="2400" dirty="0">
                <a:latin typeface="+mn-lt"/>
              </a:rPr>
              <a:t>.</a:t>
            </a:r>
            <a:endParaRPr lang="en-US" sz="2400" dirty="0">
              <a:latin typeface="+mn-lt"/>
            </a:endParaRPr>
          </a:p>
        </p:txBody>
      </p:sp>
      <p:pic>
        <p:nvPicPr>
          <p:cNvPr id="5" name="Picture 4" descr="A table with a list of music&#10;&#10;Description automatically generated">
            <a:extLst>
              <a:ext uri="{FF2B5EF4-FFF2-40B4-BE49-F238E27FC236}">
                <a16:creationId xmlns:a16="http://schemas.microsoft.com/office/drawing/2014/main" id="{4E2BE864-E01F-9313-ADB3-77AFA0EBD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429000"/>
            <a:ext cx="7772400" cy="207852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0E913D-C8D3-F8BB-C4D0-285083737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FA791-3060-7643-8677-86D470F575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5468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73993-FE76-DAF1-EC2F-CF7A83327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30825"/>
            <a:ext cx="7886700" cy="1325563"/>
          </a:xfrm>
        </p:spPr>
        <p:txBody>
          <a:bodyPr/>
          <a:lstStyle/>
          <a:p>
            <a:r>
              <a:rPr lang="en-US" dirty="0"/>
              <a:t>Example from Python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B96587-1723-3D5A-B266-1BFE57160FDC}"/>
              </a:ext>
            </a:extLst>
          </p:cNvPr>
          <p:cNvSpPr txBox="1"/>
          <p:nvPr/>
        </p:nvSpPr>
        <p:spPr>
          <a:xfrm>
            <a:off x="606515" y="1533306"/>
            <a:ext cx="3934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Auto.csv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information for cars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9760CF-AB79-7530-5B62-5A1FB553F2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6607"/>
          <a:stretch/>
        </p:blipFill>
        <p:spPr>
          <a:xfrm>
            <a:off x="606514" y="2269609"/>
            <a:ext cx="8249009" cy="175432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1290BD-16AF-E2ED-9CAC-2018C5F281AF}"/>
              </a:ext>
            </a:extLst>
          </p:cNvPr>
          <p:cNvSpPr txBox="1"/>
          <p:nvPr/>
        </p:nvSpPr>
        <p:spPr>
          <a:xfrm>
            <a:off x="710971" y="4469755"/>
            <a:ext cx="384650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mpg: miles per gallon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cylinders: number of cylinders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displacement: engine displacement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horsepower: engine horsepower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weight: vehicle weight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924C95-C8EB-E7E6-9B94-4BD54620134F}"/>
              </a:ext>
            </a:extLst>
          </p:cNvPr>
          <p:cNvSpPr txBox="1"/>
          <p:nvPr/>
        </p:nvSpPr>
        <p:spPr>
          <a:xfrm>
            <a:off x="4572000" y="4442966"/>
            <a:ext cx="49097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acceleration: time to accelerate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year: model year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origin: origin of car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(1. American, 2. European, 3. Japanese)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name: vehicle name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73EDC4-9615-5168-40ED-2CBA827F3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FA791-3060-7643-8677-86D470F575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9535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40773-7323-874D-A7F6-ED065994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85276-EF51-1F45-8712-2D97E240B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820" y="1549656"/>
            <a:ext cx="848018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en-US" dirty="0">
                <a:latin typeface="+mn-lt"/>
              </a:rPr>
              <a:t>How many students </a:t>
            </a:r>
            <a:r>
              <a:rPr lang="en-US" altLang="zh-CN" dirty="0">
                <a:latin typeface="+mn-lt"/>
              </a:rPr>
              <a:t>with</a:t>
            </a:r>
            <a:r>
              <a:rPr lang="zh-CN" altLang="en-US" dirty="0">
                <a:latin typeface="+mn-lt"/>
              </a:rPr>
              <a:t> </a:t>
            </a:r>
            <a:r>
              <a:rPr lang="en-US" altLang="en-US" dirty="0">
                <a:latin typeface="+mn-lt"/>
              </a:rPr>
              <a:t>height 1</a:t>
            </a:r>
            <a:r>
              <a:rPr lang="en-US" altLang="zh-CN" dirty="0">
                <a:latin typeface="+mn-lt"/>
              </a:rPr>
              <a:t>65</a:t>
            </a:r>
            <a:r>
              <a:rPr lang="en-US" altLang="en-US" dirty="0">
                <a:latin typeface="+mn-lt"/>
              </a:rPr>
              <a:t>-17</a:t>
            </a:r>
            <a:r>
              <a:rPr lang="en-US" altLang="zh-CN" dirty="0">
                <a:latin typeface="+mn-lt"/>
              </a:rPr>
              <a:t>0</a:t>
            </a:r>
            <a:r>
              <a:rPr lang="en-US" altLang="en-US" dirty="0">
                <a:latin typeface="+mn-lt"/>
              </a:rPr>
              <a:t>cm in the class?</a:t>
            </a:r>
          </a:p>
          <a:p>
            <a:r>
              <a:rPr lang="en-US" altLang="en-US" dirty="0">
                <a:latin typeface="+mn-lt"/>
              </a:rPr>
              <a:t>Observations</a:t>
            </a:r>
          </a:p>
          <a:p>
            <a:pPr lvl="1"/>
            <a:r>
              <a:rPr lang="en-US" altLang="en-US" dirty="0">
                <a:latin typeface="+mn-lt"/>
              </a:rPr>
              <a:t>Simply looking at </a:t>
            </a:r>
            <a:r>
              <a:rPr lang="en-US" altLang="zh-CN" dirty="0">
                <a:latin typeface="+mn-lt"/>
              </a:rPr>
              <a:t>students</a:t>
            </a:r>
            <a:r>
              <a:rPr lang="zh-CN" altLang="en-US" dirty="0">
                <a:latin typeface="+mn-lt"/>
              </a:rPr>
              <a:t> </a:t>
            </a:r>
            <a:r>
              <a:rPr lang="en-US" altLang="zh-CN" dirty="0">
                <a:latin typeface="+mn-lt"/>
              </a:rPr>
              <a:t>around</a:t>
            </a:r>
            <a:r>
              <a:rPr lang="zh-CN" altLang="en-US" dirty="0">
                <a:latin typeface="+mn-lt"/>
              </a:rPr>
              <a:t> </a:t>
            </a:r>
            <a:r>
              <a:rPr lang="en-US" altLang="en-US" dirty="0">
                <a:latin typeface="+mn-lt"/>
              </a:rPr>
              <a:t>you</a:t>
            </a:r>
          </a:p>
          <a:p>
            <a:r>
              <a:rPr lang="en-US" altLang="en-US" dirty="0">
                <a:latin typeface="+mn-lt"/>
              </a:rPr>
              <a:t>Tests &amp; Experiments</a:t>
            </a:r>
          </a:p>
          <a:p>
            <a:pPr lvl="1"/>
            <a:r>
              <a:rPr lang="en-US" altLang="en-US" dirty="0">
                <a:latin typeface="+mn-lt"/>
              </a:rPr>
              <a:t>Soft ruler</a:t>
            </a:r>
          </a:p>
          <a:p>
            <a:r>
              <a:rPr lang="en-US" altLang="en-US" dirty="0">
                <a:latin typeface="+mn-lt"/>
              </a:rPr>
              <a:t>Surveys</a:t>
            </a:r>
          </a:p>
          <a:p>
            <a:pPr lvl="1"/>
            <a:r>
              <a:rPr lang="en-US" altLang="en-US" dirty="0">
                <a:latin typeface="+mn-lt"/>
              </a:rPr>
              <a:t>Questionnaire</a:t>
            </a:r>
          </a:p>
          <a:p>
            <a:pPr lvl="2"/>
            <a:r>
              <a:rPr lang="en-US" altLang="en-US" dirty="0">
                <a:latin typeface="+mn-lt"/>
              </a:rPr>
              <a:t>Interview</a:t>
            </a:r>
          </a:p>
          <a:p>
            <a:pPr lvl="2"/>
            <a:r>
              <a:rPr lang="en-US" altLang="en-US" dirty="0">
                <a:latin typeface="+mn-lt"/>
              </a:rPr>
              <a:t>Email</a:t>
            </a:r>
          </a:p>
          <a:p>
            <a:pPr lvl="2"/>
            <a:r>
              <a:rPr lang="en-US" altLang="en-US" dirty="0">
                <a:latin typeface="+mn-lt"/>
              </a:rPr>
              <a:t>Call</a:t>
            </a:r>
          </a:p>
          <a:p>
            <a:r>
              <a:rPr lang="en-US" altLang="zh-CN" dirty="0">
                <a:latin typeface="+mn-lt"/>
              </a:rPr>
              <a:t>Databases (structured vs. unstructured)</a:t>
            </a:r>
            <a:endParaRPr lang="en-US" altLang="en-US" dirty="0">
              <a:latin typeface="+mn-lt"/>
            </a:endParaRPr>
          </a:p>
          <a:p>
            <a:pPr lvl="1"/>
            <a:r>
              <a:rPr lang="en-US" altLang="en-US" dirty="0">
                <a:latin typeface="+mn-lt"/>
              </a:rPr>
              <a:t>Check your medical record</a:t>
            </a:r>
          </a:p>
          <a:p>
            <a:pPr lvl="1"/>
            <a:r>
              <a:rPr lang="en-US" altLang="en-US" dirty="0">
                <a:latin typeface="+mn-lt"/>
              </a:rPr>
              <a:t>Use APIs to query data from data server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F01DFA-9FE6-BE40-A588-CC2602D06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9412" y="2862720"/>
            <a:ext cx="748322" cy="7483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269645-B299-4F48-8B43-58C837EF99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1090" y="3965579"/>
            <a:ext cx="748322" cy="74832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C00BF-36D6-18F3-BDE3-5FA9BF69E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FA791-3060-7643-8677-86D470F575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9053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2B6A7-79AC-05B5-BC2D-3103C83B1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survey design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6C8E2-BE74-11CB-AC72-F87F21A73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8357088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+mn-lt"/>
              </a:rPr>
              <a:t>For instance, there are two questions A and B. 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>
                <a:latin typeface="+mn-lt"/>
              </a:rPr>
              <a:t>Will you support free college tuition?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>
                <a:latin typeface="+mn-lt"/>
              </a:rPr>
              <a:t>Will you support a</a:t>
            </a:r>
            <a:r>
              <a:rPr lang="zh-CN" altLang="en-US" dirty="0">
                <a:latin typeface="+mn-lt"/>
              </a:rPr>
              <a:t> </a:t>
            </a:r>
            <a:r>
              <a:rPr lang="en-US" altLang="zh-CN" dirty="0">
                <a:latin typeface="+mn-lt"/>
              </a:rPr>
              <a:t>tax</a:t>
            </a:r>
            <a:r>
              <a:rPr lang="en-US" dirty="0">
                <a:latin typeface="+mn-lt"/>
              </a:rPr>
              <a:t> increase to fund college?</a:t>
            </a:r>
          </a:p>
          <a:p>
            <a:r>
              <a:rPr lang="en-US" sz="2400" dirty="0">
                <a:latin typeface="+mn-lt"/>
              </a:rPr>
              <a:t>Those who answered yes to A when the questions appear in the order (A,B) would try to be consistent and answer yes to B. </a:t>
            </a:r>
          </a:p>
          <a:p>
            <a:r>
              <a:rPr lang="en-US" sz="2400" dirty="0">
                <a:latin typeface="+mn-lt"/>
              </a:rPr>
              <a:t>Due to cognitive bias, respondents to questionnaires generally try to be consistent in their responses to questions. Thus, the collected data may be biased.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6F8362-4810-AD5C-A402-2B0529B8C2AB}"/>
              </a:ext>
            </a:extLst>
          </p:cNvPr>
          <p:cNvSpPr txBox="1"/>
          <p:nvPr/>
        </p:nvSpPr>
        <p:spPr>
          <a:xfrm>
            <a:off x="749644" y="5529872"/>
            <a:ext cx="71194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Survey is tricky and complicated!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B34C12-B0E9-8312-D024-5BF911B40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FA791-3060-7643-8677-86D470F575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4214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Modern social data is ubiquitous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249536" cy="4351338"/>
          </a:xfrm>
        </p:spPr>
        <p:txBody>
          <a:bodyPr>
            <a:normAutofit/>
          </a:bodyPr>
          <a:lstStyle/>
          <a:p>
            <a:r>
              <a:rPr lang="en-US" dirty="0"/>
              <a:t>Data is central to organizations and decision-makings.</a:t>
            </a:r>
          </a:p>
          <a:p>
            <a:r>
              <a:rPr lang="en-US" dirty="0"/>
              <a:t>There is a huge volume of data around us!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>
                <a:hlinkClick r:id="rId2"/>
              </a:rPr>
              <a:t>http://www.internetlivestats.com/</a:t>
            </a:r>
            <a:r>
              <a:rPr lang="en-US" dirty="0"/>
              <a:t>)</a:t>
            </a:r>
          </a:p>
          <a:p>
            <a:r>
              <a:rPr lang="en-US" dirty="0"/>
              <a:t>Thousands of APIs and web services</a:t>
            </a:r>
          </a:p>
          <a:p>
            <a:pPr lvl="1"/>
            <a:r>
              <a:rPr lang="en-US" dirty="0"/>
              <a:t>Twitter, Instagram, Wikipedia, LLMs (GPT-4o), etc.</a:t>
            </a:r>
          </a:p>
          <a:p>
            <a:pPr lvl="1"/>
            <a:r>
              <a:rPr lang="en-US" dirty="0" err="1"/>
              <a:t>OpenAlex</a:t>
            </a:r>
            <a:r>
              <a:rPr lang="en-US" dirty="0"/>
              <a:t>, Microsoft Academic Graph, USPTO, etc.</a:t>
            </a:r>
          </a:p>
          <a:p>
            <a:pPr lvl="1"/>
            <a:r>
              <a:rPr lang="en-US" dirty="0"/>
              <a:t>&gt; 16,000 APIs (</a:t>
            </a:r>
            <a:r>
              <a:rPr lang="en-US" dirty="0">
                <a:hlinkClick r:id="rId3"/>
              </a:rPr>
              <a:t>programmableweb.com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45368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DA0F3-0EB3-9A4E-A092-7B4EDE35B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365126"/>
            <a:ext cx="915035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0" dirty="0"/>
              <a:t>How to collect big social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B3FA4-4D05-DF38-996E-200A57C11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13115"/>
            <a:ext cx="8229600" cy="4525963"/>
          </a:xfrm>
        </p:spPr>
        <p:txBody>
          <a:bodyPr/>
          <a:lstStyle/>
          <a:p>
            <a:pPr algn="l">
              <a:defRPr sz="1800"/>
            </a:pPr>
            <a:r>
              <a:rPr lang="en-US" sz="2400" dirty="0"/>
              <a:t>API is the easiest (first and third-party APIs)</a:t>
            </a:r>
          </a:p>
          <a:p>
            <a:pPr algn="l">
              <a:defRPr sz="1800"/>
            </a:pPr>
            <a:r>
              <a:rPr lang="en-US" sz="2400" dirty="0"/>
              <a:t>Build customized web crawler (parse data in html)</a:t>
            </a:r>
          </a:p>
          <a:p>
            <a:pPr algn="l">
              <a:defRPr sz="1800"/>
            </a:pPr>
            <a:r>
              <a:rPr lang="en-US" sz="2400" dirty="0"/>
              <a:t>Browser-like crawler (e.g., Selenium, LLM agent)</a:t>
            </a:r>
            <a:endParaRPr sz="2400" dirty="0"/>
          </a:p>
        </p:txBody>
      </p:sp>
      <p:pic>
        <p:nvPicPr>
          <p:cNvPr id="5" name="Picture 4" descr="A screenshot of a social media application&#10;&#10;AI-generated content may be incorrect.">
            <a:extLst>
              <a:ext uri="{FF2B5EF4-FFF2-40B4-BE49-F238E27FC236}">
                <a16:creationId xmlns:a16="http://schemas.microsoft.com/office/drawing/2014/main" id="{926E7BD1-4D1A-FC65-F216-3775E1DDA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09" y="2953641"/>
            <a:ext cx="7772400" cy="3174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156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36247-19DB-D8F2-6CFF-EAFD8D7C0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EA09-8C41-5909-8354-945F13C70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What’s an API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F866378-260B-D9F3-9547-0112FBB42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8" y="1825625"/>
            <a:ext cx="7886699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An Application Programming Interface (API) is </a:t>
            </a:r>
            <a:r>
              <a:rPr lang="en-US" dirty="0">
                <a:solidFill>
                  <a:srgbClr val="C00000"/>
                </a:solidFill>
              </a:rPr>
              <a:t>a set of rules and protocols</a:t>
            </a:r>
            <a:r>
              <a:rPr lang="en-US" dirty="0"/>
              <a:t> that allows different software applications to communicate with each other. </a:t>
            </a:r>
            <a:r>
              <a:rPr lang="en-US" dirty="0">
                <a:solidFill>
                  <a:srgbClr val="00B0F0"/>
                </a:solidFill>
              </a:rPr>
              <a:t>APIs define the methods &amp; data formats that applications can use to request &amp; exchange information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69770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Two basic things that APIs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Retrieve data</a:t>
            </a:r>
            <a:r>
              <a:rPr lang="en-US" dirty="0"/>
              <a:t> according to some query (like how you would get data from a database via SQL query)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Perform some sophisticated computation</a:t>
            </a:r>
            <a:r>
              <a:rPr lang="en-US" dirty="0"/>
              <a:t> on data that you send to the API</a:t>
            </a:r>
          </a:p>
        </p:txBody>
      </p:sp>
    </p:spTree>
    <p:extLst>
      <p:ext uri="{BB962C8B-B14F-4D97-AF65-F5344CB8AC3E}">
        <p14:creationId xmlns:p14="http://schemas.microsoft.com/office/powerpoint/2010/main" val="36836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2B81F-A6ED-23A5-DF5C-58BC3FF5C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5563D-42B9-E377-E624-DE4FA396C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50" y="289188"/>
            <a:ext cx="9150350" cy="1325563"/>
          </a:xfrm>
        </p:spPr>
        <p:txBody>
          <a:bodyPr>
            <a:normAutofit/>
          </a:bodyPr>
          <a:lstStyle/>
          <a:p>
            <a:r>
              <a:rPr lang="en-US" b="0" dirty="0"/>
              <a:t>Tweets via 3</a:t>
            </a:r>
            <a:r>
              <a:rPr lang="en-US" b="0" baseline="30000" dirty="0"/>
              <a:t>rd</a:t>
            </a:r>
            <a:r>
              <a:rPr lang="en-US" b="0" dirty="0"/>
              <a:t> party API wrapper</a:t>
            </a:r>
          </a:p>
        </p:txBody>
      </p:sp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92DD3FB0-D832-F331-4378-85E71346F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50" y="3048808"/>
            <a:ext cx="6822786" cy="288834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4C402D0-F4DA-4DDD-6A30-539147AE7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450" y="1866422"/>
            <a:ext cx="7886700" cy="4351338"/>
          </a:xfrm>
        </p:spPr>
        <p:txBody>
          <a:bodyPr/>
          <a:lstStyle/>
          <a:p>
            <a:r>
              <a:rPr lang="en-US" dirty="0" err="1">
                <a:solidFill>
                  <a:srgbClr val="00B0F0"/>
                </a:solidFill>
              </a:rPr>
              <a:t>Tweepy</a:t>
            </a:r>
            <a:r>
              <a:rPr lang="en-US" dirty="0"/>
              <a:t>: Python library for easy interaction with the Twitter API: </a:t>
            </a:r>
            <a:r>
              <a:rPr lang="en-US" dirty="0">
                <a:hlinkClick r:id="rId4"/>
              </a:rPr>
              <a:t>https://github.com/tweepy/tweepy/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1936E3-B46E-7F80-1F1A-B9E04BBDD428}"/>
              </a:ext>
            </a:extLst>
          </p:cNvPr>
          <p:cNvSpPr txBox="1"/>
          <p:nvPr/>
        </p:nvSpPr>
        <p:spPr>
          <a:xfrm>
            <a:off x="425450" y="1417421"/>
            <a:ext cx="83808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Complex Twitter API:</a:t>
            </a:r>
            <a:r>
              <a:rPr lang="en-US" dirty="0"/>
              <a:t> </a:t>
            </a:r>
            <a:r>
              <a:rPr lang="en-US" dirty="0">
                <a:hlinkClick r:id="rId5"/>
              </a:rPr>
              <a:t>https://github.com/xdevplatform/Twitter-API-v2-sample-code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490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EDB5C-D061-B7F0-A148-D89825AB9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410C5-4098-27C9-6887-B8DCBCF87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50" y="304798"/>
            <a:ext cx="9150350" cy="1325563"/>
          </a:xfrm>
        </p:spPr>
        <p:txBody>
          <a:bodyPr>
            <a:normAutofit/>
          </a:bodyPr>
          <a:lstStyle/>
          <a:p>
            <a:r>
              <a:rPr lang="en-US" b="0" dirty="0"/>
              <a:t>Collecting Tweets using </a:t>
            </a:r>
            <a:r>
              <a:rPr lang="en-US" b="0" dirty="0" err="1"/>
              <a:t>Tweepy</a:t>
            </a:r>
            <a:endParaRPr lang="en-US" b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84B099C-3E66-AF33-580F-C99F50423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450" y="1436161"/>
            <a:ext cx="7886700" cy="4351338"/>
          </a:xfrm>
        </p:spPr>
        <p:txBody>
          <a:bodyPr/>
          <a:lstStyle/>
          <a:p>
            <a:r>
              <a:rPr lang="en-US" dirty="0"/>
              <a:t>Print out progress (when collecting large datasets)</a:t>
            </a:r>
          </a:p>
          <a:p>
            <a:r>
              <a:rPr lang="en-US" dirty="0"/>
              <a:t>Sleep for a while to avoid hitting rate limits</a:t>
            </a:r>
          </a:p>
          <a:p>
            <a:pPr lvl="1"/>
            <a:endParaRPr lang="en-US" dirty="0"/>
          </a:p>
        </p:txBody>
      </p:sp>
      <p:pic>
        <p:nvPicPr>
          <p:cNvPr id="4" name="Picture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4989E946-1BD5-F054-0690-5E4974EAA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667" y="2553745"/>
            <a:ext cx="6417733" cy="39994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70650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Computationally-oriented APIs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67EF6B-0851-4E0A-8A52-8BB02BEA77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1366" b="112"/>
          <a:stretch/>
        </p:blipFill>
        <p:spPr>
          <a:xfrm>
            <a:off x="711777" y="2565291"/>
            <a:ext cx="7202754" cy="31683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C825AF-ABE7-EF74-18AD-32BD20244F34}"/>
              </a:ext>
            </a:extLst>
          </p:cNvPr>
          <p:cNvSpPr txBox="1"/>
          <p:nvPr/>
        </p:nvSpPr>
        <p:spPr>
          <a:xfrm>
            <a:off x="628650" y="1508200"/>
            <a:ext cx="80229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E.g., </a:t>
            </a:r>
            <a:r>
              <a:rPr lang="en-US" sz="2400" dirty="0" err="1"/>
              <a:t>MonkeyLearn</a:t>
            </a:r>
            <a:r>
              <a:rPr lang="en-US" sz="2400" dirty="0"/>
              <a:t> API:</a:t>
            </a:r>
          </a:p>
          <a:p>
            <a:r>
              <a:rPr lang="en-US" sz="2400" dirty="0">
                <a:hlinkClick r:id="rId3"/>
              </a:rPr>
              <a:t>https://github.com/monkeylearn/monkeylearn-python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58444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from </a:t>
            </a:r>
            <a:r>
              <a:rPr lang="en-US" sz="1800" dirty="0" err="1">
                <a:latin typeface="Consolas" panose="020B0609020204030204" pitchFamily="49" charset="0"/>
              </a:rPr>
              <a:t>monkeylearn</a:t>
            </a:r>
            <a:r>
              <a:rPr lang="en-US" sz="1800" dirty="0">
                <a:latin typeface="Consolas" panose="020B0609020204030204" pitchFamily="49" charset="0"/>
              </a:rPr>
              <a:t> import </a:t>
            </a:r>
            <a:r>
              <a:rPr lang="en-US" sz="1800" dirty="0" err="1">
                <a:latin typeface="Consolas" panose="020B0609020204030204" pitchFamily="49" charset="0"/>
              </a:rPr>
              <a:t>MonkeyLearn</a:t>
            </a: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ml = </a:t>
            </a:r>
            <a:r>
              <a:rPr lang="en-US" sz="1800" dirty="0" err="1">
                <a:latin typeface="Consolas" panose="020B0609020204030204" pitchFamily="49" charset="0"/>
              </a:rPr>
              <a:t>MonkeyLearn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'bd321e7772444c114885de7ad3371b69ac6286f8'</a:t>
            </a:r>
            <a:r>
              <a:rPr lang="en-US" sz="18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800" dirty="0" err="1">
                <a:latin typeface="Consolas" panose="020B0609020204030204" pitchFamily="49" charset="0"/>
              </a:rPr>
              <a:t>module_id</a:t>
            </a:r>
            <a:r>
              <a:rPr lang="en-US" sz="1800" dirty="0"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'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cl_mEcCuEcG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’</a:t>
            </a:r>
          </a:p>
          <a:p>
            <a:pPr marL="0" indent="0"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 err="1">
                <a:latin typeface="Consolas" panose="020B0609020204030204" pitchFamily="49" charset="0"/>
              </a:rPr>
              <a:t>text_list</a:t>
            </a:r>
            <a:r>
              <a:rPr lang="en-US" sz="1800" dirty="0">
                <a:latin typeface="Consolas" panose="020B0609020204030204" pitchFamily="49" charset="0"/>
              </a:rPr>
              <a:t> = [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"So so happy to be with @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HeatherParryUK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"</a:t>
            </a:r>
            <a:r>
              <a:rPr lang="en-US" sz="1800" dirty="0"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accent6"/>
                </a:solidFill>
                <a:latin typeface="Consolas" panose="020B0609020204030204" pitchFamily="49" charset="0"/>
              </a:rPr>
              <a:t>res</a:t>
            </a:r>
            <a:r>
              <a:rPr lang="en-US" sz="1800" dirty="0">
                <a:latin typeface="Consolas" panose="020B0609020204030204" pitchFamily="49" charset="0"/>
              </a:rPr>
              <a:t> = </a:t>
            </a:r>
            <a:r>
              <a:rPr lang="en-US" sz="1800" dirty="0" err="1">
                <a:latin typeface="Consolas" panose="020B0609020204030204" pitchFamily="49" charset="0"/>
              </a:rPr>
              <a:t>ml.classifiers.classify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</a:rPr>
              <a:t>module_id</a:t>
            </a:r>
            <a:r>
              <a:rPr lang="en-US" sz="1800" dirty="0">
                <a:latin typeface="Consolas" panose="020B0609020204030204" pitchFamily="49" charset="0"/>
              </a:rPr>
              <a:t>, </a:t>
            </a:r>
            <a:r>
              <a:rPr lang="en-US" sz="1800" dirty="0" err="1">
                <a:latin typeface="Consolas" panose="020B0609020204030204" pitchFamily="49" charset="0"/>
              </a:rPr>
              <a:t>text_list</a:t>
            </a:r>
            <a:r>
              <a:rPr lang="en-US" sz="18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44A66EF-23D0-86CB-27A1-4F4038D2F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b="0" dirty="0"/>
              <a:t>Computationally-oriented APIs</a:t>
            </a:r>
          </a:p>
        </p:txBody>
      </p:sp>
    </p:spTree>
    <p:extLst>
      <p:ext uri="{BB962C8B-B14F-4D97-AF65-F5344CB8AC3E}">
        <p14:creationId xmlns:p14="http://schemas.microsoft.com/office/powerpoint/2010/main" val="42612867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b="1" dirty="0" err="1">
                <a:solidFill>
                  <a:schemeClr val="accent6"/>
                </a:solidFill>
                <a:latin typeface="Consolas" panose="020B0609020204030204" pitchFamily="49" charset="0"/>
              </a:rPr>
              <a:t>res</a:t>
            </a:r>
            <a:r>
              <a:rPr lang="en-US" sz="1800" dirty="0" err="1">
                <a:latin typeface="Consolas" panose="020B0609020204030204" pitchFamily="49" charset="0"/>
              </a:rPr>
              <a:t>.</a:t>
            </a:r>
            <a:r>
              <a:rPr lang="en-US" sz="18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body</a:t>
            </a:r>
            <a:endParaRPr lang="en-US" sz="1800" b="1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[{'text': 'So so happy to be with @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HeatherParryUK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',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  '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external_id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': None,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  'error': False,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  'classifications': [{'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tag_name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': 'Happiness',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    '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tag_id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': 55168807,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    'confidence': 0.543,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    'parents': [{'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tag_name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': 'Positive’,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      '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tag_id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': 55168804,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      'confidence': 0.692}]}]}]</a:t>
            </a:r>
          </a:p>
          <a:p>
            <a:pPr marL="0" indent="0">
              <a:buNone/>
            </a:pPr>
            <a:endParaRPr lang="en-US" sz="1800" b="1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b="1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14665C-B0B0-4859-8C1A-6D792C9128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731" t="32642" r="2268" b="38386"/>
          <a:stretch/>
        </p:blipFill>
        <p:spPr>
          <a:xfrm>
            <a:off x="4999220" y="1573968"/>
            <a:ext cx="3788764" cy="1531807"/>
          </a:xfrm>
          <a:prstGeom prst="rect">
            <a:avLst/>
          </a:prstGeom>
          <a:ln w="38100">
            <a:solidFill>
              <a:schemeClr val="bg1">
                <a:lumMod val="75000"/>
              </a:schemeClr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E258F79-620D-419E-9EF9-810708A1FA03}"/>
              </a:ext>
            </a:extLst>
          </p:cNvPr>
          <p:cNvSpPr/>
          <p:nvPr/>
        </p:nvSpPr>
        <p:spPr>
          <a:xfrm>
            <a:off x="7864683" y="2384842"/>
            <a:ext cx="793542" cy="48483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1E94C6-7205-46DF-BC19-EA3DB95F222F}"/>
              </a:ext>
            </a:extLst>
          </p:cNvPr>
          <p:cNvSpPr/>
          <p:nvPr/>
        </p:nvSpPr>
        <p:spPr>
          <a:xfrm>
            <a:off x="4993081" y="3210508"/>
            <a:ext cx="1622218" cy="58602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908D24-40EB-4750-9EF8-F67971FFC9A6}"/>
              </a:ext>
            </a:extLst>
          </p:cNvPr>
          <p:cNvSpPr/>
          <p:nvPr/>
        </p:nvSpPr>
        <p:spPr>
          <a:xfrm>
            <a:off x="2865463" y="3938004"/>
            <a:ext cx="1091942" cy="505643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3EC91C-CD02-4CEA-946F-12B71414B09A}"/>
              </a:ext>
            </a:extLst>
          </p:cNvPr>
          <p:cNvSpPr/>
          <p:nvPr/>
        </p:nvSpPr>
        <p:spPr>
          <a:xfrm>
            <a:off x="5134598" y="2386715"/>
            <a:ext cx="913933" cy="48483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7A82F4A-170A-2D6B-2AFD-27CA69470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b="0" dirty="0"/>
              <a:t>Computationally-oriented APIs</a:t>
            </a:r>
          </a:p>
        </p:txBody>
      </p:sp>
    </p:spTree>
    <p:extLst>
      <p:ext uri="{BB962C8B-B14F-4D97-AF65-F5344CB8AC3E}">
        <p14:creationId xmlns:p14="http://schemas.microsoft.com/office/powerpoint/2010/main" val="1793992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4E8C6-8694-AF60-0FE3-98C24BDB6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9F70F-ECE7-D456-A766-E5FDBF67A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292066" cy="1325563"/>
          </a:xfrm>
        </p:spPr>
        <p:txBody>
          <a:bodyPr>
            <a:normAutofit/>
          </a:bodyPr>
          <a:lstStyle/>
          <a:p>
            <a:r>
              <a:rPr lang="en-US" b="0" dirty="0"/>
              <a:t>What if there is no API wrapper?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A0B0A-6966-A3CF-348C-335F71128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516544" cy="4351338"/>
          </a:xfrm>
        </p:spPr>
        <p:txBody>
          <a:bodyPr>
            <a:normAutofit/>
          </a:bodyPr>
          <a:lstStyle/>
          <a:p>
            <a:r>
              <a:rPr lang="en-US" dirty="0"/>
              <a:t>Work with APIs using the </a:t>
            </a:r>
            <a:r>
              <a:rPr lang="en-US" dirty="0">
                <a:solidFill>
                  <a:srgbClr val="00B0F0"/>
                </a:solidFill>
              </a:rPr>
              <a:t>requests</a:t>
            </a:r>
            <a:r>
              <a:rPr lang="en-US" dirty="0"/>
              <a:t> library</a:t>
            </a:r>
          </a:p>
          <a:p>
            <a:r>
              <a:rPr lang="en-US" b="0" dirty="0"/>
              <a:t>Most APIs utilize the URL technology</a:t>
            </a:r>
          </a:p>
          <a:p>
            <a:pPr lvl="1"/>
            <a:r>
              <a:rPr lang="en-US" b="0" i="0" dirty="0">
                <a:solidFill>
                  <a:srgbClr val="00B0F0"/>
                </a:solidFill>
                <a:effectLst/>
                <a:latin typeface="Google Sans"/>
              </a:rPr>
              <a:t>URLs</a:t>
            </a:r>
            <a:r>
              <a:rPr lang="en-US" b="0" i="0" dirty="0">
                <a:effectLst/>
                <a:latin typeface="Google Sans"/>
              </a:rPr>
              <a:t> (Uniform Resource Locators) serve as the core mechanism for identifying and locating resources on the internet. This approach leverages the existing infrastructure and principles of the WWW.</a:t>
            </a:r>
          </a:p>
          <a:p>
            <a:pPr lvl="1"/>
            <a:r>
              <a:rPr lang="en-US" b="0" i="0" dirty="0">
                <a:solidFill>
                  <a:srgbClr val="00B0F0"/>
                </a:solidFill>
                <a:effectLst/>
                <a:latin typeface="Google Sans"/>
              </a:rPr>
              <a:t>Unique identifier for each web resource</a:t>
            </a:r>
          </a:p>
          <a:p>
            <a:pPr lvl="1"/>
            <a:r>
              <a:rPr lang="en-US" b="0" i="0" dirty="0">
                <a:effectLst/>
                <a:latin typeface="Google Sans"/>
              </a:rPr>
              <a:t>Structured format (e.g., </a:t>
            </a:r>
            <a:r>
              <a:rPr lang="en-US" b="0" i="0" dirty="0">
                <a:solidFill>
                  <a:srgbClr val="00B0F0"/>
                </a:solidFill>
                <a:effectLst/>
                <a:latin typeface="Google Sans"/>
              </a:rPr>
              <a:t>http://, https://</a:t>
            </a:r>
            <a:r>
              <a:rPr lang="en-US" b="0" i="0" dirty="0">
                <a:effectLst/>
                <a:latin typeface="Google Sans"/>
              </a:rPr>
              <a:t>)</a:t>
            </a:r>
          </a:p>
          <a:p>
            <a:pPr lvl="1"/>
            <a:r>
              <a:rPr lang="en-US" dirty="0">
                <a:latin typeface="Google Sans"/>
              </a:rPr>
              <a:t>Standard p</a:t>
            </a:r>
            <a:r>
              <a:rPr lang="en-US" b="0" i="0" dirty="0">
                <a:effectLst/>
                <a:latin typeface="Google Sans"/>
              </a:rPr>
              <a:t>rotocol for communication and exchange information between the client and the server</a:t>
            </a:r>
            <a:endParaRPr lang="en-US" dirty="0">
              <a:latin typeface="Google Sans"/>
            </a:endParaRPr>
          </a:p>
          <a:p>
            <a:endParaRPr lang="en-US" b="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2233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Interacting with APIs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64195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the old days: </a:t>
            </a:r>
            <a:r>
              <a:rPr lang="en-US" dirty="0">
                <a:latin typeface="Consolas" panose="020B0609020204030204" pitchFamily="49" charset="0"/>
              </a:rPr>
              <a:t>sockets, </a:t>
            </a:r>
            <a:r>
              <a:rPr lang="en-US" dirty="0" err="1">
                <a:latin typeface="Consolas" panose="020B0609020204030204" pitchFamily="49" charset="0"/>
              </a:rPr>
              <a:t>HTTPClient</a:t>
            </a:r>
            <a:r>
              <a:rPr lang="en-US" dirty="0">
                <a:latin typeface="Consolas" panose="020B0609020204030204" pitchFamily="49" charset="0"/>
              </a:rPr>
              <a:t>, urllib2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Now: </a:t>
            </a:r>
            <a:r>
              <a:rPr lang="en-US" b="1" dirty="0">
                <a:latin typeface="Consolas" panose="020B0609020204030204" pitchFamily="49" charset="0"/>
              </a:rPr>
              <a:t>requests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Note: It can be used to access any webpage with a URL</a:t>
            </a:r>
          </a:p>
          <a:p>
            <a:pPr lvl="1"/>
            <a:r>
              <a:rPr lang="en-US" dirty="0"/>
              <a:t>API-based URLs</a:t>
            </a:r>
          </a:p>
          <a:p>
            <a:pPr lvl="2"/>
            <a:r>
              <a:rPr lang="en-US" dirty="0"/>
              <a:t>e.g., your Instagram/X/LinkedIn webpage (vs. apps)</a:t>
            </a:r>
          </a:p>
          <a:p>
            <a:pPr lvl="2"/>
            <a:r>
              <a:rPr lang="en-US" dirty="0">
                <a:hlinkClick r:id="rId3"/>
              </a:rPr>
              <a:t>https://x.com/haoopeng</a:t>
            </a:r>
            <a:endParaRPr lang="en-US" dirty="0"/>
          </a:p>
          <a:p>
            <a:pPr lvl="1"/>
            <a:r>
              <a:rPr lang="en-US" dirty="0"/>
              <a:t>URLs for static pages (e.g., </a:t>
            </a:r>
            <a:r>
              <a:rPr lang="en-US" dirty="0">
                <a:hlinkClick r:id="rId4"/>
              </a:rPr>
              <a:t>https://haoopeng.github.io/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URLs for dynamic/complex websites (not our focus!)</a:t>
            </a:r>
          </a:p>
          <a:p>
            <a:pPr lvl="2"/>
            <a:r>
              <a:rPr lang="en-US" dirty="0"/>
              <a:t>e.g., A NYT article with comments updated in real time.</a:t>
            </a:r>
          </a:p>
        </p:txBody>
      </p:sp>
    </p:spTree>
    <p:extLst>
      <p:ext uri="{BB962C8B-B14F-4D97-AF65-F5344CB8AC3E}">
        <p14:creationId xmlns:p14="http://schemas.microsoft.com/office/powerpoint/2010/main" val="27252033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Web-based API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510179"/>
            <a:ext cx="8515351" cy="4351338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b="1" dirty="0">
                <a:solidFill>
                  <a:srgbClr val="00B050"/>
                </a:solidFill>
              </a:rPr>
              <a:t>Input</a:t>
            </a:r>
            <a:r>
              <a:rPr lang="en-US" dirty="0"/>
              <a:t>: URL with params: </a:t>
            </a:r>
            <a:r>
              <a:rPr lang="en-US" dirty="0">
                <a:solidFill>
                  <a:srgbClr val="0070C0"/>
                </a:solidFill>
              </a:rPr>
              <a:t>http://something/foo/bar?x=y...</a:t>
            </a:r>
            <a:endParaRPr lang="en-US" i="1" dirty="0"/>
          </a:p>
          <a:p>
            <a:pPr marL="0" indent="0">
              <a:spcAft>
                <a:spcPts val="1200"/>
              </a:spcAft>
              <a:buNone/>
            </a:pPr>
            <a:r>
              <a:rPr lang="en-US" i="1" dirty="0"/>
              <a:t>HTTP GET (or POST) the URL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Output</a:t>
            </a:r>
            <a:r>
              <a:rPr lang="en-US" dirty="0"/>
              <a:t>:  JSON or HTML result</a:t>
            </a:r>
          </a:p>
        </p:txBody>
      </p:sp>
      <p:sp>
        <p:nvSpPr>
          <p:cNvPr id="9" name="Down Arrow 8"/>
          <p:cNvSpPr/>
          <p:nvPr/>
        </p:nvSpPr>
        <p:spPr>
          <a:xfrm>
            <a:off x="949145" y="1952728"/>
            <a:ext cx="228600" cy="2857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Down Arrow 9"/>
          <p:cNvSpPr/>
          <p:nvPr/>
        </p:nvSpPr>
        <p:spPr>
          <a:xfrm>
            <a:off x="949145" y="2617887"/>
            <a:ext cx="228600" cy="2857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347343-8045-B8C7-3E7A-1F24F2646332}"/>
              </a:ext>
            </a:extLst>
          </p:cNvPr>
          <p:cNvSpPr txBox="1"/>
          <p:nvPr/>
        </p:nvSpPr>
        <p:spPr>
          <a:xfrm>
            <a:off x="628649" y="3698298"/>
            <a:ext cx="851535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Note again: Not all URLs are for APIs:</a:t>
            </a:r>
          </a:p>
          <a:p>
            <a:endParaRPr lang="en-US" sz="2400" dirty="0">
              <a:solidFill>
                <a:srgbClr val="C00000"/>
              </a:solidFill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B0F0"/>
                </a:solidFill>
              </a:rPr>
              <a:t>URLs for plain websites</a:t>
            </a:r>
            <a:r>
              <a:rPr lang="en-US" sz="2400" dirty="0"/>
              <a:t>: designed for humans to access web pages. They are used for content display in a web browser.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B0F0"/>
                </a:solidFill>
              </a:rPr>
              <a:t>URLs for APIs</a:t>
            </a:r>
            <a:r>
              <a:rPr lang="en-US" sz="2400" dirty="0"/>
              <a:t>: designed for access by software applications. They serve as endpoints for apps. to request &amp; exchange data.</a:t>
            </a:r>
          </a:p>
        </p:txBody>
      </p:sp>
    </p:spTree>
    <p:extLst>
      <p:ext uri="{BB962C8B-B14F-4D97-AF65-F5344CB8AC3E}">
        <p14:creationId xmlns:p14="http://schemas.microsoft.com/office/powerpoint/2010/main" val="39667535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F5950-7FA2-FEA2-C917-CE36E33B7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C518E44-24F4-3A2B-4392-AFA720A21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702" y="421396"/>
            <a:ext cx="8712298" cy="1325563"/>
          </a:xfrm>
        </p:spPr>
        <p:txBody>
          <a:bodyPr/>
          <a:lstStyle/>
          <a:p>
            <a:r>
              <a:rPr lang="en-US" b="0" dirty="0"/>
              <a:t>Accessing APIs with </a:t>
            </a:r>
            <a:r>
              <a:rPr lang="en-US" b="0" dirty="0">
                <a:solidFill>
                  <a:schemeClr val="accent6"/>
                </a:solidFill>
                <a:latin typeface="Consolas" panose="020B0609020204030204" pitchFamily="49" charset="0"/>
              </a:rPr>
              <a:t>requests</a:t>
            </a:r>
            <a:endParaRPr lang="en-US" b="0" dirty="0">
              <a:solidFill>
                <a:schemeClr val="accent6"/>
              </a:solidFill>
            </a:endParaRPr>
          </a:p>
        </p:txBody>
      </p:sp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1571CC6D-0E10-72D4-3407-DCF3BDBA8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450" y="2190769"/>
            <a:ext cx="8058603" cy="2772725"/>
          </a:xfrm>
          <a:prstGeom prst="rect">
            <a:avLst/>
          </a:prstGeom>
        </p:spPr>
      </p:pic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1C17F063-5CB0-BA5A-13FB-A813F5981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450" y="1554692"/>
            <a:ext cx="7886700" cy="4351338"/>
          </a:xfrm>
        </p:spPr>
        <p:txBody>
          <a:bodyPr/>
          <a:lstStyle/>
          <a:p>
            <a:r>
              <a:rPr lang="en-US" dirty="0"/>
              <a:t>Search for authors by name in </a:t>
            </a:r>
            <a:r>
              <a:rPr lang="en-US" b="1" dirty="0" err="1"/>
              <a:t>OpenAlex</a:t>
            </a:r>
            <a:r>
              <a:rPr lang="en-US" b="1" dirty="0"/>
              <a:t> </a:t>
            </a:r>
            <a:r>
              <a:rPr lang="en-US" dirty="0"/>
              <a:t>database: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E7BCDF-58C5-17B9-9E7E-4930328CD515}"/>
              </a:ext>
            </a:extLst>
          </p:cNvPr>
          <p:cNvSpPr txBox="1"/>
          <p:nvPr/>
        </p:nvSpPr>
        <p:spPr>
          <a:xfrm>
            <a:off x="471432" y="5374276"/>
            <a:ext cx="84756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B0F0"/>
                </a:solidFill>
              </a:rPr>
              <a:t>Check out results in your web browser:</a:t>
            </a:r>
          </a:p>
          <a:p>
            <a:r>
              <a:rPr lang="en-US" sz="2000" dirty="0">
                <a:hlinkClick r:id="rId3"/>
              </a:rPr>
              <a:t>https://api.openalex.org/authors?filter=display_name.search%3AHao+Peng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21093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F4B8A-6723-3C6B-AA5D-67B2961C3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CE5BF-0974-7FAE-48FD-66A0DABCD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292066" cy="1325563"/>
          </a:xfrm>
        </p:spPr>
        <p:txBody>
          <a:bodyPr>
            <a:normAutofit/>
          </a:bodyPr>
          <a:lstStyle/>
          <a:p>
            <a:r>
              <a:rPr lang="en-US" b="0" dirty="0"/>
              <a:t>What if there is no API at all?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8533F-2276-7A06-01A6-69065B31B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44271"/>
            <a:ext cx="7886700" cy="4351338"/>
          </a:xfrm>
        </p:spPr>
        <p:txBody>
          <a:bodyPr/>
          <a:lstStyle/>
          <a:p>
            <a:r>
              <a:rPr lang="en-US" dirty="0"/>
              <a:t>Work with html directly using the </a:t>
            </a:r>
            <a:r>
              <a:rPr lang="en-US" b="1" dirty="0">
                <a:solidFill>
                  <a:schemeClr val="accent6"/>
                </a:solidFill>
                <a:latin typeface="Consolas" panose="020B0609020204030204" pitchFamily="49" charset="0"/>
              </a:rPr>
              <a:t>requests</a:t>
            </a:r>
            <a:r>
              <a:rPr lang="en-US" dirty="0"/>
              <a:t> library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CC2AB0B-8C11-8B66-BEA7-A05999DDC006}"/>
              </a:ext>
            </a:extLst>
          </p:cNvPr>
          <p:cNvSpPr txBox="1">
            <a:spLocks/>
          </p:cNvSpPr>
          <p:nvPr/>
        </p:nvSpPr>
        <p:spPr>
          <a:xfrm>
            <a:off x="736083" y="2095913"/>
            <a:ext cx="7981950" cy="2715238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M Sans 12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M Sans 12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M Sans 12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M Sans 12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M Sans 12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</a:rPr>
              <a:t>import </a:t>
            </a:r>
            <a:r>
              <a:rPr lang="en-US" sz="1800" b="1" dirty="0">
                <a:solidFill>
                  <a:schemeClr val="accent6"/>
                </a:solidFill>
                <a:latin typeface="Consolas" panose="020B0609020204030204" pitchFamily="49" charset="0"/>
              </a:rPr>
              <a:t>requests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</a:rPr>
              <a:t>response = </a:t>
            </a:r>
            <a:r>
              <a:rPr lang="en-US" sz="1800" dirty="0" err="1">
                <a:latin typeface="Consolas" panose="020B0609020204030204" pitchFamily="49" charset="0"/>
              </a:rPr>
              <a:t>requests.</a:t>
            </a:r>
            <a:r>
              <a:rPr lang="en-US" sz="18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get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'http://data.pr4e.org/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romeo.txt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'</a:t>
            </a:r>
            <a:r>
              <a:rPr lang="en-US" sz="18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</a:rPr>
              <a:t>print(</a:t>
            </a:r>
            <a:r>
              <a:rPr lang="en-US" sz="1800" dirty="0" err="1">
                <a:latin typeface="Consolas" panose="020B0609020204030204" pitchFamily="49" charset="0"/>
              </a:rPr>
              <a:t>response.</a:t>
            </a:r>
            <a:r>
              <a:rPr lang="en-US" sz="18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text</a:t>
            </a:r>
            <a:r>
              <a:rPr lang="en-US" sz="18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But soft what light through yonder window breaks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It is the east and Juliet is the sun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Arise fair sun and kill the envious moon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Who is already sick and pale with grief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A635BA-7F7A-F3AA-3ECD-ED7C492B3879}"/>
              </a:ext>
            </a:extLst>
          </p:cNvPr>
          <p:cNvSpPr txBox="1"/>
          <p:nvPr/>
        </p:nvSpPr>
        <p:spPr>
          <a:xfrm>
            <a:off x="736083" y="4981873"/>
            <a:ext cx="8515351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solidFill>
                  <a:srgbClr val="C00000"/>
                </a:solidFill>
              </a:rPr>
              <a:t>What about more complicated websites?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B0F0"/>
                </a:solidFill>
              </a:rPr>
              <a:t>Nested websites / </a:t>
            </a:r>
            <a:r>
              <a:rPr lang="en-US" sz="2400" dirty="0" err="1">
                <a:solidFill>
                  <a:srgbClr val="00B0F0"/>
                </a:solidFill>
              </a:rPr>
              <a:t>urls</a:t>
            </a:r>
            <a:endParaRPr lang="en-US" sz="2400" dirty="0">
              <a:solidFill>
                <a:srgbClr val="00B0F0"/>
              </a:solidFill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B0F0"/>
                </a:solidFill>
              </a:rPr>
              <a:t>Target content buried in html/</a:t>
            </a:r>
            <a:r>
              <a:rPr lang="en-US" sz="2400" dirty="0" err="1">
                <a:solidFill>
                  <a:srgbClr val="00B0F0"/>
                </a:solidFill>
              </a:rPr>
              <a:t>css</a:t>
            </a:r>
            <a:r>
              <a:rPr lang="en-US" sz="2400" dirty="0">
                <a:solidFill>
                  <a:srgbClr val="00B0F0"/>
                </a:solidFill>
              </a:rPr>
              <a:t> markup language</a:t>
            </a:r>
          </a:p>
        </p:txBody>
      </p:sp>
    </p:spTree>
    <p:extLst>
      <p:ext uri="{BB962C8B-B14F-4D97-AF65-F5344CB8AC3E}">
        <p14:creationId xmlns:p14="http://schemas.microsoft.com/office/powerpoint/2010/main" val="28990651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Welcome to Web Crawling</a:t>
            </a:r>
            <a:endParaRPr lang="zh-CN" altLang="en-US" b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2226469"/>
            <a:ext cx="4261264" cy="3263504"/>
          </a:xfrm>
        </p:spPr>
        <p:txBody>
          <a:bodyPr>
            <a:normAutofit fontScale="85000" lnSpcReduction="10000"/>
          </a:bodyPr>
          <a:lstStyle/>
          <a:p>
            <a:r>
              <a:rPr lang="en-US" altLang="zh-CN" dirty="0"/>
              <a:t>A script to collect your target information from the Internet – a </a:t>
            </a:r>
            <a:r>
              <a:rPr lang="en-US" altLang="zh-CN" b="1" i="1" dirty="0">
                <a:solidFill>
                  <a:srgbClr val="00B0F0"/>
                </a:solidFill>
              </a:rPr>
              <a:t>spider</a:t>
            </a:r>
            <a:r>
              <a:rPr lang="en-US" altLang="zh-CN" dirty="0"/>
              <a:t> on the web:</a:t>
            </a:r>
          </a:p>
          <a:p>
            <a:r>
              <a:rPr lang="en-US" altLang="zh-CN" dirty="0"/>
              <a:t>Automatic (machine strength)</a:t>
            </a:r>
          </a:p>
          <a:p>
            <a:r>
              <a:rPr lang="en-US" altLang="zh-CN" dirty="0"/>
              <a:t>Save you time </a:t>
            </a:r>
          </a:p>
          <a:p>
            <a:r>
              <a:rPr lang="en-US" altLang="zh-CN" dirty="0"/>
              <a:t>The spider would follow all your commands and would not make any mistakes (hopefully). </a:t>
            </a:r>
            <a:endParaRPr lang="zh-CN" altLang="en-US" dirty="0"/>
          </a:p>
        </p:txBody>
      </p:sp>
      <p:pic>
        <p:nvPicPr>
          <p:cNvPr id="1026" name="Picture 2" descr="Sample Web Crawler using Crawler4j | by Chamath Sajeewa | Medium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12"/>
          <a:stretch/>
        </p:blipFill>
        <p:spPr bwMode="auto">
          <a:xfrm>
            <a:off x="5056109" y="2226469"/>
            <a:ext cx="3861585" cy="289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820402" y="5658803"/>
            <a:ext cx="7664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hlinkClick r:id="rId3"/>
              </a:rPr>
              <a:t>https://medium.com/@csgsajeewa/sample-web-crawler-using-crawler4j-8033bfcd8e60</a:t>
            </a:r>
            <a:endParaRPr lang="en-US" altLang="zh-CN" sz="1600" dirty="0"/>
          </a:p>
          <a:p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3707294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76664-431C-8D96-774E-C312CE105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BBB40CD-2AC5-5720-A5C0-A02C04B43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702" y="421396"/>
            <a:ext cx="8712298" cy="1325563"/>
          </a:xfrm>
        </p:spPr>
        <p:txBody>
          <a:bodyPr>
            <a:normAutofit/>
          </a:bodyPr>
          <a:lstStyle/>
          <a:p>
            <a:r>
              <a:rPr lang="en-US" b="0" dirty="0"/>
              <a:t>Case study: </a:t>
            </a:r>
            <a:r>
              <a:rPr lang="en-US" b="0" dirty="0" err="1">
                <a:solidFill>
                  <a:srgbClr val="00B0F0"/>
                </a:solidFill>
              </a:rPr>
              <a:t>RottenTomatoes</a:t>
            </a:r>
            <a:endParaRPr lang="en-US" b="0" dirty="0">
              <a:solidFill>
                <a:srgbClr val="00B0F0"/>
              </a:solidFill>
            </a:endParaRP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DA833C80-308C-A7B6-28D1-86294B6E6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65118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Collect the titles, ratings, No. of reviews, and detailed comments of Top 100 movies of the </a:t>
            </a:r>
            <a:r>
              <a:rPr lang="en-US" b="1" i="0" cap="all" dirty="0">
                <a:solidFill>
                  <a:srgbClr val="000000"/>
                </a:solidFill>
                <a:effectLst/>
                <a:latin typeface="Franklin Gothic FS"/>
              </a:rPr>
              <a:t>21st Century</a:t>
            </a:r>
            <a:endParaRPr lang="en-US" b="0" i="0" cap="all" dirty="0">
              <a:solidFill>
                <a:srgbClr val="000000"/>
              </a:solidFill>
              <a:effectLst/>
              <a:latin typeface="Franklin Gothic FS"/>
            </a:endParaRPr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4" name="Picture 3" descr="A screenshot of a movie&#10;&#10;AI-generated content may be incorrect.">
            <a:extLst>
              <a:ext uri="{FF2B5EF4-FFF2-40B4-BE49-F238E27FC236}">
                <a16:creationId xmlns:a16="http://schemas.microsoft.com/office/drawing/2014/main" id="{680178F9-A64F-6DC8-6405-79B662CA2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063" y="2705159"/>
            <a:ext cx="5459582" cy="323341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4E5391-B723-0974-9558-F14242BDBD88}"/>
              </a:ext>
            </a:extLst>
          </p:cNvPr>
          <p:cNvSpPr txBox="1"/>
          <p:nvPr/>
        </p:nvSpPr>
        <p:spPr>
          <a:xfrm>
            <a:off x="844063" y="6185014"/>
            <a:ext cx="70288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buNone/>
            </a:pPr>
            <a:r>
              <a:rPr lang="en-US" altLang="zh-CN" sz="1600" dirty="0"/>
              <a:t>	</a:t>
            </a:r>
            <a:r>
              <a:rPr lang="en-US" altLang="zh-CN" sz="1600" dirty="0">
                <a:hlinkClick r:id="rId3"/>
              </a:rPr>
              <a:t>https://editorial.rottentomatoes.com/guide/best-movies-21st-century/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21988904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2266" y="421397"/>
            <a:ext cx="7886700" cy="1325563"/>
          </a:xfrm>
        </p:spPr>
        <p:txBody>
          <a:bodyPr/>
          <a:lstStyle/>
          <a:p>
            <a:r>
              <a:rPr lang="en-US" altLang="zh-CN" b="0" dirty="0"/>
              <a:t>Step 1: Inspect your data source</a:t>
            </a:r>
            <a:endParaRPr lang="zh-CN" altLang="en-US" b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5770" y="1874777"/>
            <a:ext cx="8698230" cy="4406102"/>
          </a:xfrm>
        </p:spPr>
        <p:txBody>
          <a:bodyPr>
            <a:normAutofit fontScale="85000" lnSpcReduction="10000"/>
          </a:bodyPr>
          <a:lstStyle/>
          <a:p>
            <a:r>
              <a:rPr lang="en-US" altLang="zh-CN" dirty="0"/>
              <a:t>Decipher URLs for the content you want</a:t>
            </a:r>
          </a:p>
          <a:p>
            <a:pPr lvl="1"/>
            <a:r>
              <a:rPr lang="en-US" altLang="zh-CN" dirty="0"/>
              <a:t>The base URL:</a:t>
            </a:r>
          </a:p>
          <a:p>
            <a:pPr marL="457200" lvl="1" indent="0">
              <a:buNone/>
            </a:pPr>
            <a:r>
              <a:rPr lang="en-US" altLang="zh-CN" dirty="0"/>
              <a:t>	</a:t>
            </a:r>
            <a:r>
              <a:rPr lang="en-US" altLang="zh-CN" dirty="0">
                <a:hlinkClick r:id="rId2"/>
              </a:rPr>
              <a:t>https://editorial.rottentomatoes.com/guide/best-movies-21st-century/</a:t>
            </a:r>
            <a:endParaRPr lang="en-US" altLang="zh-CN" dirty="0"/>
          </a:p>
          <a:p>
            <a:pPr lvl="1"/>
            <a:r>
              <a:rPr lang="en-US" altLang="zh-CN" dirty="0"/>
              <a:t>The specific site location for each movie:</a:t>
            </a:r>
          </a:p>
          <a:p>
            <a:pPr marL="914400" lvl="2" indent="0">
              <a:buNone/>
            </a:pPr>
            <a:r>
              <a:rPr lang="en-US" altLang="zh-CN" sz="2400" dirty="0">
                <a:hlinkClick r:id="rId3"/>
              </a:rPr>
              <a:t>https://www.rottentomatoes.com/m/</a:t>
            </a:r>
            <a:r>
              <a:rPr lang="en-US" altLang="zh-CN" sz="2400" dirty="0">
                <a:hlinkClick r:id="rId4"/>
              </a:rPr>
              <a:t> parasite_2019</a:t>
            </a:r>
            <a:r>
              <a:rPr lang="en-US" altLang="zh-CN" sz="2400" dirty="0">
                <a:hlinkClick r:id="rId3"/>
              </a:rPr>
              <a:t> </a:t>
            </a:r>
            <a:endParaRPr lang="en-US" altLang="zh-CN" sz="2400" dirty="0"/>
          </a:p>
          <a:p>
            <a:pPr marL="914400" lvl="2" indent="0">
              <a:buNone/>
            </a:pPr>
            <a:r>
              <a:rPr lang="en-US" altLang="zh-CN" sz="2400" dirty="0">
                <a:hlinkClick r:id="rId5"/>
              </a:rPr>
              <a:t>https://www.rottentomatoes.com/m/modern_times</a:t>
            </a:r>
            <a:r>
              <a:rPr lang="en-US" altLang="zh-CN" sz="2400" dirty="0"/>
              <a:t> </a:t>
            </a:r>
          </a:p>
          <a:p>
            <a:pPr marL="914400" lvl="2" indent="0">
              <a:buNone/>
            </a:pPr>
            <a:r>
              <a:rPr lang="en-US" altLang="zh-CN" sz="2400" dirty="0">
                <a:hlinkClick r:id="rId3"/>
              </a:rPr>
              <a:t>https://www.rottentomatoes.com/m/avengers_endgame</a:t>
            </a:r>
            <a:endParaRPr lang="en-US" altLang="zh-CN" sz="2400" dirty="0"/>
          </a:p>
          <a:p>
            <a:pPr marL="693738" lvl="1" indent="-222250"/>
            <a:r>
              <a:rPr lang="en-US" altLang="zh-CN" dirty="0"/>
              <a:t>More specific site location for reviews:</a:t>
            </a:r>
          </a:p>
          <a:p>
            <a:pPr marL="914400" lvl="1" indent="0">
              <a:lnSpc>
                <a:spcPct val="120000"/>
              </a:lnSpc>
              <a:buNone/>
            </a:pPr>
            <a:r>
              <a:rPr lang="en-US" altLang="zh-CN" sz="2000" dirty="0">
                <a:solidFill>
                  <a:schemeClr val="accent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https://www.rottentomatoes.com/m/avengers_endgame/reviews</a:t>
            </a:r>
            <a:r>
              <a:rPr lang="en-US" altLang="zh-CN" sz="2000" dirty="0">
                <a:solidFill>
                  <a:schemeClr val="accent1"/>
                </a:solidFill>
              </a:rPr>
              <a:t> </a:t>
            </a:r>
            <a:r>
              <a:rPr lang="en-US" altLang="zh-CN" sz="2000" dirty="0">
                <a:solidFill>
                  <a:schemeClr val="accent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https://www.rottentomatoes.com/m/avengers_endgame/reviews?type=top_critics</a:t>
            </a:r>
            <a:r>
              <a:rPr lang="en-US" altLang="zh-CN" sz="2000" dirty="0">
                <a:solidFill>
                  <a:schemeClr val="accent1"/>
                </a:solidFill>
              </a:rPr>
              <a:t> </a:t>
            </a:r>
            <a:r>
              <a:rPr lang="en-US" altLang="zh-CN" sz="2000" dirty="0">
                <a:solidFill>
                  <a:schemeClr val="accent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https://www.rottentomatoes.com/m/avengers_endgame/reviews?type=user</a:t>
            </a:r>
            <a:endParaRPr lang="en-US" altLang="zh-CN" sz="2000" dirty="0">
              <a:solidFill>
                <a:schemeClr val="accent1"/>
              </a:solidFill>
            </a:endParaRPr>
          </a:p>
          <a:p>
            <a:r>
              <a:rPr lang="en-US" altLang="zh-CN" dirty="0"/>
              <a:t>The URLs are more like tree structure</a:t>
            </a:r>
          </a:p>
          <a:p>
            <a:pPr lvl="1"/>
            <a:r>
              <a:rPr lang="en-US" altLang="zh-CN" dirty="0"/>
              <a:t>Clicked on the website and see how the URL changes.</a:t>
            </a:r>
          </a:p>
        </p:txBody>
      </p:sp>
    </p:spTree>
    <p:extLst>
      <p:ext uri="{BB962C8B-B14F-4D97-AF65-F5344CB8AC3E}">
        <p14:creationId xmlns:p14="http://schemas.microsoft.com/office/powerpoint/2010/main" val="18372299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6A5142-21C5-4AC9-A0A1-98D2BB424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954" y="1843968"/>
            <a:ext cx="7886700" cy="3774281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Browser’s developer tools.</a:t>
            </a:r>
          </a:p>
          <a:p>
            <a:pPr lvl="1"/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r>
              <a:rPr lang="en-US" altLang="zh-CN" dirty="0"/>
              <a:t>Right-click on the page and select the “Inspect” option.</a:t>
            </a:r>
          </a:p>
          <a:p>
            <a:r>
              <a:rPr lang="en-US" altLang="zh-CN" dirty="0"/>
              <a:t>Example structure of the website source code (HTML).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Right-click the target element on the page and select “Inspect” to identify their location in the source code.</a:t>
            </a:r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352191D-2ED2-4576-93AE-4D592E5DD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345" y="2285572"/>
            <a:ext cx="3508849" cy="646366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E9BDFDE0-B138-751F-0E39-5CC23FB43B12}"/>
              </a:ext>
            </a:extLst>
          </p:cNvPr>
          <p:cNvGrpSpPr/>
          <p:nvPr/>
        </p:nvGrpSpPr>
        <p:grpSpPr>
          <a:xfrm>
            <a:off x="433918" y="3873929"/>
            <a:ext cx="8646059" cy="650596"/>
            <a:chOff x="39480" y="3873929"/>
            <a:chExt cx="8646059" cy="650596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DE3FCA7B-735F-4320-AEBB-1FF1FA420DC8}"/>
                </a:ext>
              </a:extLst>
            </p:cNvPr>
            <p:cNvSpPr txBox="1"/>
            <p:nvPr/>
          </p:nvSpPr>
          <p:spPr>
            <a:xfrm>
              <a:off x="39480" y="4214427"/>
              <a:ext cx="405367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350" dirty="0"/>
                <a:t>tag</a:t>
              </a:r>
              <a:endParaRPr lang="zh-CN" altLang="en-US" sz="1350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83A527C-554F-C248-1140-BA71F47D166D}"/>
                </a:ext>
              </a:extLst>
            </p:cNvPr>
            <p:cNvGrpSpPr/>
            <p:nvPr/>
          </p:nvGrpSpPr>
          <p:grpSpPr>
            <a:xfrm>
              <a:off x="101072" y="3873929"/>
              <a:ext cx="8584467" cy="650596"/>
              <a:chOff x="101072" y="3873929"/>
              <a:chExt cx="8584467" cy="650596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3048DDE9-43DE-9F95-1084-40B39F78731F}"/>
                  </a:ext>
                </a:extLst>
              </p:cNvPr>
              <p:cNvGrpSpPr/>
              <p:nvPr/>
            </p:nvGrpSpPr>
            <p:grpSpPr>
              <a:xfrm>
                <a:off x="101072" y="3873929"/>
                <a:ext cx="8584467" cy="650596"/>
                <a:chOff x="101072" y="3873929"/>
                <a:chExt cx="8584467" cy="650596"/>
              </a:xfrm>
            </p:grpSpPr>
            <p:pic>
              <p:nvPicPr>
                <p:cNvPr id="12" name="图片 11">
                  <a:extLst>
                    <a:ext uri="{FF2B5EF4-FFF2-40B4-BE49-F238E27FC236}">
                      <a16:creationId xmlns:a16="http://schemas.microsoft.com/office/drawing/2014/main" id="{3716DD36-CB8A-443F-BC3D-065C9235004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1072" y="3908100"/>
                  <a:ext cx="8584467" cy="210110"/>
                </a:xfrm>
                <a:prstGeom prst="rect">
                  <a:avLst/>
                </a:prstGeom>
              </p:spPr>
            </p:pic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1CB9AB3F-95CD-4BF8-B492-0DF3855C3038}"/>
                    </a:ext>
                  </a:extLst>
                </p:cNvPr>
                <p:cNvSpPr/>
                <p:nvPr/>
              </p:nvSpPr>
              <p:spPr>
                <a:xfrm>
                  <a:off x="116061" y="3873929"/>
                  <a:ext cx="243422" cy="278453"/>
                </a:xfrm>
                <a:prstGeom prst="rect">
                  <a:avLst/>
                </a:prstGeom>
                <a:noFill/>
                <a:ln w="254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71C98DCE-A690-4B5A-9CF4-DE7E1C00EEEB}"/>
                    </a:ext>
                  </a:extLst>
                </p:cNvPr>
                <p:cNvSpPr/>
                <p:nvPr/>
              </p:nvSpPr>
              <p:spPr>
                <a:xfrm>
                  <a:off x="359483" y="3873929"/>
                  <a:ext cx="2629507" cy="278453"/>
                </a:xfrm>
                <a:prstGeom prst="rect">
                  <a:avLst/>
                </a:prstGeom>
                <a:noFill/>
                <a:ln w="254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5D07013B-3C35-410D-8A6E-DCEF7E078C2D}"/>
                    </a:ext>
                  </a:extLst>
                </p:cNvPr>
                <p:cNvSpPr/>
                <p:nvPr/>
              </p:nvSpPr>
              <p:spPr>
                <a:xfrm>
                  <a:off x="2988990" y="3873929"/>
                  <a:ext cx="2425616" cy="278453"/>
                </a:xfrm>
                <a:prstGeom prst="rect">
                  <a:avLst/>
                </a:prstGeom>
                <a:noFill/>
                <a:ln w="254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  <p:sp>
              <p:nvSpPr>
                <p:cNvPr id="16" name="矩形 15">
                  <a:extLst>
                    <a:ext uri="{FF2B5EF4-FFF2-40B4-BE49-F238E27FC236}">
                      <a16:creationId xmlns:a16="http://schemas.microsoft.com/office/drawing/2014/main" id="{C47F8899-7E14-4D00-AD11-12A8FB29164D}"/>
                    </a:ext>
                  </a:extLst>
                </p:cNvPr>
                <p:cNvSpPr/>
                <p:nvPr/>
              </p:nvSpPr>
              <p:spPr>
                <a:xfrm>
                  <a:off x="5414607" y="3873929"/>
                  <a:ext cx="2425616" cy="278453"/>
                </a:xfrm>
                <a:prstGeom prst="rect">
                  <a:avLst/>
                </a:prstGeom>
                <a:noFill/>
                <a:ln w="254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BF643B55-6356-4B0D-95CC-ACFCE8A98FC9}"/>
                    </a:ext>
                  </a:extLst>
                </p:cNvPr>
                <p:cNvSpPr txBox="1"/>
                <p:nvPr/>
              </p:nvSpPr>
              <p:spPr>
                <a:xfrm>
                  <a:off x="1240295" y="4224443"/>
                  <a:ext cx="916020" cy="3000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350" dirty="0"/>
                    <a:t>properties</a:t>
                  </a:r>
                  <a:endParaRPr lang="zh-CN" altLang="en-US" sz="1350" dirty="0"/>
                </a:p>
              </p:txBody>
            </p:sp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C3D5A3E9-CEB8-4AD9-B668-56A1164E19A9}"/>
                    </a:ext>
                  </a:extLst>
                </p:cNvPr>
                <p:cNvSpPr txBox="1"/>
                <p:nvPr/>
              </p:nvSpPr>
              <p:spPr>
                <a:xfrm>
                  <a:off x="3767857" y="4214427"/>
                  <a:ext cx="916020" cy="3000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350" dirty="0"/>
                    <a:t>properties</a:t>
                  </a:r>
                  <a:endParaRPr lang="zh-CN" altLang="en-US" sz="1350" dirty="0"/>
                </a:p>
              </p:txBody>
            </p:sp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3D4E7135-2567-414E-8B4E-FC536883083E}"/>
                    </a:ext>
                  </a:extLst>
                </p:cNvPr>
                <p:cNvSpPr txBox="1"/>
                <p:nvPr/>
              </p:nvSpPr>
              <p:spPr>
                <a:xfrm>
                  <a:off x="6654402" y="4209897"/>
                  <a:ext cx="458011" cy="3000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350" dirty="0"/>
                    <a:t>text</a:t>
                  </a:r>
                  <a:endParaRPr lang="zh-CN" altLang="en-US" sz="1350" dirty="0"/>
                </a:p>
              </p:txBody>
            </p:sp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E7C96EF6-DE8F-4747-A9EF-0C74B364ABE6}"/>
                    </a:ext>
                  </a:extLst>
                </p:cNvPr>
                <p:cNvSpPr txBox="1"/>
                <p:nvPr/>
              </p:nvSpPr>
              <p:spPr>
                <a:xfrm>
                  <a:off x="7576688" y="4197342"/>
                  <a:ext cx="895886" cy="3000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350" dirty="0"/>
                    <a:t>end of tag</a:t>
                  </a:r>
                  <a:endParaRPr lang="zh-CN" altLang="en-US" sz="1350" dirty="0"/>
                </a:p>
              </p:txBody>
            </p:sp>
          </p:grp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BB12CD8C-D008-4A7E-A0B6-78EBF404F069}"/>
                  </a:ext>
                </a:extLst>
              </p:cNvPr>
              <p:cNvSpPr/>
              <p:nvPr/>
            </p:nvSpPr>
            <p:spPr>
              <a:xfrm>
                <a:off x="7825233" y="3873929"/>
                <a:ext cx="324654" cy="278453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</p:grpSp>
      <p:sp>
        <p:nvSpPr>
          <p:cNvPr id="27" name="标题 1">
            <a:extLst>
              <a:ext uri="{FF2B5EF4-FFF2-40B4-BE49-F238E27FC236}">
                <a16:creationId xmlns:a16="http://schemas.microsoft.com/office/drawing/2014/main" id="{8E341673-274E-D2A0-FCC4-0469F04B4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66" y="421397"/>
            <a:ext cx="7886700" cy="1325563"/>
          </a:xfrm>
        </p:spPr>
        <p:txBody>
          <a:bodyPr/>
          <a:lstStyle/>
          <a:p>
            <a:r>
              <a:rPr lang="en-US" altLang="zh-CN" b="0" dirty="0"/>
              <a:t>Step 1: Inspect your data source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40315714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A8548D-7EAE-4A95-9CFB-F0AC4CCDE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Step 2: Divide your tasks</a:t>
            </a:r>
            <a:endParaRPr lang="zh-CN" altLang="en-US" b="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04E62F-D6FE-4D7A-AA94-5ABE3B38B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8300197" cy="4351338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Get the description link of each movie from:</a:t>
            </a:r>
            <a:r>
              <a:rPr lang="en-US" altLang="zh-CN" sz="2000" dirty="0"/>
              <a:t> </a:t>
            </a:r>
            <a:r>
              <a:rPr lang="en-US" altLang="zh-CN" sz="2000" dirty="0">
                <a:hlinkClick r:id="rId2"/>
              </a:rPr>
              <a:t>https://editorial.rottentomatoes.com/guide/best-movies-21st-century/</a:t>
            </a:r>
            <a:endParaRPr lang="en-US" altLang="zh-CN" sz="2000" dirty="0"/>
          </a:p>
          <a:p>
            <a:r>
              <a:rPr lang="en-US" altLang="zh-CN" sz="2400" dirty="0"/>
              <a:t>Collect title, ratings, reviews from each movie’s URL.                  </a:t>
            </a:r>
            <a:r>
              <a:rPr lang="en-US" altLang="zh-CN" sz="2000" dirty="0"/>
              <a:t>E.g. </a:t>
            </a:r>
            <a:r>
              <a:rPr lang="en-US" altLang="zh-CN" sz="2000" dirty="0">
                <a:hlinkClick r:id="rId3"/>
              </a:rPr>
              <a:t>https://www.rottentomatoes.com/m/parasite_2019</a:t>
            </a:r>
            <a:endParaRPr lang="en-US" altLang="zh-CN" sz="2000" dirty="0"/>
          </a:p>
          <a:p>
            <a:r>
              <a:rPr lang="en-US" altLang="zh-CN" sz="2400" dirty="0"/>
              <a:t>Collect detailed review comments from:</a:t>
            </a:r>
            <a:r>
              <a:rPr lang="en-US" altLang="zh-CN" sz="2000" dirty="0"/>
              <a:t>                                                E.g. </a:t>
            </a:r>
            <a:r>
              <a:rPr lang="en-US" altLang="zh-CN" sz="2000" dirty="0">
                <a:hlinkClick r:id="rId4"/>
              </a:rPr>
              <a:t>https://www.rottentomatoes.com/m/parasite_2019/reviews</a:t>
            </a:r>
            <a:endParaRPr lang="en-US" altLang="zh-CN" sz="2000" dirty="0"/>
          </a:p>
          <a:p>
            <a:pPr marL="514350" indent="-514350">
              <a:buAutoNum type="arabicPeriod"/>
            </a:pP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3161900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593252-620D-4121-8E75-D1D0FEB1F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Step 3: Get the html content</a:t>
            </a:r>
            <a:endParaRPr lang="zh-CN" altLang="en-US" b="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3E9CA0-28EB-48E7-8FC8-B92E25DA5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47793"/>
            <a:ext cx="7886700" cy="5167311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Use </a:t>
            </a:r>
            <a:r>
              <a:rPr lang="en-US" altLang="zh-CN" i="1" dirty="0"/>
              <a:t>requests</a:t>
            </a:r>
            <a:r>
              <a:rPr lang="en-US" altLang="zh-CN" dirty="0"/>
              <a:t> to get the source html of each webpage.</a:t>
            </a:r>
          </a:p>
          <a:p>
            <a:endParaRPr lang="en-US" altLang="zh-CN" dirty="0"/>
          </a:p>
          <a:p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Retrieve HTML content (including CSS) from the server</a:t>
            </a:r>
          </a:p>
          <a:p>
            <a:pPr lvl="1"/>
            <a:r>
              <a:rPr lang="en-US" altLang="zh-CN" i="1" dirty="0"/>
              <a:t>requests</a:t>
            </a:r>
            <a:r>
              <a:rPr lang="en-US" altLang="zh-CN" dirty="0"/>
              <a:t> can only retrieve full content of static sites!</a:t>
            </a:r>
          </a:p>
          <a:p>
            <a:r>
              <a:rPr lang="en-US" altLang="zh-CN" dirty="0"/>
              <a:t>Static websites (</a:t>
            </a:r>
            <a:r>
              <a:rPr lang="en-US" altLang="zh-CN" dirty="0">
                <a:solidFill>
                  <a:srgbClr val="0078B9"/>
                </a:solidFill>
              </a:rPr>
              <a:t>we will focus on this type</a:t>
            </a:r>
            <a:r>
              <a:rPr lang="en-US" altLang="zh-CN" dirty="0"/>
              <a:t>)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The data fetched by </a:t>
            </a:r>
            <a:r>
              <a:rPr lang="en-US" altLang="zh-CN" i="1" dirty="0"/>
              <a:t>requests </a:t>
            </a:r>
            <a:r>
              <a:rPr lang="en-US" altLang="zh-CN" dirty="0"/>
              <a:t>contain all the information as shown on the browser, including your target data.</a:t>
            </a:r>
          </a:p>
          <a:p>
            <a:r>
              <a:rPr lang="en-US" altLang="zh-CN" dirty="0"/>
              <a:t>Dynamic websites (</a:t>
            </a:r>
            <a:r>
              <a:rPr lang="en-US" altLang="zh-CN" u="sng" dirty="0"/>
              <a:t>not covered in this course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/>
              <a:t>Not all information can be fetched by </a:t>
            </a:r>
            <a:r>
              <a:rPr lang="en-US" altLang="zh-CN" i="1" dirty="0"/>
              <a:t>requests.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Data shown in browser can be stored in a database on server.</a:t>
            </a:r>
          </a:p>
          <a:p>
            <a:pPr lvl="1"/>
            <a:r>
              <a:rPr lang="en-US" altLang="zh-CN" dirty="0"/>
              <a:t>Need to use browser-like crawler (e.g., Selenium).</a:t>
            </a:r>
          </a:p>
          <a:p>
            <a:pPr marL="342900" lvl="1" indent="0">
              <a:buNone/>
            </a:pP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4B5908-9D06-7080-8B59-9F55A8CD9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557" y="1866009"/>
            <a:ext cx="6680995" cy="82112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434046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83B96F-5E2B-41AE-8E02-DC54B14D6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515350" cy="1325563"/>
          </a:xfrm>
        </p:spPr>
        <p:txBody>
          <a:bodyPr/>
          <a:lstStyle/>
          <a:p>
            <a:r>
              <a:rPr lang="en-US" altLang="zh-CN" b="0" dirty="0"/>
              <a:t>Step 4: Process HTML source code</a:t>
            </a:r>
            <a:endParaRPr lang="zh-CN" altLang="en-US" b="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7C2B4F-6CCA-451F-9C8F-DB73207CC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06071"/>
            <a:ext cx="8138832" cy="514816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altLang="zh-CN" dirty="0"/>
              <a:t>Can build your own </a:t>
            </a:r>
            <a:r>
              <a:rPr lang="en-US" altLang="zh-CN" dirty="0">
                <a:solidFill>
                  <a:srgbClr val="00B0F0"/>
                </a:solidFill>
              </a:rPr>
              <a:t>regular expression</a:t>
            </a:r>
            <a:r>
              <a:rPr lang="en-US" altLang="zh-CN" dirty="0"/>
              <a:t> to match the data you want (time consuming but more powerful)</a:t>
            </a:r>
          </a:p>
          <a:p>
            <a:r>
              <a:rPr lang="en-US" altLang="zh-CN" dirty="0"/>
              <a:t>Beautiful Soup (available as a Python package)</a:t>
            </a:r>
          </a:p>
          <a:p>
            <a:pPr lvl="1"/>
            <a:r>
              <a:rPr lang="en-US" altLang="zh-CN" dirty="0">
                <a:hlinkClick r:id="rId3"/>
              </a:rPr>
              <a:t>https://www.crummy.com/software/BeautifulSoup/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r>
              <a:rPr lang="en-US" altLang="zh-CN" dirty="0"/>
              <a:t>Interact with HTML similarly to how you would interact with a webpage using the developer tool.</a:t>
            </a:r>
          </a:p>
          <a:p>
            <a:r>
              <a:rPr lang="en-US" altLang="zh-CN" dirty="0"/>
              <a:t>Just create a BS object with the whole html string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r>
              <a:rPr lang="en-US" altLang="zh-CN" dirty="0"/>
              <a:t>Can use different parsers depending on type of source data</a:t>
            </a:r>
          </a:p>
          <a:p>
            <a:pPr lvl="1">
              <a:lnSpc>
                <a:spcPct val="110000"/>
              </a:lnSpc>
            </a:pPr>
            <a:r>
              <a:rPr lang="en-US" altLang="zh-CN" dirty="0">
                <a:hlinkClick r:id="rId4"/>
              </a:rPr>
              <a:t>https://www.crummy.com/software/BeautifulSoup/bs4/doc/#differences-between-parsers</a:t>
            </a:r>
            <a:endParaRPr lang="en-US" altLang="zh-CN" dirty="0"/>
          </a:p>
          <a:p>
            <a:pPr marL="342900" lvl="1" indent="0">
              <a:buNone/>
            </a:pPr>
            <a:endParaRPr lang="zh-CN" altLang="en-US" dirty="0"/>
          </a:p>
        </p:txBody>
      </p:sp>
      <p:pic>
        <p:nvPicPr>
          <p:cNvPr id="6" name="Picture 5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5F25DFC3-DFEA-D102-E972-AA9350EECC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768" y="4391585"/>
            <a:ext cx="50038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9670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8DF090-3FDD-4557-8778-F45D9F707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678780"/>
            <a:ext cx="8371915" cy="51792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Find elements via the BS object</a:t>
            </a:r>
          </a:p>
          <a:p>
            <a:pPr lvl="1"/>
            <a:r>
              <a:rPr lang="en-US" altLang="zh-CN" dirty="0"/>
              <a:t>Use the tag and attribute to find elements you want.</a:t>
            </a:r>
          </a:p>
          <a:p>
            <a:pPr lvl="1"/>
            <a:r>
              <a:rPr lang="en-US" altLang="zh-CN" i="1" dirty="0"/>
              <a:t>find(tag, </a:t>
            </a:r>
            <a:r>
              <a:rPr lang="en-US" altLang="zh-CN" i="1" dirty="0" err="1"/>
              <a:t>attrs</a:t>
            </a:r>
            <a:r>
              <a:rPr lang="en-US" altLang="zh-CN" i="1" dirty="0"/>
              <a:t>, recursive, text, **</a:t>
            </a:r>
            <a:r>
              <a:rPr lang="en-US" altLang="zh-CN" i="1" dirty="0" err="1"/>
              <a:t>kwargs</a:t>
            </a:r>
            <a:r>
              <a:rPr lang="en-US" altLang="zh-CN" i="1" dirty="0"/>
              <a:t>)</a:t>
            </a:r>
          </a:p>
          <a:p>
            <a:pPr lvl="2"/>
            <a:r>
              <a:rPr lang="en-US" altLang="zh-CN" dirty="0">
                <a:hlinkClick r:id="rId2"/>
              </a:rPr>
              <a:t>https://beautiful-soup-4.readthedocs.io/en/latest/#find</a:t>
            </a:r>
            <a:endParaRPr lang="en-US" altLang="zh-CN" dirty="0"/>
          </a:p>
          <a:p>
            <a:pPr lvl="2"/>
            <a:r>
              <a:rPr lang="en-US" altLang="zh-CN" dirty="0"/>
              <a:t>just find one matched result (the first one)</a:t>
            </a:r>
          </a:p>
          <a:p>
            <a:pPr lvl="2"/>
            <a:r>
              <a:rPr lang="en-US" altLang="zh-CN" i="1" dirty="0"/>
              <a:t>tag</a:t>
            </a:r>
            <a:r>
              <a:rPr lang="en-US" altLang="zh-CN" dirty="0"/>
              <a:t>: the tag where your data is contained</a:t>
            </a:r>
          </a:p>
          <a:p>
            <a:pPr lvl="2"/>
            <a:r>
              <a:rPr lang="en-US" altLang="zh-CN" i="1" dirty="0" err="1"/>
              <a:t>attrs</a:t>
            </a:r>
            <a:r>
              <a:rPr lang="en-US" altLang="zh-CN" dirty="0"/>
              <a:t>: more precise finding with additional attributes filters</a:t>
            </a:r>
          </a:p>
          <a:p>
            <a:pPr lvl="1"/>
            <a:endParaRPr lang="en-US" altLang="zh-CN" i="1" dirty="0"/>
          </a:p>
          <a:p>
            <a:pPr lvl="1"/>
            <a:r>
              <a:rPr lang="en-US" altLang="zh-CN" i="1" dirty="0" err="1"/>
              <a:t>find_all</a:t>
            </a:r>
            <a:r>
              <a:rPr lang="en-US" altLang="zh-CN" i="1" dirty="0"/>
              <a:t>(tag, </a:t>
            </a:r>
            <a:r>
              <a:rPr lang="en-US" altLang="zh-CN" i="1" dirty="0" err="1"/>
              <a:t>attrs</a:t>
            </a:r>
            <a:r>
              <a:rPr lang="en-US" altLang="zh-CN" i="1" dirty="0"/>
              <a:t>, recursive, text, limit, **</a:t>
            </a:r>
            <a:r>
              <a:rPr lang="en-US" altLang="zh-CN" i="1" dirty="0" err="1"/>
              <a:t>kwargs</a:t>
            </a:r>
            <a:r>
              <a:rPr lang="en-US" altLang="zh-CN" i="1" dirty="0"/>
              <a:t>)</a:t>
            </a:r>
          </a:p>
          <a:p>
            <a:pPr lvl="2"/>
            <a:r>
              <a:rPr lang="en-US" altLang="zh-CN" dirty="0">
                <a:hlinkClick r:id="rId3"/>
              </a:rPr>
              <a:t>https://beautiful-soup-4.readthedocs.io/en/latest/#find-all</a:t>
            </a:r>
            <a:endParaRPr lang="en-US" altLang="zh-CN" dirty="0"/>
          </a:p>
          <a:p>
            <a:pPr lvl="2"/>
            <a:r>
              <a:rPr lang="en-US" altLang="zh-CN" dirty="0"/>
              <a:t>return a list containing all the matched results</a:t>
            </a:r>
          </a:p>
          <a:p>
            <a:pPr lvl="2"/>
            <a:r>
              <a:rPr lang="en-US" altLang="zh-CN" i="1" dirty="0"/>
              <a:t>limit: </a:t>
            </a:r>
            <a:r>
              <a:rPr lang="en-US" altLang="zh-CN" dirty="0"/>
              <a:t>the number of results returned. Equals to find when limit=1</a:t>
            </a:r>
            <a:endParaRPr lang="zh-CN" altLang="en-US" dirty="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29C03E50-FFDC-90D6-D867-8BB085528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515350" cy="1325563"/>
          </a:xfrm>
        </p:spPr>
        <p:txBody>
          <a:bodyPr/>
          <a:lstStyle/>
          <a:p>
            <a:r>
              <a:rPr lang="en-US" altLang="zh-CN" b="0" dirty="0"/>
              <a:t>Step 4: Process HTML source code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5944345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8DF090-3FDD-4557-8778-F45D9F707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68472"/>
            <a:ext cx="8243888" cy="47244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/>
              <a:t>Process matched elements:</a:t>
            </a:r>
          </a:p>
          <a:p>
            <a:pPr lvl="1"/>
            <a:r>
              <a:rPr lang="en-US" altLang="zh-CN" dirty="0"/>
              <a:t>Find (nested) elements by tags and attributes</a:t>
            </a:r>
          </a:p>
          <a:p>
            <a:pPr lvl="1"/>
            <a:r>
              <a:rPr lang="en-US" altLang="zh-CN" dirty="0"/>
              <a:t>Extract link from HTML element via </a:t>
            </a:r>
            <a:r>
              <a:rPr lang="en-US" altLang="zh-CN" i="1" dirty="0">
                <a:solidFill>
                  <a:schemeClr val="accent1"/>
                </a:solidFill>
              </a:rPr>
              <a:t>[.get(‘</a:t>
            </a:r>
            <a:r>
              <a:rPr lang="en-US" altLang="zh-CN" i="1" dirty="0" err="1">
                <a:solidFill>
                  <a:schemeClr val="accent1"/>
                </a:solidFill>
              </a:rPr>
              <a:t>href</a:t>
            </a:r>
            <a:r>
              <a:rPr lang="en-US" altLang="zh-CN" i="1" dirty="0">
                <a:solidFill>
                  <a:schemeClr val="accent1"/>
                </a:solidFill>
              </a:rPr>
              <a:t>’)]</a:t>
            </a:r>
          </a:p>
          <a:p>
            <a:pPr lvl="1"/>
            <a:r>
              <a:rPr lang="en-US" altLang="zh-CN" dirty="0"/>
              <a:t>Extract text from HTML element via </a:t>
            </a:r>
            <a:r>
              <a:rPr lang="en-US" altLang="zh-CN" i="1" dirty="0">
                <a:solidFill>
                  <a:schemeClr val="accent1"/>
                </a:solidFill>
              </a:rPr>
              <a:t>[.text]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r>
              <a:rPr lang="en-US" altLang="zh-CN" dirty="0">
                <a:solidFill>
                  <a:schemeClr val="accent1"/>
                </a:solidFill>
              </a:rPr>
              <a:t>Iterate through all movie URLs</a:t>
            </a:r>
            <a:r>
              <a:rPr lang="en-US" altLang="zh-CN" dirty="0"/>
              <a:t> and collect reviews for each movie in a similar way using Python </a:t>
            </a:r>
            <a:r>
              <a:rPr lang="en-US" altLang="zh-CN" i="1" dirty="0"/>
              <a:t>requests + BS4</a:t>
            </a:r>
            <a:r>
              <a:rPr lang="en-US" altLang="zh-CN" dirty="0"/>
              <a:t>.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marL="342900" lvl="1" indent="0">
              <a:buNone/>
            </a:pPr>
            <a:endParaRPr lang="en-US" altLang="zh-CN" dirty="0"/>
          </a:p>
          <a:p>
            <a:pPr marL="342900" lvl="1" indent="0">
              <a:buNone/>
            </a:pPr>
            <a:endParaRPr lang="en-US" altLang="zh-CN" dirty="0"/>
          </a:p>
          <a:p>
            <a:pPr marL="342900" lvl="1" indent="0">
              <a:buNone/>
            </a:pPr>
            <a:endParaRPr lang="en-US" altLang="zh-CN" dirty="0"/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C3AE855-7D9A-7F6A-97AF-54BB61686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607" y="3330567"/>
            <a:ext cx="5956300" cy="1968500"/>
          </a:xfrm>
          <a:prstGeom prst="rect">
            <a:avLst/>
          </a:prstGeom>
        </p:spPr>
      </p:pic>
      <p:sp>
        <p:nvSpPr>
          <p:cNvPr id="10" name="标题 1">
            <a:extLst>
              <a:ext uri="{FF2B5EF4-FFF2-40B4-BE49-F238E27FC236}">
                <a16:creationId xmlns:a16="http://schemas.microsoft.com/office/drawing/2014/main" id="{A9B635FC-2BC2-E2FF-96A3-94D41F969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515350" cy="1325563"/>
          </a:xfrm>
        </p:spPr>
        <p:txBody>
          <a:bodyPr/>
          <a:lstStyle/>
          <a:p>
            <a:r>
              <a:rPr lang="en-US" altLang="zh-CN" b="0" dirty="0"/>
              <a:t>Step 4: Process HTML source code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12039258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1D2F2-823D-ED34-A9A4-D6ED246CB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E472E28-B24F-EC21-E431-72F197649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702" y="421396"/>
            <a:ext cx="8712298" cy="1325563"/>
          </a:xfrm>
        </p:spPr>
        <p:txBody>
          <a:bodyPr/>
          <a:lstStyle/>
          <a:p>
            <a:r>
              <a:rPr lang="en-US" b="0" dirty="0"/>
              <a:t>Why do most APIs return JSON?</a:t>
            </a:r>
            <a:endParaRPr lang="en-US" b="0" dirty="0">
              <a:solidFill>
                <a:schemeClr val="accent6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8823D5-186E-99EF-5D14-01AB4705EB50}"/>
              </a:ext>
            </a:extLst>
          </p:cNvPr>
          <p:cNvSpPr txBox="1"/>
          <p:nvPr/>
        </p:nvSpPr>
        <p:spPr>
          <a:xfrm>
            <a:off x="550041" y="1376618"/>
            <a:ext cx="84756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5738" indent="-185738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F0"/>
                </a:solidFill>
              </a:rPr>
              <a:t>Search authors in </a:t>
            </a:r>
            <a:r>
              <a:rPr lang="en-US" sz="2000" dirty="0" err="1">
                <a:solidFill>
                  <a:srgbClr val="00B0F0"/>
                </a:solidFill>
              </a:rPr>
              <a:t>OpenAlex</a:t>
            </a:r>
            <a:r>
              <a:rPr lang="en-US" sz="2000" dirty="0">
                <a:solidFill>
                  <a:srgbClr val="00B0F0"/>
                </a:solidFill>
              </a:rPr>
              <a:t>:</a:t>
            </a:r>
          </a:p>
          <a:p>
            <a:r>
              <a:rPr lang="en-US" sz="2000" dirty="0"/>
              <a:t>https://</a:t>
            </a:r>
            <a:r>
              <a:rPr lang="en-US" sz="2000" dirty="0" err="1"/>
              <a:t>api.openalex.org</a:t>
            </a:r>
            <a:r>
              <a:rPr lang="en-US" sz="2000" dirty="0"/>
              <a:t>/</a:t>
            </a:r>
            <a:r>
              <a:rPr lang="en-US" sz="2000" dirty="0" err="1"/>
              <a:t>authors?filter</a:t>
            </a:r>
            <a:r>
              <a:rPr lang="en-US" sz="2000" dirty="0"/>
              <a:t>=display_name.search%3AHao+Peng</a:t>
            </a:r>
          </a:p>
          <a:p>
            <a:endParaRPr lang="en-US" sz="2000" dirty="0"/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49B6D18-A052-9CFB-CFC8-C949393FD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993" y="2322316"/>
            <a:ext cx="4816514" cy="395449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13918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0" dirty="0"/>
              <a:t>JSON: JavaScript Object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4513" y="1690689"/>
            <a:ext cx="7886700" cy="3754147"/>
          </a:xfrm>
        </p:spPr>
        <p:txBody>
          <a:bodyPr>
            <a:normAutofit fontScale="92500" lnSpcReduction="20000"/>
          </a:bodyPr>
          <a:lstStyle/>
          <a:p>
            <a:pPr marL="300038" lvl="1" indent="0">
              <a:buNone/>
            </a:pPr>
            <a:r>
              <a:rPr lang="en-US" sz="1800" b="1" dirty="0">
                <a:solidFill>
                  <a:schemeClr val="accent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"employees"</a:t>
            </a:r>
            <a:r>
              <a:rPr lang="en-US" sz="1800" b="1" dirty="0">
                <a:solidFill>
                  <a:schemeClr val="accent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b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	   </a:t>
            </a:r>
            <a:r>
              <a:rPr lang="en-US" sz="1800" b="1" dirty="0">
                <a:solidFill>
                  <a:schemeClr val="accent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"</a:t>
            </a:r>
            <a:r>
              <a:rPr lang="en-US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firstName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"</a:t>
            </a:r>
            <a:r>
              <a:rPr lang="en-US" sz="1800" b="1" dirty="0">
                <a:solidFill>
                  <a:schemeClr val="accent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 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"John"</a:t>
            </a:r>
            <a:r>
              <a:rPr lang="en-US" sz="1800" b="1" dirty="0">
                <a:solidFill>
                  <a:schemeClr val="accent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"</a:t>
            </a:r>
            <a:r>
              <a:rPr lang="en-US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lastName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"</a:t>
            </a:r>
            <a:r>
              <a:rPr lang="en-US" sz="1800" b="1" dirty="0">
                <a:solidFill>
                  <a:schemeClr val="accent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"Doe"   </a:t>
            </a:r>
            <a:r>
              <a:rPr lang="en-US" sz="1800" b="1" dirty="0">
                <a:solidFill>
                  <a:schemeClr val="accent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  <a:r>
              <a:rPr lang="en-US" sz="1800" b="1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 </a:t>
            </a:r>
            <a:b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	   </a:t>
            </a:r>
            <a:r>
              <a:rPr lang="en-US" sz="1800" b="1" dirty="0">
                <a:solidFill>
                  <a:schemeClr val="accent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"</a:t>
            </a:r>
            <a:r>
              <a:rPr lang="en-US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firstName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"</a:t>
            </a:r>
            <a:r>
              <a:rPr lang="en-US" sz="1800" b="1" dirty="0">
                <a:solidFill>
                  <a:schemeClr val="accent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 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"Anna"</a:t>
            </a:r>
            <a:r>
              <a:rPr lang="en-US" sz="1800" b="1" dirty="0">
                <a:solidFill>
                  <a:schemeClr val="accent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"</a:t>
            </a:r>
            <a:r>
              <a:rPr lang="en-US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lastName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"</a:t>
            </a:r>
            <a:r>
              <a:rPr lang="en-US" sz="1800" b="1" dirty="0">
                <a:solidFill>
                  <a:schemeClr val="accent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"Smith" </a:t>
            </a:r>
            <a:r>
              <a:rPr lang="en-US" sz="1800" b="1" dirty="0">
                <a:solidFill>
                  <a:schemeClr val="accent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  <a:r>
              <a:rPr lang="en-US" sz="1800" b="1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 </a:t>
            </a:r>
            <a:b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	   </a:t>
            </a:r>
            <a:r>
              <a:rPr lang="en-US" sz="1800" b="1" dirty="0">
                <a:solidFill>
                  <a:schemeClr val="accent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"</a:t>
            </a:r>
            <a:r>
              <a:rPr lang="en-US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firstName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"</a:t>
            </a:r>
            <a:r>
              <a:rPr lang="en-US" sz="1800" b="1" dirty="0">
                <a:solidFill>
                  <a:schemeClr val="accent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 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"Peter"</a:t>
            </a:r>
            <a:r>
              <a:rPr lang="en-US" sz="1800" b="1" dirty="0">
                <a:solidFill>
                  <a:schemeClr val="accent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"</a:t>
            </a:r>
            <a:r>
              <a:rPr lang="en-US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lastName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"</a:t>
            </a:r>
            <a:r>
              <a:rPr lang="en-US" sz="1800" b="1" dirty="0">
                <a:solidFill>
                  <a:schemeClr val="accent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"Jones" </a:t>
            </a:r>
            <a:r>
              <a:rPr lang="en-US" sz="1800" b="1" dirty="0">
                <a:solidFill>
                  <a:schemeClr val="accent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  <a:b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800" b="1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pPr marL="300038" lvl="1" indent="0">
              <a:buNone/>
            </a:pPr>
            <a:r>
              <a:rPr lang="en-US" sz="1800" b="1" dirty="0">
                <a:solidFill>
                  <a:schemeClr val="accent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 marL="300038" lvl="1" indent="0">
              <a:buNone/>
            </a:pPr>
            <a:endParaRPr lang="en-US" sz="1425" b="1" dirty="0">
              <a:solidFill>
                <a:schemeClr val="accent6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2600" dirty="0"/>
              <a:t>JSON syntax is a subset of JavaScript</a:t>
            </a:r>
          </a:p>
          <a:p>
            <a:r>
              <a:rPr lang="en-US" sz="2600" b="1" dirty="0"/>
              <a:t>Two basic structures</a:t>
            </a:r>
            <a:r>
              <a:rPr lang="en-US" sz="2600" dirty="0"/>
              <a:t>:</a:t>
            </a:r>
          </a:p>
          <a:p>
            <a:pPr lvl="1"/>
            <a:r>
              <a:rPr lang="en-US" sz="2200" b="1" dirty="0">
                <a:solidFill>
                  <a:schemeClr val="accent6"/>
                </a:solidFill>
              </a:rPr>
              <a:t>Curly braces </a:t>
            </a:r>
            <a:r>
              <a:rPr lang="en-US" sz="2200" dirty="0"/>
              <a:t>hold </a:t>
            </a:r>
            <a:r>
              <a:rPr lang="en-US" sz="2200" b="1" dirty="0">
                <a:solidFill>
                  <a:schemeClr val="accent6"/>
                </a:solidFill>
              </a:rPr>
              <a:t>objects</a:t>
            </a:r>
            <a:r>
              <a:rPr lang="en-US" sz="2200" dirty="0"/>
              <a:t> (aka </a:t>
            </a:r>
            <a:r>
              <a:rPr lang="en-US" sz="2200" b="1" dirty="0">
                <a:solidFill>
                  <a:schemeClr val="accent6"/>
                </a:solidFill>
              </a:rPr>
              <a:t>dictionaries</a:t>
            </a:r>
            <a:r>
              <a:rPr lang="en-US" sz="2200" dirty="0"/>
              <a:t>)</a:t>
            </a:r>
          </a:p>
          <a:p>
            <a:pPr lvl="1"/>
            <a:r>
              <a:rPr lang="en-US" sz="2200" b="1" dirty="0">
                <a:solidFill>
                  <a:srgbClr val="00B050"/>
                </a:solidFill>
              </a:rPr>
              <a:t>Square brackets </a:t>
            </a:r>
            <a:r>
              <a:rPr lang="en-US" sz="2200" dirty="0"/>
              <a:t>hold </a:t>
            </a:r>
            <a:r>
              <a:rPr lang="en-US" sz="2200" b="1" dirty="0">
                <a:solidFill>
                  <a:srgbClr val="00B050"/>
                </a:solidFill>
              </a:rPr>
              <a:t>arrays</a:t>
            </a:r>
            <a:r>
              <a:rPr lang="en-US" sz="2200" dirty="0"/>
              <a:t> (aka </a:t>
            </a:r>
            <a:r>
              <a:rPr lang="en-US" sz="2200" b="1" dirty="0">
                <a:solidFill>
                  <a:srgbClr val="00B050"/>
                </a:solidFill>
              </a:rPr>
              <a:t>lists</a:t>
            </a:r>
            <a:r>
              <a:rPr lang="en-US" sz="2200" dirty="0"/>
              <a:t>)</a:t>
            </a:r>
          </a:p>
          <a:p>
            <a:r>
              <a:rPr lang="en-US" sz="2600" dirty="0"/>
              <a:t>Filename extension  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".json"</a:t>
            </a:r>
          </a:p>
          <a:p>
            <a:r>
              <a:rPr lang="en-US" sz="2600" dirty="0"/>
              <a:t>MIME type (e.g. HTTP header)   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application/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endParaRPr lang="en-US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050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0142" y="689020"/>
            <a:ext cx="7924800" cy="857250"/>
          </a:xfrm>
        </p:spPr>
        <p:txBody>
          <a:bodyPr>
            <a:normAutofit/>
          </a:bodyPr>
          <a:lstStyle/>
          <a:p>
            <a:r>
              <a:rPr lang="en-US" b="0" dirty="0"/>
              <a:t>Why do most APIs return JSON?</a:t>
            </a:r>
            <a:endParaRPr lang="en-US" sz="3600" dirty="0">
              <a:solidFill>
                <a:srgbClr val="00B050"/>
              </a:solidFill>
            </a:endParaRPr>
          </a:p>
        </p:txBody>
      </p:sp>
      <p:sp>
        <p:nvSpPr>
          <p:cNvPr id="7" name="Flowchart: Magnetic Disk 6"/>
          <p:cNvSpPr/>
          <p:nvPr/>
        </p:nvSpPr>
        <p:spPr>
          <a:xfrm>
            <a:off x="3646853" y="2910326"/>
            <a:ext cx="1028700" cy="1257300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Flowchart: Process 7"/>
          <p:cNvSpPr/>
          <p:nvPr/>
        </p:nvSpPr>
        <p:spPr>
          <a:xfrm>
            <a:off x="702957" y="2118859"/>
            <a:ext cx="1979093" cy="2513276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ight Arrow 8"/>
          <p:cNvSpPr/>
          <p:nvPr/>
        </p:nvSpPr>
        <p:spPr>
          <a:xfrm>
            <a:off x="2814036" y="2894474"/>
            <a:ext cx="742950" cy="628650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b="1" dirty="0"/>
              <a:t>save</a:t>
            </a:r>
          </a:p>
        </p:txBody>
      </p:sp>
      <p:sp>
        <p:nvSpPr>
          <p:cNvPr id="12" name="Left Arrow 11"/>
          <p:cNvSpPr/>
          <p:nvPr/>
        </p:nvSpPr>
        <p:spPr>
          <a:xfrm>
            <a:off x="2764439" y="3603974"/>
            <a:ext cx="800100" cy="571500"/>
          </a:xfrm>
          <a:prstGeom prst="lef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b="1" dirty="0"/>
              <a:t>load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933893" y="2738862"/>
            <a:ext cx="1512383" cy="1731386"/>
            <a:chOff x="6751574" y="1707082"/>
            <a:chExt cx="2016510" cy="2308515"/>
          </a:xfrm>
        </p:grpSpPr>
        <p:sp>
          <p:nvSpPr>
            <p:cNvPr id="25" name="Flowchart: Connector 24"/>
            <p:cNvSpPr/>
            <p:nvPr/>
          </p:nvSpPr>
          <p:spPr>
            <a:xfrm>
              <a:off x="7045214" y="1999742"/>
              <a:ext cx="90617" cy="9061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6" name="Flowchart: Connector 25"/>
            <p:cNvSpPr/>
            <p:nvPr/>
          </p:nvSpPr>
          <p:spPr>
            <a:xfrm>
              <a:off x="7061274" y="2928431"/>
              <a:ext cx="90617" cy="9061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7" name="Flowchart: Connector 26"/>
            <p:cNvSpPr/>
            <p:nvPr/>
          </p:nvSpPr>
          <p:spPr>
            <a:xfrm>
              <a:off x="7582534" y="3492833"/>
              <a:ext cx="90617" cy="9061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8" name="Flowchart: Connector 27"/>
            <p:cNvSpPr/>
            <p:nvPr/>
          </p:nvSpPr>
          <p:spPr>
            <a:xfrm>
              <a:off x="8264997" y="3538141"/>
              <a:ext cx="90617" cy="9061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9" name="Flowchart: Connector 28"/>
            <p:cNvSpPr/>
            <p:nvPr/>
          </p:nvSpPr>
          <p:spPr>
            <a:xfrm>
              <a:off x="8269116" y="2769949"/>
              <a:ext cx="90617" cy="9061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0" name="Flowchart: Connector 29"/>
            <p:cNvSpPr/>
            <p:nvPr/>
          </p:nvSpPr>
          <p:spPr>
            <a:xfrm>
              <a:off x="7710854" y="2445858"/>
              <a:ext cx="90617" cy="9061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097615" y="1707082"/>
              <a:ext cx="378736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A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751574" y="2973110"/>
              <a:ext cx="372325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B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485349" y="3615488"/>
              <a:ext cx="387285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504585" y="2003583"/>
              <a:ext cx="37018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C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405742" y="2628207"/>
              <a:ext cx="353088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F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408583" y="3444092"/>
              <a:ext cx="359501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E</a:t>
              </a:r>
            </a:p>
          </p:txBody>
        </p:sp>
        <p:cxnSp>
          <p:nvCxnSpPr>
            <p:cNvPr id="37" name="Straight Arrow Connector 36"/>
            <p:cNvCxnSpPr>
              <a:endCxn id="26" idx="0"/>
            </p:cNvCxnSpPr>
            <p:nvPr/>
          </p:nvCxnSpPr>
          <p:spPr>
            <a:xfrm>
              <a:off x="7097616" y="2062783"/>
              <a:ext cx="8967" cy="8656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>
              <a:stCxn id="25" idx="5"/>
              <a:endCxn id="30" idx="2"/>
            </p:cNvCxnSpPr>
            <p:nvPr/>
          </p:nvCxnSpPr>
          <p:spPr>
            <a:xfrm>
              <a:off x="7122560" y="2077088"/>
              <a:ext cx="588294" cy="4140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26" idx="7"/>
              <a:endCxn id="30" idx="3"/>
            </p:cNvCxnSpPr>
            <p:nvPr/>
          </p:nvCxnSpPr>
          <p:spPr>
            <a:xfrm flipV="1">
              <a:off x="7138620" y="2523204"/>
              <a:ext cx="585505" cy="41849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26" idx="5"/>
              <a:endCxn id="27" idx="2"/>
            </p:cNvCxnSpPr>
            <p:nvPr/>
          </p:nvCxnSpPr>
          <p:spPr>
            <a:xfrm>
              <a:off x="7138620" y="3005777"/>
              <a:ext cx="443914" cy="5323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stCxn id="30" idx="4"/>
              <a:endCxn id="27" idx="0"/>
            </p:cNvCxnSpPr>
            <p:nvPr/>
          </p:nvCxnSpPr>
          <p:spPr>
            <a:xfrm flipH="1">
              <a:off x="7627843" y="2536474"/>
              <a:ext cx="128320" cy="95635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29" idx="1"/>
              <a:endCxn id="30" idx="6"/>
            </p:cNvCxnSpPr>
            <p:nvPr/>
          </p:nvCxnSpPr>
          <p:spPr>
            <a:xfrm flipH="1" flipV="1">
              <a:off x="7801471" y="2491166"/>
              <a:ext cx="480916" cy="2920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28" idx="0"/>
              <a:endCxn id="29" idx="4"/>
            </p:cNvCxnSpPr>
            <p:nvPr/>
          </p:nvCxnSpPr>
          <p:spPr>
            <a:xfrm flipV="1">
              <a:off x="8310306" y="2860565"/>
              <a:ext cx="4119" cy="6775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urved Connector 43"/>
            <p:cNvCxnSpPr>
              <a:stCxn id="27" idx="6"/>
              <a:endCxn id="30" idx="5"/>
            </p:cNvCxnSpPr>
            <p:nvPr/>
          </p:nvCxnSpPr>
          <p:spPr>
            <a:xfrm flipV="1">
              <a:off x="7673151" y="2523204"/>
              <a:ext cx="115049" cy="1014937"/>
            </a:xfrm>
            <a:prstGeom prst="curved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44"/>
          <p:cNvSpPr txBox="1"/>
          <p:nvPr/>
        </p:nvSpPr>
        <p:spPr>
          <a:xfrm>
            <a:off x="3334646" y="4318617"/>
            <a:ext cx="20717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{'A': ['B', 'C'],</a:t>
            </a:r>
          </a:p>
          <a:p>
            <a:r>
              <a:rPr lang="en-US" sz="1500" b="1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'B': ['C', 'D'],</a:t>
            </a:r>
          </a:p>
          <a:p>
            <a:r>
              <a:rPr lang="en-US" sz="1500" b="1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'C': ['D'],</a:t>
            </a:r>
          </a:p>
          <a:p>
            <a:r>
              <a:rPr lang="en-US" sz="1500" b="1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'D': ['C'],</a:t>
            </a:r>
          </a:p>
          <a:p>
            <a:r>
              <a:rPr lang="en-US" sz="1500" b="1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'E': ['F'],</a:t>
            </a:r>
          </a:p>
          <a:p>
            <a:r>
              <a:rPr lang="en-US" sz="1500" b="1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'F': ['C']}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3090" y="2196760"/>
            <a:ext cx="1442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Application 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3984FCB-B028-4408-BE20-08C45E08CED1}"/>
              </a:ext>
            </a:extLst>
          </p:cNvPr>
          <p:cNvSpPr txBox="1"/>
          <p:nvPr/>
        </p:nvSpPr>
        <p:spPr>
          <a:xfrm>
            <a:off x="3114763" y="2107415"/>
            <a:ext cx="20928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Data store</a:t>
            </a:r>
            <a:br>
              <a:rPr lang="en-US" b="1" dirty="0">
                <a:solidFill>
                  <a:srgbClr val="00B050"/>
                </a:solidFill>
              </a:rPr>
            </a:br>
            <a:r>
              <a:rPr lang="en-US" b="1" dirty="0">
                <a:solidFill>
                  <a:srgbClr val="00B050"/>
                </a:solidFill>
              </a:rPr>
              <a:t>(disk, database, </a:t>
            </a:r>
            <a:r>
              <a:rPr lang="en-US" b="1" dirty="0" err="1">
                <a:solidFill>
                  <a:srgbClr val="00B050"/>
                </a:solidFill>
              </a:rPr>
              <a:t>etc</a:t>
            </a:r>
            <a:r>
              <a:rPr lang="en-US" b="1" dirty="0">
                <a:solidFill>
                  <a:srgbClr val="00B050"/>
                </a:solidFill>
              </a:rPr>
              <a:t>)</a:t>
            </a:r>
          </a:p>
        </p:txBody>
      </p:sp>
      <p:sp>
        <p:nvSpPr>
          <p:cNvPr id="93" name="Flowchart: Process 92">
            <a:extLst>
              <a:ext uri="{FF2B5EF4-FFF2-40B4-BE49-F238E27FC236}">
                <a16:creationId xmlns:a16="http://schemas.microsoft.com/office/drawing/2014/main" id="{A68D5022-7E78-4C65-9BEF-B2D23B44E402}"/>
              </a:ext>
            </a:extLst>
          </p:cNvPr>
          <p:cNvSpPr/>
          <p:nvPr/>
        </p:nvSpPr>
        <p:spPr>
          <a:xfrm>
            <a:off x="5625091" y="2118859"/>
            <a:ext cx="1979093" cy="2513276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1D11B5FE-1848-4DC0-BB87-DE75ED490320}"/>
              </a:ext>
            </a:extLst>
          </p:cNvPr>
          <p:cNvGrpSpPr/>
          <p:nvPr/>
        </p:nvGrpSpPr>
        <p:grpSpPr>
          <a:xfrm>
            <a:off x="5856027" y="2738862"/>
            <a:ext cx="1512383" cy="1731386"/>
            <a:chOff x="6751574" y="1707082"/>
            <a:chExt cx="2016510" cy="2308515"/>
          </a:xfrm>
        </p:grpSpPr>
        <p:sp>
          <p:nvSpPr>
            <p:cNvPr id="95" name="Flowchart: Connector 94">
              <a:extLst>
                <a:ext uri="{FF2B5EF4-FFF2-40B4-BE49-F238E27FC236}">
                  <a16:creationId xmlns:a16="http://schemas.microsoft.com/office/drawing/2014/main" id="{935D826C-A484-448D-9E8F-79391CD7BCB2}"/>
                </a:ext>
              </a:extLst>
            </p:cNvPr>
            <p:cNvSpPr/>
            <p:nvPr/>
          </p:nvSpPr>
          <p:spPr>
            <a:xfrm>
              <a:off x="7045214" y="1999742"/>
              <a:ext cx="90617" cy="9061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6" name="Flowchart: Connector 95">
              <a:extLst>
                <a:ext uri="{FF2B5EF4-FFF2-40B4-BE49-F238E27FC236}">
                  <a16:creationId xmlns:a16="http://schemas.microsoft.com/office/drawing/2014/main" id="{9686B9CB-889B-4048-AD67-ED83560DD215}"/>
                </a:ext>
              </a:extLst>
            </p:cNvPr>
            <p:cNvSpPr/>
            <p:nvPr/>
          </p:nvSpPr>
          <p:spPr>
            <a:xfrm>
              <a:off x="7061274" y="2928431"/>
              <a:ext cx="90617" cy="9061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7" name="Flowchart: Connector 96">
              <a:extLst>
                <a:ext uri="{FF2B5EF4-FFF2-40B4-BE49-F238E27FC236}">
                  <a16:creationId xmlns:a16="http://schemas.microsoft.com/office/drawing/2014/main" id="{89F8ABE0-0753-46C3-A2CE-EAD3ECEE338E}"/>
                </a:ext>
              </a:extLst>
            </p:cNvPr>
            <p:cNvSpPr/>
            <p:nvPr/>
          </p:nvSpPr>
          <p:spPr>
            <a:xfrm>
              <a:off x="7582534" y="3492833"/>
              <a:ext cx="90617" cy="9061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8" name="Flowchart: Connector 97">
              <a:extLst>
                <a:ext uri="{FF2B5EF4-FFF2-40B4-BE49-F238E27FC236}">
                  <a16:creationId xmlns:a16="http://schemas.microsoft.com/office/drawing/2014/main" id="{76BC735E-C6F5-4E0A-A31E-68AC669C5467}"/>
                </a:ext>
              </a:extLst>
            </p:cNvPr>
            <p:cNvSpPr/>
            <p:nvPr/>
          </p:nvSpPr>
          <p:spPr>
            <a:xfrm>
              <a:off x="8264997" y="3538141"/>
              <a:ext cx="90617" cy="9061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9" name="Flowchart: Connector 98">
              <a:extLst>
                <a:ext uri="{FF2B5EF4-FFF2-40B4-BE49-F238E27FC236}">
                  <a16:creationId xmlns:a16="http://schemas.microsoft.com/office/drawing/2014/main" id="{B9766797-92BA-41A5-B786-EAA087D0D0A0}"/>
                </a:ext>
              </a:extLst>
            </p:cNvPr>
            <p:cNvSpPr/>
            <p:nvPr/>
          </p:nvSpPr>
          <p:spPr>
            <a:xfrm>
              <a:off x="8269116" y="2769949"/>
              <a:ext cx="90617" cy="9061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0" name="Flowchart: Connector 99">
              <a:extLst>
                <a:ext uri="{FF2B5EF4-FFF2-40B4-BE49-F238E27FC236}">
                  <a16:creationId xmlns:a16="http://schemas.microsoft.com/office/drawing/2014/main" id="{5A32FE04-90CA-4D6F-9F5A-3EC5E8FB3038}"/>
                </a:ext>
              </a:extLst>
            </p:cNvPr>
            <p:cNvSpPr/>
            <p:nvPr/>
          </p:nvSpPr>
          <p:spPr>
            <a:xfrm>
              <a:off x="7710854" y="2445858"/>
              <a:ext cx="90617" cy="9061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994F93B-8241-4B2C-B639-681D0CE013C9}"/>
                </a:ext>
              </a:extLst>
            </p:cNvPr>
            <p:cNvSpPr txBox="1"/>
            <p:nvPr/>
          </p:nvSpPr>
          <p:spPr>
            <a:xfrm>
              <a:off x="7097615" y="1707082"/>
              <a:ext cx="378736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A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69E5CC8F-695C-4B51-B5F5-C15C74FE63EF}"/>
                </a:ext>
              </a:extLst>
            </p:cNvPr>
            <p:cNvSpPr txBox="1"/>
            <p:nvPr/>
          </p:nvSpPr>
          <p:spPr>
            <a:xfrm>
              <a:off x="6751574" y="2973110"/>
              <a:ext cx="372325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B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35C1AAC4-6369-4A02-89AA-B89FE40D007D}"/>
                </a:ext>
              </a:extLst>
            </p:cNvPr>
            <p:cNvSpPr txBox="1"/>
            <p:nvPr/>
          </p:nvSpPr>
          <p:spPr>
            <a:xfrm>
              <a:off x="7485349" y="3615488"/>
              <a:ext cx="387285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D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86B28AB-9DDC-451D-AF2C-7BF53147F547}"/>
                </a:ext>
              </a:extLst>
            </p:cNvPr>
            <p:cNvSpPr txBox="1"/>
            <p:nvPr/>
          </p:nvSpPr>
          <p:spPr>
            <a:xfrm>
              <a:off x="7504585" y="2003583"/>
              <a:ext cx="37018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C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89DD0207-8C7D-4792-90C0-9F79EE81D94E}"/>
                </a:ext>
              </a:extLst>
            </p:cNvPr>
            <p:cNvSpPr txBox="1"/>
            <p:nvPr/>
          </p:nvSpPr>
          <p:spPr>
            <a:xfrm>
              <a:off x="8405742" y="2628207"/>
              <a:ext cx="353088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F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2DC0C709-F489-4733-AF26-B46F69D4856B}"/>
                </a:ext>
              </a:extLst>
            </p:cNvPr>
            <p:cNvSpPr txBox="1"/>
            <p:nvPr/>
          </p:nvSpPr>
          <p:spPr>
            <a:xfrm>
              <a:off x="8408583" y="3444092"/>
              <a:ext cx="359501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E</a:t>
              </a:r>
            </a:p>
          </p:txBody>
        </p: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A6228AB5-DC70-4364-939E-E257C07C6A0E}"/>
                </a:ext>
              </a:extLst>
            </p:cNvPr>
            <p:cNvCxnSpPr>
              <a:endCxn id="96" idx="0"/>
            </p:cNvCxnSpPr>
            <p:nvPr/>
          </p:nvCxnSpPr>
          <p:spPr>
            <a:xfrm>
              <a:off x="7097616" y="2062783"/>
              <a:ext cx="8967" cy="8656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BBF244C9-76B3-433E-A376-8E7CD00DF1CD}"/>
                </a:ext>
              </a:extLst>
            </p:cNvPr>
            <p:cNvCxnSpPr>
              <a:stCxn id="95" idx="5"/>
              <a:endCxn id="100" idx="2"/>
            </p:cNvCxnSpPr>
            <p:nvPr/>
          </p:nvCxnSpPr>
          <p:spPr>
            <a:xfrm>
              <a:off x="7122560" y="2077088"/>
              <a:ext cx="588294" cy="4140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85A14D74-483B-4664-9725-9E8901877AD2}"/>
                </a:ext>
              </a:extLst>
            </p:cNvPr>
            <p:cNvCxnSpPr>
              <a:stCxn id="96" idx="7"/>
              <a:endCxn id="100" idx="3"/>
            </p:cNvCxnSpPr>
            <p:nvPr/>
          </p:nvCxnSpPr>
          <p:spPr>
            <a:xfrm flipV="1">
              <a:off x="7138620" y="2523204"/>
              <a:ext cx="585505" cy="41849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5043A4F1-31CC-4E93-9914-48817519402E}"/>
                </a:ext>
              </a:extLst>
            </p:cNvPr>
            <p:cNvCxnSpPr>
              <a:stCxn id="96" idx="5"/>
              <a:endCxn id="97" idx="2"/>
            </p:cNvCxnSpPr>
            <p:nvPr/>
          </p:nvCxnSpPr>
          <p:spPr>
            <a:xfrm>
              <a:off x="7138620" y="3005777"/>
              <a:ext cx="443914" cy="5323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789C929C-3483-4215-BDE8-8F6B908EC489}"/>
                </a:ext>
              </a:extLst>
            </p:cNvPr>
            <p:cNvCxnSpPr>
              <a:stCxn id="100" idx="4"/>
              <a:endCxn id="97" idx="0"/>
            </p:cNvCxnSpPr>
            <p:nvPr/>
          </p:nvCxnSpPr>
          <p:spPr>
            <a:xfrm flipH="1">
              <a:off x="7627843" y="2536474"/>
              <a:ext cx="128320" cy="95635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0C1BB6B2-6A30-4170-99AF-6FB3CE85C3F3}"/>
                </a:ext>
              </a:extLst>
            </p:cNvPr>
            <p:cNvCxnSpPr>
              <a:stCxn id="99" idx="1"/>
              <a:endCxn id="100" idx="6"/>
            </p:cNvCxnSpPr>
            <p:nvPr/>
          </p:nvCxnSpPr>
          <p:spPr>
            <a:xfrm flipH="1" flipV="1">
              <a:off x="7801471" y="2491166"/>
              <a:ext cx="480916" cy="2920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9F4E6115-EDB7-497C-80D7-CB6D45CB5DE7}"/>
                </a:ext>
              </a:extLst>
            </p:cNvPr>
            <p:cNvCxnSpPr>
              <a:stCxn id="98" idx="0"/>
              <a:endCxn id="99" idx="4"/>
            </p:cNvCxnSpPr>
            <p:nvPr/>
          </p:nvCxnSpPr>
          <p:spPr>
            <a:xfrm flipV="1">
              <a:off x="8310306" y="2860565"/>
              <a:ext cx="4119" cy="6775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urved Connector 43">
              <a:extLst>
                <a:ext uri="{FF2B5EF4-FFF2-40B4-BE49-F238E27FC236}">
                  <a16:creationId xmlns:a16="http://schemas.microsoft.com/office/drawing/2014/main" id="{D655B1E9-7808-4828-9EB5-508BD371F69C}"/>
                </a:ext>
              </a:extLst>
            </p:cNvPr>
            <p:cNvCxnSpPr>
              <a:stCxn id="97" idx="6"/>
              <a:endCxn id="100" idx="5"/>
            </p:cNvCxnSpPr>
            <p:nvPr/>
          </p:nvCxnSpPr>
          <p:spPr>
            <a:xfrm flipV="1">
              <a:off x="7673151" y="2523204"/>
              <a:ext cx="115049" cy="1014937"/>
            </a:xfrm>
            <a:prstGeom prst="curved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A87AF302-E178-4FA8-912A-2E1640DA0A31}"/>
              </a:ext>
            </a:extLst>
          </p:cNvPr>
          <p:cNvSpPr txBox="1"/>
          <p:nvPr/>
        </p:nvSpPr>
        <p:spPr>
          <a:xfrm>
            <a:off x="5895224" y="2196760"/>
            <a:ext cx="1442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Application 2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3D4C0DC-B40E-487E-B800-C2162683D760}"/>
              </a:ext>
            </a:extLst>
          </p:cNvPr>
          <p:cNvSpPr txBox="1"/>
          <p:nvPr/>
        </p:nvSpPr>
        <p:spPr>
          <a:xfrm>
            <a:off x="640479" y="4713664"/>
            <a:ext cx="2320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</a:rPr>
              <a:t>Instagram profile page displayed in your browser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95486D2-240E-4728-AF24-903AC935AB53}"/>
              </a:ext>
            </a:extLst>
          </p:cNvPr>
          <p:cNvSpPr txBox="1"/>
          <p:nvPr/>
        </p:nvSpPr>
        <p:spPr>
          <a:xfrm>
            <a:off x="5519336" y="4710036"/>
            <a:ext cx="22426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chemeClr val="bg1">
                    <a:lumMod val="50000"/>
                  </a:schemeClr>
                </a:solidFill>
              </a:rPr>
              <a:t>(Instagram profile page displayed in your IOS app)</a:t>
            </a:r>
          </a:p>
        </p:txBody>
      </p:sp>
      <p:sp>
        <p:nvSpPr>
          <p:cNvPr id="118" name="Right Arrow 8">
            <a:extLst>
              <a:ext uri="{FF2B5EF4-FFF2-40B4-BE49-F238E27FC236}">
                <a16:creationId xmlns:a16="http://schemas.microsoft.com/office/drawing/2014/main" id="{84537147-9AB2-4515-8DC7-A2F3EF6DE150}"/>
              </a:ext>
            </a:extLst>
          </p:cNvPr>
          <p:cNvSpPr/>
          <p:nvPr/>
        </p:nvSpPr>
        <p:spPr>
          <a:xfrm>
            <a:off x="4814458" y="3575399"/>
            <a:ext cx="742950" cy="628650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b="1" dirty="0"/>
              <a:t>load</a:t>
            </a:r>
          </a:p>
        </p:txBody>
      </p:sp>
      <p:sp>
        <p:nvSpPr>
          <p:cNvPr id="119" name="Left Arrow 11">
            <a:extLst>
              <a:ext uri="{FF2B5EF4-FFF2-40B4-BE49-F238E27FC236}">
                <a16:creationId xmlns:a16="http://schemas.microsoft.com/office/drawing/2014/main" id="{66ADD559-E15B-48A0-B312-ACE1AE8CD4B3}"/>
              </a:ext>
            </a:extLst>
          </p:cNvPr>
          <p:cNvSpPr/>
          <p:nvPr/>
        </p:nvSpPr>
        <p:spPr>
          <a:xfrm>
            <a:off x="4764861" y="2941775"/>
            <a:ext cx="800100" cy="571500"/>
          </a:xfrm>
          <a:prstGeom prst="lef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b="1" dirty="0"/>
              <a:t>save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5BAF008-0777-4772-8BB9-DA16EEC9A0C8}"/>
              </a:ext>
            </a:extLst>
          </p:cNvPr>
          <p:cNvCxnSpPr/>
          <p:nvPr/>
        </p:nvCxnSpPr>
        <p:spPr>
          <a:xfrm flipV="1">
            <a:off x="4161203" y="3731554"/>
            <a:ext cx="0" cy="577111"/>
          </a:xfrm>
          <a:prstGeom prst="straightConnector1">
            <a:avLst/>
          </a:prstGeom>
          <a:ln w="38100">
            <a:solidFill>
              <a:srgbClr val="00B050"/>
            </a:solidFill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099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45" grpId="0"/>
      <p:bldP spid="93" grpId="0" animBg="1"/>
      <p:bldP spid="115" grpId="0"/>
      <p:bldP spid="117" grpId="0"/>
      <p:bldP spid="118" grpId="0" animBg="1"/>
      <p:bldP spid="11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A3405-D0CB-4634-BD7D-971714F77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Why JSON? </a:t>
            </a:r>
            <a:r>
              <a:rPr lang="en-US" dirty="0">
                <a:solidFill>
                  <a:srgbClr val="00B050"/>
                </a:solidFill>
              </a:rPr>
              <a:t>Persistence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56361-0FEA-4089-BA65-08FEA188A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19496" y="1690689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>
                <a:solidFill>
                  <a:schemeClr val="accent6"/>
                </a:solidFill>
              </a:rPr>
              <a:t>Common format</a:t>
            </a:r>
            <a:r>
              <a:rPr lang="en-US" dirty="0"/>
              <a:t>, works in many languages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>
                <a:solidFill>
                  <a:schemeClr val="accent6"/>
                </a:solidFill>
              </a:rPr>
              <a:t>Simple, fast</a:t>
            </a:r>
            <a:r>
              <a:rPr lang="en-US" dirty="0"/>
              <a:t> to parse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>
                <a:solidFill>
                  <a:schemeClr val="accent6"/>
                </a:solidFill>
              </a:rPr>
              <a:t>Human-readable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(Learned some lessons from </a:t>
            </a:r>
            <a:r>
              <a:rPr lang="en-US" b="1" dirty="0"/>
              <a:t>XML/CSV…)</a:t>
            </a:r>
          </a:p>
        </p:txBody>
      </p:sp>
    </p:spTree>
    <p:extLst>
      <p:ext uri="{BB962C8B-B14F-4D97-AF65-F5344CB8AC3E}">
        <p14:creationId xmlns:p14="http://schemas.microsoft.com/office/powerpoint/2010/main" val="9918145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0" dirty="0"/>
              <a:t>JSON vs CSV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122" y="1854408"/>
            <a:ext cx="3404154" cy="4436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B050"/>
                </a:solidFill>
              </a:rPr>
              <a:t>         Advantages</a:t>
            </a:r>
          </a:p>
          <a:p>
            <a:pPr lvl="1"/>
            <a:r>
              <a:rPr lang="en-US" sz="1800" dirty="0"/>
              <a:t>Json is more expressive</a:t>
            </a:r>
          </a:p>
          <a:p>
            <a:pPr lvl="1"/>
            <a:r>
              <a:rPr lang="en-US" sz="1800" dirty="0"/>
              <a:t>Supports more data types (str, num, bool, array, etc.)</a:t>
            </a:r>
          </a:p>
          <a:p>
            <a:pPr lvl="1"/>
            <a:r>
              <a:rPr lang="en-US" sz="1800" dirty="0"/>
              <a:t>Json is more readable and standalone, especially for data with many variables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00B050"/>
                </a:solidFill>
              </a:rPr>
              <a:t>         Weaknesses</a:t>
            </a:r>
          </a:p>
          <a:p>
            <a:pPr lvl="1"/>
            <a:r>
              <a:rPr lang="en-US" sz="1800" dirty="0"/>
              <a:t>Json info. is redundant</a:t>
            </a:r>
          </a:p>
          <a:p>
            <a:pPr lvl="1"/>
            <a:r>
              <a:rPr lang="en-US" sz="1800" dirty="0"/>
              <a:t>Json file size is larger</a:t>
            </a:r>
          </a:p>
          <a:p>
            <a:pPr lvl="1"/>
            <a:r>
              <a:rPr lang="en-US" sz="1800" dirty="0"/>
              <a:t>CSV is shorter, simpler</a:t>
            </a:r>
          </a:p>
          <a:p>
            <a:pPr lvl="1"/>
            <a:r>
              <a:rPr lang="en-US" sz="1800" dirty="0"/>
              <a:t>CSV is easier to edit</a:t>
            </a:r>
          </a:p>
          <a:p>
            <a:pPr lvl="1"/>
            <a:r>
              <a:rPr lang="en-US" sz="1800" dirty="0"/>
              <a:t>CSV is faster to parse</a:t>
            </a:r>
          </a:p>
          <a:p>
            <a:pPr lvl="1"/>
            <a:endParaRPr lang="en-US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3647277" y="2181824"/>
            <a:ext cx="4982374" cy="13388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Consolas" panose="020B0609020204030204" pitchFamily="49" charset="0"/>
                <a:cs typeface="Courier New" panose="02070309020205020404" pitchFamily="49" charset="0"/>
              </a:rPr>
              <a:t>{"employees": [</a:t>
            </a:r>
            <a:br>
              <a:rPr lang="en-US" sz="1350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1350" dirty="0">
                <a:latin typeface="Consolas" panose="020B0609020204030204" pitchFamily="49" charset="0"/>
                <a:cs typeface="Courier New" panose="02070309020205020404" pitchFamily="49" charset="0"/>
              </a:rPr>
              <a:t>    { "</a:t>
            </a:r>
            <a:r>
              <a:rPr lang="en-US" sz="1350" dirty="0" err="1">
                <a:latin typeface="Consolas" panose="020B0609020204030204" pitchFamily="49" charset="0"/>
                <a:cs typeface="Courier New" panose="02070309020205020404" pitchFamily="49" charset="0"/>
              </a:rPr>
              <a:t>firstName</a:t>
            </a:r>
            <a:r>
              <a:rPr lang="en-US" sz="1350" dirty="0">
                <a:latin typeface="Consolas" panose="020B0609020204030204" pitchFamily="49" charset="0"/>
                <a:cs typeface="Courier New" panose="02070309020205020404" pitchFamily="49" charset="0"/>
              </a:rPr>
              <a:t>":"John" , "</a:t>
            </a:r>
            <a:r>
              <a:rPr lang="en-US" sz="1350" dirty="0" err="1">
                <a:latin typeface="Consolas" panose="020B0609020204030204" pitchFamily="49" charset="0"/>
                <a:cs typeface="Courier New" panose="02070309020205020404" pitchFamily="49" charset="0"/>
              </a:rPr>
              <a:t>lastName</a:t>
            </a:r>
            <a:r>
              <a:rPr lang="en-US" sz="1350" dirty="0">
                <a:latin typeface="Consolas" panose="020B0609020204030204" pitchFamily="49" charset="0"/>
                <a:cs typeface="Courier New" panose="02070309020205020404" pitchFamily="49" charset="0"/>
              </a:rPr>
              <a:t>":"Doe" }, </a:t>
            </a:r>
            <a:br>
              <a:rPr lang="en-US" sz="1350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1350" dirty="0">
                <a:latin typeface="Consolas" panose="020B0609020204030204" pitchFamily="49" charset="0"/>
                <a:cs typeface="Courier New" panose="02070309020205020404" pitchFamily="49" charset="0"/>
              </a:rPr>
              <a:t>    { "</a:t>
            </a:r>
            <a:r>
              <a:rPr lang="en-US" sz="1350" dirty="0" err="1">
                <a:latin typeface="Consolas" panose="020B0609020204030204" pitchFamily="49" charset="0"/>
                <a:cs typeface="Courier New" panose="02070309020205020404" pitchFamily="49" charset="0"/>
              </a:rPr>
              <a:t>firstName</a:t>
            </a:r>
            <a:r>
              <a:rPr lang="en-US" sz="1350" dirty="0">
                <a:latin typeface="Consolas" panose="020B0609020204030204" pitchFamily="49" charset="0"/>
                <a:cs typeface="Courier New" panose="02070309020205020404" pitchFamily="49" charset="0"/>
              </a:rPr>
              <a:t>":"Anna" , "</a:t>
            </a:r>
            <a:r>
              <a:rPr lang="en-US" sz="1350" dirty="0" err="1">
                <a:latin typeface="Consolas" panose="020B0609020204030204" pitchFamily="49" charset="0"/>
                <a:cs typeface="Courier New" panose="02070309020205020404" pitchFamily="49" charset="0"/>
              </a:rPr>
              <a:t>lastName</a:t>
            </a:r>
            <a:r>
              <a:rPr lang="en-US" sz="1350" dirty="0">
                <a:latin typeface="Consolas" panose="020B0609020204030204" pitchFamily="49" charset="0"/>
                <a:cs typeface="Courier New" panose="02070309020205020404" pitchFamily="49" charset="0"/>
              </a:rPr>
              <a:t>":"Smith" }, </a:t>
            </a:r>
            <a:br>
              <a:rPr lang="en-US" sz="1350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1350" dirty="0">
                <a:latin typeface="Consolas" panose="020B0609020204030204" pitchFamily="49" charset="0"/>
                <a:cs typeface="Courier New" panose="02070309020205020404" pitchFamily="49" charset="0"/>
              </a:rPr>
              <a:t>    { "</a:t>
            </a:r>
            <a:r>
              <a:rPr lang="en-US" sz="1350" dirty="0" err="1">
                <a:latin typeface="Consolas" panose="020B0609020204030204" pitchFamily="49" charset="0"/>
                <a:cs typeface="Courier New" panose="02070309020205020404" pitchFamily="49" charset="0"/>
              </a:rPr>
              <a:t>firstName</a:t>
            </a:r>
            <a:r>
              <a:rPr lang="en-US" sz="1350" dirty="0">
                <a:latin typeface="Consolas" panose="020B0609020204030204" pitchFamily="49" charset="0"/>
                <a:cs typeface="Courier New" panose="02070309020205020404" pitchFamily="49" charset="0"/>
              </a:rPr>
              <a:t>":"Peter" , "</a:t>
            </a:r>
            <a:r>
              <a:rPr lang="en-US" sz="1350" dirty="0" err="1">
                <a:latin typeface="Consolas" panose="020B0609020204030204" pitchFamily="49" charset="0"/>
                <a:cs typeface="Courier New" panose="02070309020205020404" pitchFamily="49" charset="0"/>
              </a:rPr>
              <a:t>lastName</a:t>
            </a:r>
            <a:r>
              <a:rPr lang="en-US" sz="1350" dirty="0">
                <a:latin typeface="Consolas" panose="020B0609020204030204" pitchFamily="49" charset="0"/>
                <a:cs typeface="Courier New" panose="02070309020205020404" pitchFamily="49" charset="0"/>
              </a:rPr>
              <a:t>":"Jones" }</a:t>
            </a:r>
            <a:br>
              <a:rPr lang="en-US" sz="1350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1350" dirty="0">
                <a:latin typeface="Consolas" panose="020B0609020204030204" pitchFamily="49" charset="0"/>
                <a:cs typeface="Courier New" panose="02070309020205020404" pitchFamily="49" charset="0"/>
              </a:rPr>
              <a:t>  ]</a:t>
            </a:r>
          </a:p>
          <a:p>
            <a:r>
              <a:rPr lang="en-US" sz="1350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7277" y="1906060"/>
            <a:ext cx="54694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47276" y="3772713"/>
            <a:ext cx="45442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CSV</a:t>
            </a:r>
          </a:p>
        </p:txBody>
      </p:sp>
      <p:pic>
        <p:nvPicPr>
          <p:cNvPr id="5" name="Picture 4" descr="A white rectangular object with black lines&#10;&#10;AI-generated content may be incorrect.">
            <a:extLst>
              <a:ext uri="{FF2B5EF4-FFF2-40B4-BE49-F238E27FC236}">
                <a16:creationId xmlns:a16="http://schemas.microsoft.com/office/drawing/2014/main" id="{CCD73EE7-B96F-AF20-299D-B4979F31E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7276" y="4113737"/>
            <a:ext cx="4729664" cy="170224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81863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0" dirty="0"/>
              <a:t>JSON and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2168" y="1837460"/>
            <a:ext cx="8134350" cy="4351338"/>
          </a:xfrm>
        </p:spPr>
        <p:txBody>
          <a:bodyPr>
            <a:normAutofit/>
          </a:bodyPr>
          <a:lstStyle/>
          <a:p>
            <a:pPr marL="0" indent="-157162">
              <a:buNone/>
            </a:pPr>
            <a:r>
              <a:rPr lang="en-US" sz="2400" dirty="0"/>
              <a:t>Default support:</a:t>
            </a:r>
          </a:p>
          <a:p>
            <a:pPr marL="0" indent="-157162">
              <a:buNone/>
            </a:pPr>
            <a: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import </a:t>
            </a:r>
            <a:r>
              <a:rPr lang="en-US" sz="2400" dirty="0" err="1">
                <a:latin typeface="Consolas" panose="020B0609020204030204" pitchFamily="49" charset="0"/>
                <a:cs typeface="Courier New" panose="02070309020205020404" pitchFamily="49" charset="0"/>
              </a:rPr>
              <a:t>json</a:t>
            </a:r>
            <a:endParaRPr lang="en-US" sz="24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b="1" dirty="0"/>
              <a:t>Decoding</a:t>
            </a:r>
            <a:r>
              <a:rPr lang="en-US" sz="2000" dirty="0"/>
              <a:t> JSON strings into objects: 	</a:t>
            </a:r>
            <a:r>
              <a:rPr lang="en-US" sz="2000" b="1" dirty="0">
                <a:solidFill>
                  <a:schemeClr val="accent6"/>
                </a:solidFill>
              </a:rPr>
              <a:t> load</a:t>
            </a:r>
            <a:r>
              <a:rPr lang="en-US" sz="2000" b="1" dirty="0">
                <a:solidFill>
                  <a:srgbClr val="00B050"/>
                </a:solidFill>
              </a:rPr>
              <a:t>s   =   </a:t>
            </a:r>
            <a:r>
              <a:rPr lang="en-US" sz="2000" dirty="0"/>
              <a:t>"</a:t>
            </a:r>
            <a:r>
              <a:rPr lang="en-US" sz="2000" b="1" dirty="0">
                <a:solidFill>
                  <a:schemeClr val="accent6"/>
                </a:solidFill>
              </a:rPr>
              <a:t>load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00B050"/>
                </a:solidFill>
              </a:rPr>
              <a:t>string</a:t>
            </a:r>
            <a:r>
              <a:rPr lang="en-US" sz="2000" dirty="0"/>
              <a:t>"</a:t>
            </a: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json.loads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(string)			</a:t>
            </a:r>
            <a:r>
              <a:rPr lang="en-US" sz="2000" dirty="0">
                <a:cs typeface="Courier New" panose="02070309020205020404" pitchFamily="49" charset="0"/>
              </a:rPr>
              <a:t>string -&gt; Python object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Encoding</a:t>
            </a:r>
            <a:r>
              <a:rPr lang="en-US" sz="2000" dirty="0"/>
              <a:t> Python objects into strings: 	</a:t>
            </a:r>
            <a:r>
              <a:rPr lang="en-US" sz="2000" b="1" dirty="0">
                <a:solidFill>
                  <a:schemeClr val="accent6"/>
                </a:solidFill>
                <a:latin typeface="Consolas" panose="020B0609020204030204" pitchFamily="49" charset="0"/>
              </a:rPr>
              <a:t>dump</a:t>
            </a:r>
            <a:r>
              <a:rPr lang="en-US" sz="2000" b="1" dirty="0">
                <a:solidFill>
                  <a:srgbClr val="00B050"/>
                </a:solidFill>
                <a:latin typeface="Consolas" panose="020B0609020204030204" pitchFamily="49" charset="0"/>
              </a:rPr>
              <a:t>s = </a:t>
            </a:r>
            <a:r>
              <a:rPr lang="en-US" sz="2000" dirty="0"/>
              <a:t>"</a:t>
            </a:r>
            <a:r>
              <a:rPr lang="en-US" sz="2000" b="1" dirty="0">
                <a:solidFill>
                  <a:schemeClr val="accent6"/>
                </a:solidFill>
              </a:rPr>
              <a:t>dump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00B050"/>
                </a:solidFill>
              </a:rPr>
              <a:t>string</a:t>
            </a:r>
            <a:r>
              <a:rPr lang="en-US" sz="2000" dirty="0"/>
              <a:t>"</a:t>
            </a:r>
            <a:endParaRPr lang="en-US" sz="2000" b="1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json.dumps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(object)  		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Python object -&gt; string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727924" y="5564628"/>
            <a:ext cx="4215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http://docs.python.org/3/library/json.html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641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63" r="1493" b="51562"/>
          <a:stretch/>
        </p:blipFill>
        <p:spPr>
          <a:xfrm>
            <a:off x="628650" y="1690688"/>
            <a:ext cx="7907907" cy="3068347"/>
          </a:xfr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F41C92D-8342-9F02-9CF7-BA7C94BF3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b="0" dirty="0"/>
              <a:t>Decoding string to Json (</a:t>
            </a:r>
            <a:r>
              <a:rPr lang="en-US" dirty="0">
                <a:solidFill>
                  <a:srgbClr val="00B050"/>
                </a:solidFill>
              </a:rPr>
              <a:t>loads</a:t>
            </a:r>
            <a:r>
              <a:rPr lang="en-US" b="0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7515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235341C-79C8-B02E-423B-4FCB8A619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b="0" dirty="0"/>
              <a:t>Encoding Json to string (</a:t>
            </a:r>
            <a:r>
              <a:rPr lang="en-US" dirty="0">
                <a:solidFill>
                  <a:srgbClr val="00B050"/>
                </a:solidFill>
              </a:rPr>
              <a:t>dumps</a:t>
            </a:r>
            <a:r>
              <a:rPr lang="en-US" b="0" dirty="0"/>
              <a:t>)</a:t>
            </a:r>
            <a:endParaRPr lang="en-US" dirty="0"/>
          </a:p>
        </p:txBody>
      </p:sp>
      <p:pic>
        <p:nvPicPr>
          <p:cNvPr id="14" name="Content Placeholder 3">
            <a:extLst>
              <a:ext uri="{FF2B5EF4-FFF2-40B4-BE49-F238E27FC236}">
                <a16:creationId xmlns:a16="http://schemas.microsoft.com/office/drawing/2014/main" id="{4970792C-B180-1502-87D5-102E62B51D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63" t="29520" r="1493" b="52232"/>
          <a:stretch/>
        </p:blipFill>
        <p:spPr>
          <a:xfrm>
            <a:off x="628650" y="1764615"/>
            <a:ext cx="7772246" cy="1136094"/>
          </a:xfrm>
        </p:spPr>
      </p:pic>
      <p:pic>
        <p:nvPicPr>
          <p:cNvPr id="15" name="Content Placeholder 3">
            <a:extLst>
              <a:ext uri="{FF2B5EF4-FFF2-40B4-BE49-F238E27FC236}">
                <a16:creationId xmlns:a16="http://schemas.microsoft.com/office/drawing/2014/main" id="{04E6C3A4-CDDD-4164-656C-5AB94D9013F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63" t="63214" r="1493" b="29671"/>
          <a:stretch/>
        </p:blipFill>
        <p:spPr>
          <a:xfrm>
            <a:off x="628650" y="2990060"/>
            <a:ext cx="7772246" cy="442973"/>
          </a:xfrm>
          <a:prstGeom prst="rect">
            <a:avLst/>
          </a:prstGeom>
        </p:spPr>
      </p:pic>
      <p:pic>
        <p:nvPicPr>
          <p:cNvPr id="16" name="Content Placeholder 3">
            <a:extLst>
              <a:ext uri="{FF2B5EF4-FFF2-40B4-BE49-F238E27FC236}">
                <a16:creationId xmlns:a16="http://schemas.microsoft.com/office/drawing/2014/main" id="{B4F3BFBD-B4BC-2B05-FC23-F9720AC8432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63" t="84956" r="1493" b="480"/>
          <a:stretch/>
        </p:blipFill>
        <p:spPr>
          <a:xfrm>
            <a:off x="628650" y="3490357"/>
            <a:ext cx="7772246" cy="906790"/>
          </a:xfrm>
          <a:prstGeom prst="rect">
            <a:avLst/>
          </a:prstGeom>
        </p:spPr>
      </p:pic>
      <p:pic>
        <p:nvPicPr>
          <p:cNvPr id="17" name="Content Placeholder 3">
            <a:extLst>
              <a:ext uri="{FF2B5EF4-FFF2-40B4-BE49-F238E27FC236}">
                <a16:creationId xmlns:a16="http://schemas.microsoft.com/office/drawing/2014/main" id="{11587874-083D-7C74-C410-EA768ACF4D5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63" t="70392" r="1493" b="16395"/>
          <a:stretch/>
        </p:blipFill>
        <p:spPr>
          <a:xfrm>
            <a:off x="628650" y="4468466"/>
            <a:ext cx="7772246" cy="822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42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365126"/>
            <a:ext cx="8349095" cy="1325563"/>
          </a:xfrm>
        </p:spPr>
        <p:txBody>
          <a:bodyPr>
            <a:normAutofit/>
          </a:bodyPr>
          <a:lstStyle/>
          <a:p>
            <a:r>
              <a:rPr lang="en-US" sz="3600" b="0" dirty="0">
                <a:solidFill>
                  <a:srgbClr val="00B050"/>
                </a:solidFill>
              </a:rPr>
              <a:t>Round-trips</a:t>
            </a:r>
            <a:r>
              <a:rPr lang="en-US" sz="3600" b="0" dirty="0"/>
              <a:t> may not yield identical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94453"/>
            <a:ext cx="8681605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800" dirty="0"/>
              <a:t>	</a:t>
            </a:r>
            <a:r>
              <a:rPr lang="en-US" sz="3800" b="1" dirty="0">
                <a:solidFill>
                  <a:srgbClr val="00B050"/>
                </a:solidFill>
              </a:rPr>
              <a:t>Encoding then decoding</a:t>
            </a:r>
            <a:r>
              <a:rPr lang="en-US" sz="3800" dirty="0"/>
              <a:t> may not give exactly the same type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625" dirty="0">
                <a:latin typeface="Consolas" panose="020B0609020204030204" pitchFamily="49" charset="0"/>
                <a:cs typeface="Courier New" panose="02070309020205020404" pitchFamily="49" charset="0"/>
              </a:rPr>
              <a:t>	data = {'a': 'A', 'b': (2, 4)}</a:t>
            </a:r>
          </a:p>
          <a:p>
            <a:pPr marL="0" indent="0">
              <a:buNone/>
            </a:pPr>
            <a:endParaRPr lang="en-US" sz="2625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625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625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2625" b="1" dirty="0" err="1">
                <a:solidFill>
                  <a:schemeClr val="accent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data_string</a:t>
            </a:r>
            <a:r>
              <a:rPr lang="en-US" sz="2625" b="1" dirty="0">
                <a:solidFill>
                  <a:schemeClr val="accent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625" dirty="0">
                <a:latin typeface="Consolas" panose="020B0609020204030204" pitchFamily="49" charset="0"/>
                <a:cs typeface="Courier New" panose="02070309020205020404" pitchFamily="49" charset="0"/>
              </a:rPr>
              <a:t>= </a:t>
            </a:r>
            <a:r>
              <a:rPr lang="en-US" sz="2625" dirty="0" err="1">
                <a:latin typeface="Consolas" panose="020B0609020204030204" pitchFamily="49" charset="0"/>
                <a:cs typeface="Courier New" panose="02070309020205020404" pitchFamily="49" charset="0"/>
              </a:rPr>
              <a:t>json.dumps</a:t>
            </a:r>
            <a:r>
              <a:rPr lang="en-US" sz="2625" dirty="0">
                <a:latin typeface="Consolas" panose="020B0609020204030204" pitchFamily="49" charset="0"/>
                <a:cs typeface="Courier New" panose="02070309020205020404" pitchFamily="49" charset="0"/>
              </a:rPr>
              <a:t>(data)</a:t>
            </a:r>
          </a:p>
          <a:p>
            <a:pPr marL="0" indent="0">
              <a:buNone/>
            </a:pPr>
            <a:r>
              <a:rPr lang="en-US" sz="2625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2625" b="1" dirty="0" err="1">
                <a:solidFill>
                  <a:schemeClr val="accent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data_string</a:t>
            </a:r>
            <a:r>
              <a:rPr lang="en-US" sz="2625" dirty="0">
                <a:latin typeface="Consolas" panose="020B0609020204030204" pitchFamily="49" charset="0"/>
                <a:cs typeface="Courier New" panose="02070309020205020404" pitchFamily="49" charset="0"/>
              </a:rPr>
              <a:t>			</a:t>
            </a:r>
          </a:p>
          <a:p>
            <a:pPr marL="0" indent="0">
              <a:buNone/>
            </a:pPr>
            <a:r>
              <a:rPr lang="en-US" sz="2625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#     '</a:t>
            </a:r>
            <a:r>
              <a:rPr lang="pt-BR" sz="2625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{"a": "A", "b": [2, 4]}'</a:t>
            </a:r>
            <a:endParaRPr lang="en-US" sz="2625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625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625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625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2625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2625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9011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92224"/>
            <a:ext cx="8759536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800" dirty="0"/>
              <a:t>	</a:t>
            </a:r>
            <a:r>
              <a:rPr lang="en-US" sz="3800" b="1" dirty="0">
                <a:solidFill>
                  <a:srgbClr val="00B050"/>
                </a:solidFill>
              </a:rPr>
              <a:t>Encoding then decoding</a:t>
            </a:r>
            <a:r>
              <a:rPr lang="en-US" sz="3800" dirty="0"/>
              <a:t> may not give exactly the same type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625" dirty="0">
                <a:latin typeface="Consolas" panose="020B0609020204030204" pitchFamily="49" charset="0"/>
                <a:cs typeface="Courier New" panose="02070309020205020404" pitchFamily="49" charset="0"/>
              </a:rPr>
              <a:t>	data = {'a': 'A', 'b': </a:t>
            </a:r>
            <a:r>
              <a:rPr lang="en-US" sz="2625" b="1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625" dirty="0">
                <a:latin typeface="Consolas" panose="020B0609020204030204" pitchFamily="49" charset="0"/>
                <a:cs typeface="Courier New" panose="02070309020205020404" pitchFamily="49" charset="0"/>
              </a:rPr>
              <a:t>2, 4</a:t>
            </a:r>
            <a:r>
              <a:rPr lang="en-US" sz="2625" b="1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2625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2625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625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625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2625" b="1" dirty="0" err="1">
                <a:solidFill>
                  <a:schemeClr val="accent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data_string</a:t>
            </a:r>
            <a:r>
              <a:rPr lang="en-US" sz="2625" dirty="0"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en-US" sz="2625" dirty="0" err="1">
                <a:latin typeface="Consolas" panose="020B0609020204030204" pitchFamily="49" charset="0"/>
                <a:cs typeface="Courier New" panose="02070309020205020404" pitchFamily="49" charset="0"/>
              </a:rPr>
              <a:t>json.dumps</a:t>
            </a:r>
            <a:r>
              <a:rPr lang="en-US" sz="2625" dirty="0">
                <a:latin typeface="Consolas" panose="020B0609020204030204" pitchFamily="49" charset="0"/>
                <a:cs typeface="Courier New" panose="02070309020205020404" pitchFamily="49" charset="0"/>
              </a:rPr>
              <a:t>(data)</a:t>
            </a:r>
          </a:p>
          <a:p>
            <a:pPr marL="0" indent="0">
              <a:buNone/>
            </a:pPr>
            <a:r>
              <a:rPr lang="en-US" sz="2625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2625" b="1" dirty="0" err="1">
                <a:solidFill>
                  <a:schemeClr val="accent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data_string</a:t>
            </a:r>
            <a:endParaRPr lang="en-US" sz="2625" b="1" dirty="0">
              <a:solidFill>
                <a:schemeClr val="accent6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625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#     '</a:t>
            </a:r>
            <a:r>
              <a:rPr lang="pt-BR" sz="2625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{"a": "A", "b": </a:t>
            </a:r>
            <a:r>
              <a:rPr lang="pt-BR" sz="2625" b="1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pt-BR" sz="2625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2, 4</a:t>
            </a:r>
            <a:r>
              <a:rPr lang="pt-BR" sz="2625" b="1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pt-BR" sz="2625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}'</a:t>
            </a:r>
            <a:endParaRPr lang="en-US" sz="2625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625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625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625" dirty="0">
                <a:latin typeface="Consolas" panose="020B0609020204030204" pitchFamily="49" charset="0"/>
                <a:cs typeface="Courier New" panose="02070309020205020404" pitchFamily="49" charset="0"/>
              </a:rPr>
              <a:t>	decoded = </a:t>
            </a:r>
            <a:r>
              <a:rPr lang="en-US" sz="2625" dirty="0" err="1">
                <a:latin typeface="Consolas" panose="020B0609020204030204" pitchFamily="49" charset="0"/>
                <a:cs typeface="Courier New" panose="02070309020205020404" pitchFamily="49" charset="0"/>
              </a:rPr>
              <a:t>json.loads</a:t>
            </a:r>
            <a:r>
              <a:rPr lang="en-US" sz="2625" dirty="0"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625" b="1" dirty="0" err="1">
                <a:solidFill>
                  <a:schemeClr val="accent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data_string</a:t>
            </a:r>
            <a:r>
              <a:rPr lang="en-US" sz="2625" dirty="0"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625" dirty="0">
                <a:latin typeface="Consolas" panose="020B0609020204030204" pitchFamily="49" charset="0"/>
                <a:cs typeface="Courier New" panose="02070309020205020404" pitchFamily="49" charset="0"/>
              </a:rPr>
              <a:t>	decoded</a:t>
            </a:r>
          </a:p>
          <a:p>
            <a:pPr marL="0" indent="0">
              <a:buNone/>
            </a:pPr>
            <a:r>
              <a:rPr lang="en-US" sz="2625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#      </a:t>
            </a:r>
            <a:r>
              <a:rPr lang="pt-BR" sz="2625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{'a': 'A', 'b': [2, 4]}</a:t>
            </a:r>
            <a:endParaRPr lang="en-US" sz="2625" b="1" dirty="0">
              <a:solidFill>
                <a:srgbClr val="0070C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9666FE6-76F4-4FE6-A86C-44F87FD8A322}"/>
              </a:ext>
            </a:extLst>
          </p:cNvPr>
          <p:cNvSpPr/>
          <p:nvPr/>
        </p:nvSpPr>
        <p:spPr>
          <a:xfrm>
            <a:off x="3195091" y="2701040"/>
            <a:ext cx="1305706" cy="1202961"/>
          </a:xfrm>
          <a:prstGeom prst="arc">
            <a:avLst>
              <a:gd name="adj1" fmla="val 17893785"/>
              <a:gd name="adj2" fmla="val 3854686"/>
            </a:avLst>
          </a:prstGeom>
          <a:ln w="31750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740ADE-F053-4FB8-A5C0-F956F12B4979}"/>
              </a:ext>
            </a:extLst>
          </p:cNvPr>
          <p:cNvSpPr txBox="1"/>
          <p:nvPr/>
        </p:nvSpPr>
        <p:spPr>
          <a:xfrm>
            <a:off x="4563916" y="3141536"/>
            <a:ext cx="3416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Python </a:t>
            </a:r>
            <a:r>
              <a:rPr lang="en-US" b="1" u="sng" dirty="0">
                <a:solidFill>
                  <a:srgbClr val="FF0000"/>
                </a:solidFill>
              </a:rPr>
              <a:t>tuple</a:t>
            </a:r>
            <a:r>
              <a:rPr lang="en-US" b="1" dirty="0">
                <a:solidFill>
                  <a:srgbClr val="FF0000"/>
                </a:solidFill>
              </a:rPr>
              <a:t> becomes JSON </a:t>
            </a:r>
            <a:r>
              <a:rPr lang="en-US" b="1" u="sng" dirty="0">
                <a:solidFill>
                  <a:srgbClr val="FF0000"/>
                </a:solidFill>
              </a:rPr>
              <a:t>array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DFED177-36A7-2B64-5CC7-9AA94E0D1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65126"/>
            <a:ext cx="8349095" cy="1325563"/>
          </a:xfrm>
        </p:spPr>
        <p:txBody>
          <a:bodyPr>
            <a:normAutofit/>
          </a:bodyPr>
          <a:lstStyle/>
          <a:p>
            <a:r>
              <a:rPr lang="en-US" sz="3600" b="0" dirty="0">
                <a:solidFill>
                  <a:srgbClr val="00B050"/>
                </a:solidFill>
              </a:rPr>
              <a:t>Round-trips</a:t>
            </a:r>
            <a:r>
              <a:rPr lang="en-US" sz="3600" b="0" dirty="0"/>
              <a:t> may not yield identical results</a:t>
            </a:r>
          </a:p>
        </p:txBody>
      </p:sp>
    </p:spTree>
    <p:extLst>
      <p:ext uri="{BB962C8B-B14F-4D97-AF65-F5344CB8AC3E}">
        <p14:creationId xmlns:p14="http://schemas.microsoft.com/office/powerpoint/2010/main" val="2200357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92224"/>
            <a:ext cx="8894618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800" dirty="0"/>
              <a:t>	</a:t>
            </a:r>
            <a:r>
              <a:rPr lang="en-US" sz="3800" b="1" dirty="0">
                <a:solidFill>
                  <a:srgbClr val="00B050"/>
                </a:solidFill>
              </a:rPr>
              <a:t>Encoding then decoding</a:t>
            </a:r>
            <a:r>
              <a:rPr lang="en-US" sz="3800" dirty="0"/>
              <a:t> may not give exactly the same type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625" dirty="0">
                <a:latin typeface="Consolas" panose="020B0609020204030204" pitchFamily="49" charset="0"/>
                <a:cs typeface="Courier New" panose="02070309020205020404" pitchFamily="49" charset="0"/>
              </a:rPr>
              <a:t>	data = {'a': 'A', 'b': </a:t>
            </a:r>
            <a:r>
              <a:rPr lang="en-US" sz="2625" b="1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625" dirty="0">
                <a:latin typeface="Consolas" panose="020B0609020204030204" pitchFamily="49" charset="0"/>
                <a:cs typeface="Courier New" panose="02070309020205020404" pitchFamily="49" charset="0"/>
              </a:rPr>
              <a:t>2, 4</a:t>
            </a:r>
            <a:r>
              <a:rPr lang="en-US" sz="2625" b="1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2625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2625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625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625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2625" b="1" dirty="0" err="1">
                <a:solidFill>
                  <a:schemeClr val="accent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data_string</a:t>
            </a:r>
            <a:r>
              <a:rPr lang="en-US" sz="2625" b="1" dirty="0">
                <a:solidFill>
                  <a:schemeClr val="accent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625" dirty="0">
                <a:latin typeface="Consolas" panose="020B0609020204030204" pitchFamily="49" charset="0"/>
                <a:cs typeface="Courier New" panose="02070309020205020404" pitchFamily="49" charset="0"/>
              </a:rPr>
              <a:t>= </a:t>
            </a:r>
            <a:r>
              <a:rPr lang="en-US" sz="2625" dirty="0" err="1">
                <a:latin typeface="Consolas" panose="020B0609020204030204" pitchFamily="49" charset="0"/>
                <a:cs typeface="Courier New" panose="02070309020205020404" pitchFamily="49" charset="0"/>
              </a:rPr>
              <a:t>json.dumps</a:t>
            </a:r>
            <a:r>
              <a:rPr lang="en-US" sz="2625" dirty="0">
                <a:latin typeface="Consolas" panose="020B0609020204030204" pitchFamily="49" charset="0"/>
                <a:cs typeface="Courier New" panose="02070309020205020404" pitchFamily="49" charset="0"/>
              </a:rPr>
              <a:t>(data)</a:t>
            </a:r>
          </a:p>
          <a:p>
            <a:pPr marL="0" indent="0">
              <a:buNone/>
            </a:pPr>
            <a:r>
              <a:rPr lang="en-US" sz="2625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2625" b="1" dirty="0" err="1">
                <a:solidFill>
                  <a:schemeClr val="accent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data_string</a:t>
            </a:r>
            <a:endParaRPr lang="en-US" sz="2625" b="1" dirty="0">
              <a:solidFill>
                <a:schemeClr val="accent6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625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#     '</a:t>
            </a:r>
            <a:r>
              <a:rPr lang="pt-BR" sz="2625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{"a": "A", "b": </a:t>
            </a:r>
            <a:r>
              <a:rPr lang="pt-BR" sz="2625" b="1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pt-BR" sz="2625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2, 4</a:t>
            </a:r>
            <a:r>
              <a:rPr lang="pt-BR" sz="2625" b="1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pt-BR" sz="2625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}'</a:t>
            </a:r>
            <a:endParaRPr lang="en-US" sz="2625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625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625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625" dirty="0">
                <a:latin typeface="Consolas" panose="020B0609020204030204" pitchFamily="49" charset="0"/>
                <a:cs typeface="Courier New" panose="02070309020205020404" pitchFamily="49" charset="0"/>
              </a:rPr>
              <a:t>	decoded = </a:t>
            </a:r>
            <a:r>
              <a:rPr lang="en-US" sz="2625" dirty="0" err="1">
                <a:latin typeface="Consolas" panose="020B0609020204030204" pitchFamily="49" charset="0"/>
                <a:cs typeface="Courier New" panose="02070309020205020404" pitchFamily="49" charset="0"/>
              </a:rPr>
              <a:t>json.loads</a:t>
            </a:r>
            <a:r>
              <a:rPr lang="en-US" sz="2625" dirty="0"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625" b="1" dirty="0" err="1">
                <a:solidFill>
                  <a:schemeClr val="accent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data_string</a:t>
            </a:r>
            <a:r>
              <a:rPr lang="en-US" sz="2625" dirty="0"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625" dirty="0">
                <a:latin typeface="Consolas" panose="020B0609020204030204" pitchFamily="49" charset="0"/>
                <a:cs typeface="Courier New" panose="02070309020205020404" pitchFamily="49" charset="0"/>
              </a:rPr>
              <a:t>	decoded</a:t>
            </a:r>
          </a:p>
          <a:p>
            <a:pPr marL="0" indent="0">
              <a:buNone/>
            </a:pPr>
            <a:r>
              <a:rPr lang="en-US" sz="2625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#      </a:t>
            </a:r>
            <a:r>
              <a:rPr lang="pt-BR" sz="2625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{'a': 'A', 'b': </a:t>
            </a:r>
            <a:r>
              <a:rPr lang="pt-BR" sz="2625" b="1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pt-BR" sz="2625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2, 4</a:t>
            </a:r>
            <a:r>
              <a:rPr lang="pt-BR" sz="2625" b="1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pt-BR" sz="2625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  <a:endParaRPr lang="en-US" sz="2625" b="1" dirty="0">
              <a:solidFill>
                <a:srgbClr val="0070C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9666FE6-76F4-4FE6-A86C-44F87FD8A322}"/>
              </a:ext>
            </a:extLst>
          </p:cNvPr>
          <p:cNvSpPr/>
          <p:nvPr/>
        </p:nvSpPr>
        <p:spPr>
          <a:xfrm>
            <a:off x="3195091" y="2701040"/>
            <a:ext cx="1305706" cy="1202961"/>
          </a:xfrm>
          <a:prstGeom prst="arc">
            <a:avLst>
              <a:gd name="adj1" fmla="val 17893785"/>
              <a:gd name="adj2" fmla="val 3854686"/>
            </a:avLst>
          </a:prstGeom>
          <a:ln w="31750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740ADE-F053-4FB8-A5C0-F956F12B4979}"/>
              </a:ext>
            </a:extLst>
          </p:cNvPr>
          <p:cNvSpPr txBox="1"/>
          <p:nvPr/>
        </p:nvSpPr>
        <p:spPr>
          <a:xfrm>
            <a:off x="4563916" y="3141536"/>
            <a:ext cx="3416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Python </a:t>
            </a:r>
            <a:r>
              <a:rPr lang="en-US" b="1" u="sng" dirty="0">
                <a:solidFill>
                  <a:srgbClr val="FF0000"/>
                </a:solidFill>
              </a:rPr>
              <a:t>tuple</a:t>
            </a:r>
            <a:r>
              <a:rPr lang="en-US" b="1" dirty="0">
                <a:solidFill>
                  <a:srgbClr val="FF0000"/>
                </a:solidFill>
              </a:rPr>
              <a:t> becomes JSON </a:t>
            </a:r>
            <a:r>
              <a:rPr lang="en-US" b="1" u="sng" dirty="0">
                <a:solidFill>
                  <a:srgbClr val="FF0000"/>
                </a:solidFill>
              </a:rPr>
              <a:t>array</a:t>
            </a:r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8A91B8E7-AA75-49E2-9988-F8146F166863}"/>
              </a:ext>
            </a:extLst>
          </p:cNvPr>
          <p:cNvSpPr/>
          <p:nvPr/>
        </p:nvSpPr>
        <p:spPr>
          <a:xfrm>
            <a:off x="3188184" y="3979181"/>
            <a:ext cx="1305706" cy="1202961"/>
          </a:xfrm>
          <a:prstGeom prst="arc">
            <a:avLst>
              <a:gd name="adj1" fmla="val 17893785"/>
              <a:gd name="adj2" fmla="val 3854686"/>
            </a:avLst>
          </a:prstGeom>
          <a:ln w="31750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AE3CD0-21A9-4BE5-8D68-164C84AD80B8}"/>
              </a:ext>
            </a:extLst>
          </p:cNvPr>
          <p:cNvSpPr txBox="1"/>
          <p:nvPr/>
        </p:nvSpPr>
        <p:spPr>
          <a:xfrm>
            <a:off x="4557009" y="4419677"/>
            <a:ext cx="3199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JSON </a:t>
            </a:r>
            <a:r>
              <a:rPr lang="en-US" b="1" u="sng" dirty="0">
                <a:solidFill>
                  <a:srgbClr val="FF0000"/>
                </a:solidFill>
              </a:rPr>
              <a:t>array</a:t>
            </a:r>
            <a:r>
              <a:rPr lang="en-US" b="1" dirty="0">
                <a:solidFill>
                  <a:srgbClr val="FF0000"/>
                </a:solidFill>
              </a:rPr>
              <a:t> becomes Python </a:t>
            </a:r>
            <a:r>
              <a:rPr lang="en-US" b="1" u="sng" dirty="0">
                <a:solidFill>
                  <a:srgbClr val="FF0000"/>
                </a:solidFill>
              </a:rPr>
              <a:t>list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3BB34A0-ABB6-4F5C-2D28-FED9161C1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65126"/>
            <a:ext cx="8349095" cy="1325563"/>
          </a:xfrm>
        </p:spPr>
        <p:txBody>
          <a:bodyPr>
            <a:normAutofit/>
          </a:bodyPr>
          <a:lstStyle/>
          <a:p>
            <a:r>
              <a:rPr lang="en-US" sz="3600" b="0" dirty="0">
                <a:solidFill>
                  <a:srgbClr val="00B050"/>
                </a:solidFill>
              </a:rPr>
              <a:t>Round-trips</a:t>
            </a:r>
            <a:r>
              <a:rPr lang="en-US" sz="3600" b="0" dirty="0"/>
              <a:t> may not yield identical results</a:t>
            </a:r>
          </a:p>
        </p:txBody>
      </p:sp>
    </p:spTree>
    <p:extLst>
      <p:ext uri="{BB962C8B-B14F-4D97-AF65-F5344CB8AC3E}">
        <p14:creationId xmlns:p14="http://schemas.microsoft.com/office/powerpoint/2010/main" val="38253044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Sorting keys in output</a:t>
            </a:r>
            <a:endParaRPr lang="en-US" b="0" dirty="0">
              <a:solidFill>
                <a:srgbClr val="00B05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322" y="1846407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500" dirty="0">
                <a:latin typeface="Consolas" panose="020B0609020204030204" pitchFamily="49" charset="0"/>
                <a:cs typeface="Courier New" panose="02070309020205020404" pitchFamily="49" charset="0"/>
              </a:rPr>
              <a:t>	data = </a:t>
            </a:r>
            <a:r>
              <a:rPr lang="pt-BR" sz="15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[{'a': 'A', 'b': (2, 4), 'c': 3.0}]</a:t>
            </a:r>
          </a:p>
          <a:p>
            <a:pPr marL="0" indent="0">
              <a:buNone/>
            </a:pPr>
            <a:endParaRPr lang="pt-BR" sz="15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sz="1500" dirty="0">
                <a:latin typeface="Consolas" panose="020B0609020204030204" pitchFamily="49" charset="0"/>
                <a:cs typeface="Courier New" panose="02070309020205020404" pitchFamily="49" charset="0"/>
              </a:rPr>
              <a:t>	json.dumps(data)</a:t>
            </a:r>
          </a:p>
          <a:p>
            <a:pPr marL="0" indent="0">
              <a:buNone/>
            </a:pPr>
            <a:r>
              <a:rPr lang="pt-BR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#</a:t>
            </a:r>
            <a:r>
              <a:rPr lang="pt-BR" sz="1500" dirty="0">
                <a:solidFill>
                  <a:schemeClr val="accent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pt-BR" sz="15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'[{</a:t>
            </a:r>
            <a:r>
              <a:rPr lang="pt-BR" sz="1500" b="1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"a"</a:t>
            </a:r>
            <a:r>
              <a:rPr lang="pt-BR" sz="15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 "A", </a:t>
            </a:r>
            <a:r>
              <a:rPr lang="pt-BR" sz="1500" b="1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"c"</a:t>
            </a:r>
            <a:r>
              <a:rPr lang="pt-BR" sz="15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 3.0, </a:t>
            </a:r>
            <a:r>
              <a:rPr lang="pt-BR" sz="1500" b="1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"b"</a:t>
            </a:r>
            <a:r>
              <a:rPr lang="pt-BR" sz="15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 [2, 4]}]'</a:t>
            </a:r>
            <a:r>
              <a:rPr lang="pt-BR" sz="1500" dirty="0">
                <a:solidFill>
                  <a:schemeClr val="accent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pt-BR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# random key order</a:t>
            </a:r>
          </a:p>
          <a:p>
            <a:pPr marL="0" indent="0">
              <a:buNone/>
            </a:pPr>
            <a:endParaRPr lang="pt-BR" sz="15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sz="1500" dirty="0">
                <a:latin typeface="Consolas" panose="020B0609020204030204" pitchFamily="49" charset="0"/>
                <a:cs typeface="Courier New" panose="02070309020205020404" pitchFamily="49" charset="0"/>
              </a:rPr>
              <a:t>	json.dumps(data, </a:t>
            </a:r>
            <a:r>
              <a:rPr lang="pt-BR" sz="1500" b="1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sort_keys=True</a:t>
            </a:r>
            <a:r>
              <a:rPr lang="pt-BR" sz="1500" dirty="0"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pt-BR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#     </a:t>
            </a:r>
            <a:r>
              <a:rPr lang="pt-BR" sz="15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'[{</a:t>
            </a:r>
            <a:r>
              <a:rPr lang="pt-BR" sz="1500" b="1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"a"</a:t>
            </a:r>
            <a:r>
              <a:rPr lang="pt-BR" sz="15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 "A", </a:t>
            </a:r>
            <a:r>
              <a:rPr lang="pt-BR" sz="1500" b="1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"b"</a:t>
            </a:r>
            <a:r>
              <a:rPr lang="pt-BR" sz="15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 [2, 4], </a:t>
            </a:r>
            <a:r>
              <a:rPr lang="pt-BR" sz="1500" b="1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"c"</a:t>
            </a:r>
            <a:r>
              <a:rPr lang="pt-BR" sz="15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 3.0}]'</a:t>
            </a:r>
            <a:r>
              <a:rPr lang="pt-BR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# sorted key order</a:t>
            </a:r>
          </a:p>
        </p:txBody>
      </p:sp>
    </p:spTree>
    <p:extLst>
      <p:ext uri="{BB962C8B-B14F-4D97-AF65-F5344CB8AC3E}">
        <p14:creationId xmlns:p14="http://schemas.microsoft.com/office/powerpoint/2010/main" val="2576975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Indentation in output</a:t>
            </a: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en-US" b="0" i="1" dirty="0">
              <a:solidFill>
                <a:srgbClr val="00B05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778" y="1804843"/>
            <a:ext cx="7803572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1500" dirty="0">
                <a:latin typeface="Consolas" panose="020B0609020204030204" pitchFamily="49" charset="0"/>
                <a:cs typeface="Courier New" panose="02070309020205020404" pitchFamily="49" charset="0"/>
              </a:rPr>
              <a:t>data = </a:t>
            </a:r>
            <a:r>
              <a:rPr lang="pt-BR" sz="15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[{'a': 'A', 'b': (2, 4), 'c': 3.0}]</a:t>
            </a:r>
            <a:endParaRPr lang="pt-BR" sz="15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pt-BR" sz="15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500" dirty="0">
                <a:latin typeface="Consolas" panose="020B0609020204030204" pitchFamily="49" charset="0"/>
                <a:cs typeface="Courier New" panose="02070309020205020404" pitchFamily="49" charset="0"/>
              </a:rPr>
              <a:t>print(</a:t>
            </a:r>
            <a:r>
              <a:rPr lang="en-US" sz="1500" dirty="0" err="1">
                <a:latin typeface="Consolas" panose="020B0609020204030204" pitchFamily="49" charset="0"/>
                <a:cs typeface="Courier New" panose="02070309020205020404" pitchFamily="49" charset="0"/>
              </a:rPr>
              <a:t>json.dumps</a:t>
            </a:r>
            <a:r>
              <a:rPr lang="en-US" sz="1500" dirty="0">
                <a:latin typeface="Consolas" panose="020B0609020204030204" pitchFamily="49" charset="0"/>
                <a:cs typeface="Courier New" panose="02070309020205020404" pitchFamily="49" charset="0"/>
              </a:rPr>
              <a:t>(data, </a:t>
            </a:r>
            <a:r>
              <a:rPr lang="en-US" sz="1500" dirty="0" err="1">
                <a:latin typeface="Consolas" panose="020B0609020204030204" pitchFamily="49" charset="0"/>
                <a:cs typeface="Courier New" panose="02070309020205020404" pitchFamily="49" charset="0"/>
              </a:rPr>
              <a:t>sort_keys</a:t>
            </a:r>
            <a:r>
              <a:rPr lang="en-US" sz="1500" dirty="0">
                <a:latin typeface="Consolas" panose="020B0609020204030204" pitchFamily="49" charset="0"/>
                <a:cs typeface="Courier New" panose="02070309020205020404" pitchFamily="49" charset="0"/>
              </a:rPr>
              <a:t>=True, </a:t>
            </a:r>
            <a:r>
              <a:rPr lang="en-US" sz="1500" b="1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indent=2</a:t>
            </a:r>
            <a:r>
              <a:rPr lang="en-US" sz="1500" dirty="0">
                <a:latin typeface="Consolas" panose="020B0609020204030204" pitchFamily="49" charset="0"/>
                <a:cs typeface="Courier New" panose="02070309020205020404" pitchFamily="49" charset="0"/>
              </a:rPr>
              <a:t>))	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[</a:t>
            </a:r>
          </a:p>
          <a:p>
            <a:pPr marL="300038" lvl="1" indent="0">
              <a:buNone/>
            </a:pPr>
            <a:r>
              <a:rPr lang="en-US" sz="15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{</a:t>
            </a:r>
          </a:p>
          <a:p>
            <a:pPr marL="300038" lvl="1" indent="0">
              <a:buNone/>
            </a:pPr>
            <a:r>
              <a:rPr lang="en-US" sz="15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"a": "A",</a:t>
            </a:r>
          </a:p>
          <a:p>
            <a:pPr marL="300038" lvl="1" indent="0">
              <a:buNone/>
            </a:pPr>
            <a:r>
              <a:rPr lang="en-US" sz="15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"b": [</a:t>
            </a:r>
          </a:p>
          <a:p>
            <a:pPr marL="300038" lvl="1" indent="0">
              <a:buNone/>
            </a:pPr>
            <a:r>
              <a:rPr lang="en-US" sz="15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2,</a:t>
            </a:r>
          </a:p>
          <a:p>
            <a:pPr marL="300038" lvl="1" indent="0">
              <a:buNone/>
            </a:pPr>
            <a:r>
              <a:rPr lang="en-US" sz="15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4</a:t>
            </a:r>
          </a:p>
          <a:p>
            <a:pPr marL="300038" lvl="1" indent="0">
              <a:buNone/>
            </a:pPr>
            <a:r>
              <a:rPr lang="en-US" sz="15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],</a:t>
            </a:r>
          </a:p>
          <a:p>
            <a:pPr marL="300038" lvl="1" indent="0">
              <a:buNone/>
            </a:pPr>
            <a:r>
              <a:rPr lang="en-US" sz="15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"c": 3.0</a:t>
            </a:r>
          </a:p>
          <a:p>
            <a:pPr marL="300038" lvl="1" indent="0">
              <a:buNone/>
            </a:pPr>
            <a:r>
              <a:rPr lang="en-US" sz="15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}</a:t>
            </a:r>
          </a:p>
          <a:p>
            <a:pPr marL="300038" lvl="1" indent="0">
              <a:buNone/>
            </a:pPr>
            <a:r>
              <a:rPr lang="en-US" sz="15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134743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0" dirty="0"/>
              <a:t>Data preprocessing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3341" y="1836016"/>
            <a:ext cx="7886700" cy="4351338"/>
          </a:xfrm>
        </p:spPr>
        <p:txBody>
          <a:bodyPr/>
          <a:lstStyle/>
          <a:p>
            <a:r>
              <a:rPr lang="en-US" dirty="0"/>
              <a:t>Why preprocess the data?</a:t>
            </a:r>
          </a:p>
          <a:p>
            <a:r>
              <a:rPr lang="en-US" dirty="0"/>
              <a:t>How to clean the data?</a:t>
            </a:r>
          </a:p>
          <a:p>
            <a:r>
              <a:rPr lang="en-US" dirty="0"/>
              <a:t>Data transformation</a:t>
            </a:r>
          </a:p>
          <a:p>
            <a:r>
              <a:rPr lang="en-US" dirty="0"/>
              <a:t>Data reduction</a:t>
            </a:r>
          </a:p>
          <a:p>
            <a:r>
              <a:rPr lang="en-US" dirty="0"/>
              <a:t>Data discretization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1875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0" dirty="0"/>
              <a:t>Why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351338"/>
          </a:xfrm>
        </p:spPr>
        <p:txBody>
          <a:bodyPr>
            <a:normAutofit/>
          </a:bodyPr>
          <a:lstStyle/>
          <a:p>
            <a:r>
              <a:rPr lang="en-US" altLang="en-US" dirty="0"/>
              <a:t>Data in the real world is dirty</a:t>
            </a:r>
          </a:p>
          <a:p>
            <a:pPr lvl="1"/>
            <a:r>
              <a:rPr lang="en-US" altLang="en-US" dirty="0">
                <a:solidFill>
                  <a:srgbClr val="0019FF"/>
                </a:solidFill>
              </a:rPr>
              <a:t>incomplete</a:t>
            </a:r>
            <a:r>
              <a:rPr lang="en-US" altLang="en-US" dirty="0"/>
              <a:t>: lacking attribute values, lacking certain attributes of interest, or containing only aggregate data; </a:t>
            </a:r>
          </a:p>
          <a:p>
            <a:pPr lvl="2"/>
            <a:r>
              <a:rPr lang="en-US" altLang="en-US" dirty="0"/>
              <a:t>Very often you don’t know why certain values are missing.</a:t>
            </a:r>
          </a:p>
          <a:p>
            <a:pPr lvl="1"/>
            <a:r>
              <a:rPr lang="en-US" altLang="en-US" dirty="0">
                <a:solidFill>
                  <a:srgbClr val="0019FF"/>
                </a:solidFill>
              </a:rPr>
              <a:t>noisy</a:t>
            </a:r>
            <a:r>
              <a:rPr lang="en-US" altLang="en-US" dirty="0"/>
              <a:t>: containing errors or outliers</a:t>
            </a:r>
          </a:p>
          <a:p>
            <a:pPr lvl="1"/>
            <a:r>
              <a:rPr lang="en-US" altLang="en-US" dirty="0">
                <a:solidFill>
                  <a:srgbClr val="0019FF"/>
                </a:solidFill>
              </a:rPr>
              <a:t>inconsistent</a:t>
            </a:r>
            <a:r>
              <a:rPr lang="en-US" altLang="en-US" dirty="0"/>
              <a:t>: discrepancies in codes or names</a:t>
            </a:r>
          </a:p>
          <a:p>
            <a:r>
              <a:rPr lang="en-US" altLang="en-US" dirty="0"/>
              <a:t>No quality data, no quality results!</a:t>
            </a:r>
          </a:p>
          <a:p>
            <a:pPr lvl="1"/>
            <a:r>
              <a:rPr lang="en-US" altLang="en-US" dirty="0"/>
              <a:t>Quality decisions must be based on quality data</a:t>
            </a:r>
          </a:p>
          <a:p>
            <a:pPr lvl="1"/>
            <a:r>
              <a:rPr lang="en-US" altLang="en-US" dirty="0"/>
              <a:t>Data warehouse needs consistent integration of quality data – this is often the most difficult part!</a:t>
            </a:r>
          </a:p>
        </p:txBody>
      </p:sp>
    </p:spTree>
    <p:extLst>
      <p:ext uri="{BB962C8B-B14F-4D97-AF65-F5344CB8AC3E}">
        <p14:creationId xmlns:p14="http://schemas.microsoft.com/office/powerpoint/2010/main" val="36310541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0" dirty="0"/>
              <a:t>Inconsistency can be 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disastrous</a:t>
            </a:r>
            <a:endParaRPr lang="en-US" b="0" dirty="0"/>
          </a:p>
        </p:txBody>
      </p:sp>
      <p:pic>
        <p:nvPicPr>
          <p:cNvPr id="1026" name="Picture 2" descr="Image result for Mars Climate Orbiter lost nas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1025" y="1842653"/>
            <a:ext cx="4740275" cy="3555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Content Placehold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18" y="2251074"/>
            <a:ext cx="4459008" cy="277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1544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11E2C-D8EA-B8C4-4D0A-A4671F867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A3B0E-C015-43B5-8738-055ED6D66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292066" cy="1325563"/>
          </a:xfrm>
        </p:spPr>
        <p:txBody>
          <a:bodyPr>
            <a:normAutofit/>
          </a:bodyPr>
          <a:lstStyle/>
          <a:p>
            <a:r>
              <a:rPr lang="en-US" sz="4000" b="0" dirty="0"/>
              <a:t>Data processing is crucial 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89FBD-8DA1-A5A4-5611-C6D6534EF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Roughly 50-80% of initial work of a data science project involves data processing: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accessing, collecting, cleaning, converting, transforming, filtering, aggregating, grouping, summarizing data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rgbClr val="0078B9"/>
                </a:solidFill>
              </a:rPr>
              <a:t>CSS</a:t>
            </a:r>
            <a:r>
              <a:rPr lang="en-US" dirty="0"/>
              <a:t> is tightly coupled with data processing: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Not just in the initial stages, but when iterating with exploration, model building, evaluation…</a:t>
            </a:r>
          </a:p>
        </p:txBody>
      </p:sp>
    </p:spTree>
    <p:extLst>
      <p:ext uri="{BB962C8B-B14F-4D97-AF65-F5344CB8AC3E}">
        <p14:creationId xmlns:p14="http://schemas.microsoft.com/office/powerpoint/2010/main" val="12555095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b="0" dirty="0"/>
              <a:t>Data cleaning</a:t>
            </a:r>
            <a:endParaRPr lang="en-US" b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40000"/>
              </a:lnSpc>
            </a:pPr>
            <a:r>
              <a:rPr lang="en-US" altLang="en-US" dirty="0"/>
              <a:t>Data cleaning tasks</a:t>
            </a:r>
          </a:p>
          <a:p>
            <a:pPr lvl="1">
              <a:lnSpc>
                <a:spcPct val="140000"/>
              </a:lnSpc>
            </a:pPr>
            <a:r>
              <a:rPr lang="en-US" altLang="en-US" dirty="0"/>
              <a:t>Fill in missing values</a:t>
            </a:r>
          </a:p>
          <a:p>
            <a:pPr lvl="2">
              <a:lnSpc>
                <a:spcPct val="140000"/>
              </a:lnSpc>
            </a:pPr>
            <a:r>
              <a:rPr lang="en-US" altLang="en-US" dirty="0"/>
              <a:t>Use the mean/median?</a:t>
            </a:r>
          </a:p>
          <a:p>
            <a:pPr lvl="1">
              <a:lnSpc>
                <a:spcPct val="140000"/>
              </a:lnSpc>
            </a:pPr>
            <a:r>
              <a:rPr lang="en-US" altLang="en-US" dirty="0"/>
              <a:t>Identify outliers and smooth out noisy data</a:t>
            </a:r>
          </a:p>
          <a:p>
            <a:pPr lvl="2">
              <a:lnSpc>
                <a:spcPct val="140000"/>
              </a:lnSpc>
            </a:pPr>
            <a:r>
              <a:rPr lang="en-US" altLang="en-US" dirty="0"/>
              <a:t>Age &gt; 100?</a:t>
            </a:r>
          </a:p>
          <a:p>
            <a:pPr lvl="1">
              <a:lnSpc>
                <a:spcPct val="140000"/>
              </a:lnSpc>
            </a:pPr>
            <a:r>
              <a:rPr lang="en-US" altLang="en-US" dirty="0"/>
              <a:t>Correct inconsistent data</a:t>
            </a:r>
          </a:p>
          <a:p>
            <a:pPr lvl="2">
              <a:lnSpc>
                <a:spcPct val="140000"/>
              </a:lnSpc>
            </a:pPr>
            <a:r>
              <a:rPr lang="en-US" altLang="en-US" dirty="0"/>
              <a:t>IP17 vs IPhone17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18574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b="0" dirty="0"/>
              <a:t>Missing data</a:t>
            </a:r>
            <a:endParaRPr lang="en-US" b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en-US" sz="2400" dirty="0"/>
              <a:t>Data is not always available</a:t>
            </a:r>
          </a:p>
          <a:p>
            <a:pPr lvl="1">
              <a:lnSpc>
                <a:spcPct val="120000"/>
              </a:lnSpc>
            </a:pPr>
            <a:r>
              <a:rPr lang="en-US" altLang="en-US" sz="2000" dirty="0"/>
              <a:t>E.g., many observations have no recorded value for several attributes, such as customer income in sales data</a:t>
            </a:r>
          </a:p>
          <a:p>
            <a:pPr>
              <a:lnSpc>
                <a:spcPct val="120000"/>
              </a:lnSpc>
            </a:pPr>
            <a:r>
              <a:rPr lang="en-US" altLang="en-US" sz="2400" dirty="0"/>
              <a:t>Missing data may be due to </a:t>
            </a:r>
          </a:p>
          <a:p>
            <a:pPr lvl="1">
              <a:lnSpc>
                <a:spcPct val="120000"/>
              </a:lnSpc>
            </a:pPr>
            <a:r>
              <a:rPr lang="en-US" altLang="en-US" sz="2000" dirty="0"/>
              <a:t>equipment malfunction</a:t>
            </a:r>
          </a:p>
          <a:p>
            <a:pPr lvl="1">
              <a:lnSpc>
                <a:spcPct val="120000"/>
              </a:lnSpc>
            </a:pPr>
            <a:r>
              <a:rPr lang="en-US" altLang="en-US" sz="2000" dirty="0"/>
              <a:t>inconsistent with other recorded data and thus deleted</a:t>
            </a:r>
          </a:p>
          <a:p>
            <a:pPr lvl="1">
              <a:lnSpc>
                <a:spcPct val="120000"/>
              </a:lnSpc>
            </a:pPr>
            <a:r>
              <a:rPr lang="en-US" altLang="en-US" sz="2000" dirty="0"/>
              <a:t>data not entered due to misunderstanding</a:t>
            </a:r>
          </a:p>
          <a:p>
            <a:pPr lvl="1">
              <a:lnSpc>
                <a:spcPct val="120000"/>
              </a:lnSpc>
            </a:pPr>
            <a:r>
              <a:rPr lang="en-US" altLang="en-US" sz="2000" dirty="0"/>
              <a:t>certain data may not be considered important at the time of entry</a:t>
            </a:r>
          </a:p>
          <a:p>
            <a:pPr lvl="1">
              <a:lnSpc>
                <a:spcPct val="120000"/>
              </a:lnSpc>
            </a:pPr>
            <a:r>
              <a:rPr lang="en-US" altLang="en-US" sz="2000" dirty="0"/>
              <a:t>not register history or changes of the data</a:t>
            </a:r>
          </a:p>
          <a:p>
            <a:pPr>
              <a:lnSpc>
                <a:spcPct val="120000"/>
              </a:lnSpc>
            </a:pPr>
            <a:r>
              <a:rPr lang="en-US" altLang="en-US" sz="2400" dirty="0"/>
              <a:t>Missing data may need to be inferred.</a:t>
            </a:r>
          </a:p>
        </p:txBody>
      </p:sp>
    </p:spTree>
    <p:extLst>
      <p:ext uri="{BB962C8B-B14F-4D97-AF65-F5344CB8AC3E}">
        <p14:creationId xmlns:p14="http://schemas.microsoft.com/office/powerpoint/2010/main" val="35775552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b="0" dirty="0"/>
              <a:t>How to handle missing data?</a:t>
            </a:r>
            <a:endParaRPr lang="en-US" b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>
            <a:normAutofit fontScale="92500"/>
          </a:bodyPr>
          <a:lstStyle/>
          <a:p>
            <a:pPr>
              <a:lnSpc>
                <a:spcPct val="140000"/>
              </a:lnSpc>
            </a:pPr>
            <a:r>
              <a:rPr lang="en-US" altLang="en-US" dirty="0"/>
              <a:t>Fill in the missing value </a:t>
            </a:r>
            <a:r>
              <a:rPr lang="en-US" altLang="en-US" dirty="0">
                <a:solidFill>
                  <a:srgbClr val="0019FF"/>
                </a:solidFill>
              </a:rPr>
              <a:t>manually</a:t>
            </a:r>
            <a:r>
              <a:rPr lang="en-US" altLang="en-US" dirty="0"/>
              <a:t>: tedious + infeasible?</a:t>
            </a:r>
          </a:p>
          <a:p>
            <a:pPr>
              <a:lnSpc>
                <a:spcPct val="140000"/>
              </a:lnSpc>
            </a:pPr>
            <a:r>
              <a:rPr lang="en-US" altLang="en-US" dirty="0"/>
              <a:t>Use a global </a:t>
            </a:r>
            <a:r>
              <a:rPr lang="en-US" altLang="en-US" dirty="0">
                <a:solidFill>
                  <a:srgbClr val="0019FF"/>
                </a:solidFill>
              </a:rPr>
              <a:t>constant</a:t>
            </a:r>
            <a:r>
              <a:rPr lang="en-US" altLang="en-US" dirty="0"/>
              <a:t> to fill in the missing value: e.g., “unknown”, a new class?! </a:t>
            </a:r>
          </a:p>
          <a:p>
            <a:pPr>
              <a:lnSpc>
                <a:spcPct val="140000"/>
              </a:lnSpc>
            </a:pPr>
            <a:r>
              <a:rPr lang="en-US" altLang="en-US" dirty="0"/>
              <a:t>Use the attribute </a:t>
            </a:r>
            <a:r>
              <a:rPr lang="en-US" altLang="en-US" dirty="0">
                <a:solidFill>
                  <a:srgbClr val="0019FF"/>
                </a:solidFill>
              </a:rPr>
              <a:t>mean</a:t>
            </a:r>
            <a:r>
              <a:rPr lang="en-US" altLang="en-US" dirty="0"/>
              <a:t> to fill in the missing value</a:t>
            </a:r>
          </a:p>
          <a:p>
            <a:pPr>
              <a:lnSpc>
                <a:spcPct val="140000"/>
              </a:lnSpc>
            </a:pPr>
            <a:r>
              <a:rPr lang="en-US" altLang="en-US" dirty="0"/>
              <a:t>Use the </a:t>
            </a:r>
            <a:r>
              <a:rPr lang="en-US" altLang="en-US" dirty="0">
                <a:solidFill>
                  <a:srgbClr val="0019FF"/>
                </a:solidFill>
              </a:rPr>
              <a:t>most probable value </a:t>
            </a:r>
            <a:r>
              <a:rPr lang="en-US" altLang="en-US" dirty="0"/>
              <a:t>to fill in the missing value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altLang="en-US" dirty="0"/>
              <a:t>   (e.g., impute using the mean of </a:t>
            </a:r>
            <a:r>
              <a:rPr lang="en-US" altLang="en-US" i="1" dirty="0"/>
              <a:t>n</a:t>
            </a:r>
            <a:r>
              <a:rPr lang="en-US" altLang="en-US" dirty="0"/>
              <a:t> similar data points; KNN)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4715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b="0" dirty="0"/>
              <a:t>Noise data</a:t>
            </a:r>
            <a:endParaRPr lang="en-US" b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/>
              <a:t>Noise: random error or variance in a measured variable</a:t>
            </a:r>
          </a:p>
          <a:p>
            <a:r>
              <a:rPr lang="en-US" altLang="en-US" sz="2400" dirty="0"/>
              <a:t>Incorrect values may be due to</a:t>
            </a:r>
          </a:p>
          <a:p>
            <a:pPr lvl="1"/>
            <a:r>
              <a:rPr lang="en-US" altLang="en-US" dirty="0"/>
              <a:t>faulty data collection instruments</a:t>
            </a:r>
          </a:p>
          <a:p>
            <a:pPr lvl="1"/>
            <a:r>
              <a:rPr lang="en-US" altLang="en-US" dirty="0"/>
              <a:t>data entry problems</a:t>
            </a:r>
          </a:p>
          <a:p>
            <a:pPr lvl="1"/>
            <a:r>
              <a:rPr lang="en-US" altLang="en-US" dirty="0"/>
              <a:t>data transmission problems</a:t>
            </a:r>
          </a:p>
          <a:p>
            <a:pPr lvl="1"/>
            <a:r>
              <a:rPr lang="en-US" altLang="en-US" dirty="0"/>
              <a:t>inconsistency in naming convention </a:t>
            </a:r>
          </a:p>
          <a:p>
            <a:r>
              <a:rPr lang="en-US" altLang="en-US" sz="2400" dirty="0"/>
              <a:t>Other data noise problems which require data cleaning</a:t>
            </a:r>
          </a:p>
          <a:p>
            <a:pPr lvl="1"/>
            <a:r>
              <a:rPr lang="en-US" altLang="en-US" dirty="0"/>
              <a:t>duplicate records</a:t>
            </a:r>
          </a:p>
          <a:p>
            <a:pPr lvl="1"/>
            <a:r>
              <a:rPr lang="en-US" altLang="en-US" dirty="0"/>
              <a:t>incomplete data</a:t>
            </a:r>
          </a:p>
          <a:p>
            <a:pPr lvl="1"/>
            <a:r>
              <a:rPr lang="en-US" altLang="en-US" dirty="0"/>
              <a:t>inconsistent data</a:t>
            </a:r>
          </a:p>
        </p:txBody>
      </p:sp>
    </p:spTree>
    <p:extLst>
      <p:ext uri="{BB962C8B-B14F-4D97-AF65-F5344CB8AC3E}">
        <p14:creationId xmlns:p14="http://schemas.microsoft.com/office/powerpoint/2010/main" val="8572071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0" dirty="0"/>
              <a:t>How to handle noisy 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/>
              <a:t>Binning method:</a:t>
            </a:r>
          </a:p>
          <a:p>
            <a:pPr lvl="1"/>
            <a:r>
              <a:rPr lang="en-US" altLang="en-US" sz="2000" dirty="0"/>
              <a:t>first sort data and partition into (equal-size) bins</a:t>
            </a:r>
          </a:p>
          <a:p>
            <a:pPr lvl="1"/>
            <a:r>
              <a:rPr lang="en-US" altLang="en-US" sz="2000" dirty="0"/>
              <a:t>then smooth by bin mean, median, boundaries, etc.</a:t>
            </a:r>
          </a:p>
          <a:p>
            <a:r>
              <a:rPr lang="en-US" altLang="en-US" sz="2400" dirty="0"/>
              <a:t>Clustering</a:t>
            </a:r>
          </a:p>
          <a:p>
            <a:pPr lvl="1"/>
            <a:r>
              <a:rPr lang="en-US" altLang="en-US" sz="2000" dirty="0"/>
              <a:t>detect and remove outliers</a:t>
            </a:r>
          </a:p>
          <a:p>
            <a:r>
              <a:rPr lang="en-US" altLang="en-US" sz="2400" dirty="0"/>
              <a:t>Combined computer and human inspection</a:t>
            </a:r>
          </a:p>
          <a:p>
            <a:pPr lvl="1"/>
            <a:r>
              <a:rPr lang="en-US" altLang="en-US" sz="2000" dirty="0"/>
              <a:t>detect suspicious values and check by human</a:t>
            </a:r>
          </a:p>
          <a:p>
            <a:r>
              <a:rPr lang="en-US" altLang="en-US" sz="2400" dirty="0"/>
              <a:t>Regression</a:t>
            </a:r>
          </a:p>
          <a:p>
            <a:pPr lvl="1"/>
            <a:r>
              <a:rPr lang="en-US" altLang="en-US" sz="2000" dirty="0"/>
              <a:t>smooth by fitting the data into regression functions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11066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0" dirty="0"/>
              <a:t>Data binning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Equal-width (distance) partitioning:</a:t>
            </a:r>
          </a:p>
          <a:p>
            <a:pPr lvl="1">
              <a:spcBef>
                <a:spcPct val="0"/>
              </a:spcBef>
            </a:pPr>
            <a:r>
              <a:rPr lang="en-US" altLang="en-US" sz="2000" dirty="0"/>
              <a:t>It divides the range into </a:t>
            </a:r>
            <a:r>
              <a:rPr lang="en-US" altLang="en-US" sz="2000" i="1" dirty="0"/>
              <a:t>N</a:t>
            </a:r>
            <a:r>
              <a:rPr lang="en-US" altLang="en-US" sz="2000" dirty="0"/>
              <a:t> intervals of equal size: </a:t>
            </a:r>
            <a:r>
              <a:rPr lang="en-US" altLang="en-US" sz="2000" dirty="0">
                <a:solidFill>
                  <a:srgbClr val="39513E"/>
                </a:solidFill>
              </a:rPr>
              <a:t>uniform grid</a:t>
            </a:r>
            <a:endParaRPr lang="en-US" altLang="en-US" sz="2000" dirty="0">
              <a:solidFill>
                <a:schemeClr val="hlink"/>
              </a:solidFill>
            </a:endParaRPr>
          </a:p>
          <a:p>
            <a:pPr lvl="1">
              <a:spcBef>
                <a:spcPct val="0"/>
              </a:spcBef>
            </a:pPr>
            <a:r>
              <a:rPr lang="en-US" altLang="en-US" sz="2000" dirty="0"/>
              <a:t>if </a:t>
            </a:r>
            <a:r>
              <a:rPr lang="en-US" altLang="en-US" sz="2000" i="1" dirty="0"/>
              <a:t>A</a:t>
            </a:r>
            <a:r>
              <a:rPr lang="en-US" altLang="en-US" sz="2000" dirty="0"/>
              <a:t> and </a:t>
            </a:r>
            <a:r>
              <a:rPr lang="en-US" altLang="en-US" sz="2000" i="1" dirty="0"/>
              <a:t>B</a:t>
            </a:r>
            <a:r>
              <a:rPr lang="en-US" altLang="en-US" sz="2000" dirty="0"/>
              <a:t> are the lowest and highest values of the variable, the width of intervals will be: W = (B-A)/N</a:t>
            </a:r>
            <a:r>
              <a:rPr lang="en-US" altLang="en-US" sz="2000" i="1" dirty="0"/>
              <a:t>.</a:t>
            </a:r>
            <a:endParaRPr lang="en-US" altLang="en-US" sz="2000" dirty="0"/>
          </a:p>
          <a:p>
            <a:pPr lvl="1">
              <a:spcBef>
                <a:spcPct val="0"/>
              </a:spcBef>
            </a:pPr>
            <a:r>
              <a:rPr lang="en-US" altLang="en-US" sz="2000" dirty="0"/>
              <a:t>The most straightforward</a:t>
            </a:r>
          </a:p>
          <a:p>
            <a:pPr lvl="1">
              <a:spcBef>
                <a:spcPct val="0"/>
              </a:spcBef>
            </a:pPr>
            <a:r>
              <a:rPr lang="en-US" altLang="en-US" sz="2000" dirty="0"/>
              <a:t>But outliers may dominate presentation</a:t>
            </a:r>
          </a:p>
          <a:p>
            <a:pPr lvl="1">
              <a:spcBef>
                <a:spcPct val="0"/>
              </a:spcBef>
            </a:pPr>
            <a:r>
              <a:rPr lang="en-US" altLang="en-US" sz="2000" dirty="0"/>
              <a:t>Skewed data is not handled well.</a:t>
            </a:r>
            <a:endParaRPr lang="en-US" altLang="en-US" sz="2000" i="1" dirty="0"/>
          </a:p>
          <a:p>
            <a:r>
              <a:rPr lang="en-US" altLang="en-US" sz="2400" dirty="0"/>
              <a:t>Equal-size (frequency) partitioning:</a:t>
            </a:r>
          </a:p>
          <a:p>
            <a:pPr lvl="1">
              <a:spcBef>
                <a:spcPct val="0"/>
              </a:spcBef>
            </a:pPr>
            <a:r>
              <a:rPr lang="en-US" altLang="en-US" sz="2000" dirty="0"/>
              <a:t>It divides the range into </a:t>
            </a:r>
            <a:r>
              <a:rPr lang="en-US" altLang="en-US" sz="2000" i="1" dirty="0"/>
              <a:t>N</a:t>
            </a:r>
            <a:r>
              <a:rPr lang="en-US" altLang="en-US" sz="2000" dirty="0"/>
              <a:t> intervals, each containing approximately same number of samples</a:t>
            </a:r>
          </a:p>
          <a:p>
            <a:pPr lvl="1">
              <a:spcBef>
                <a:spcPct val="0"/>
              </a:spcBef>
            </a:pPr>
            <a:r>
              <a:rPr lang="en-US" altLang="en-US" sz="2000" dirty="0"/>
              <a:t>Good data scaling</a:t>
            </a:r>
          </a:p>
          <a:p>
            <a:pPr lvl="1">
              <a:spcBef>
                <a:spcPct val="0"/>
              </a:spcBef>
            </a:pPr>
            <a:r>
              <a:rPr lang="en-US" altLang="en-US" sz="2000" dirty="0"/>
              <a:t>Managing categorical attributes can be tricky</a:t>
            </a:r>
            <a:r>
              <a:rPr lang="en-US" alt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0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0" dirty="0"/>
              <a:t>Data binning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en-US" sz="2000" dirty="0"/>
              <a:t>Sorted data for price (in dollars): 4, 8, 9, 15, 21, 21, 24, 25, 26, 28, 29, 34</a:t>
            </a:r>
          </a:p>
          <a:p>
            <a:pPr>
              <a:buNone/>
            </a:pPr>
            <a:r>
              <a:rPr lang="en-US" altLang="en-US" sz="2000" dirty="0"/>
              <a:t>*  Partition into (equal-size) bins:</a:t>
            </a:r>
          </a:p>
          <a:p>
            <a:pPr>
              <a:buNone/>
            </a:pPr>
            <a:r>
              <a:rPr lang="en-US" altLang="en-US" sz="2000" dirty="0"/>
              <a:t>      - Bin 1: 4, 8, 9, 15</a:t>
            </a:r>
          </a:p>
          <a:p>
            <a:pPr>
              <a:buNone/>
            </a:pPr>
            <a:r>
              <a:rPr lang="en-US" altLang="en-US" sz="2000" dirty="0"/>
              <a:t>      - Bin 2: 21, 21, 24, 25</a:t>
            </a:r>
          </a:p>
          <a:p>
            <a:pPr>
              <a:buNone/>
            </a:pPr>
            <a:r>
              <a:rPr lang="en-US" altLang="en-US" sz="2000" dirty="0"/>
              <a:t>      - Bin 3: 26, 28, 29, 34</a:t>
            </a:r>
          </a:p>
        </p:txBody>
      </p:sp>
    </p:spTree>
    <p:extLst>
      <p:ext uri="{BB962C8B-B14F-4D97-AF65-F5344CB8AC3E}">
        <p14:creationId xmlns:p14="http://schemas.microsoft.com/office/powerpoint/2010/main" val="132730207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0" dirty="0"/>
              <a:t>Data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400" dirty="0"/>
              <a:t>Smoothing: remove noise from data</a:t>
            </a:r>
          </a:p>
          <a:p>
            <a:pPr>
              <a:lnSpc>
                <a:spcPct val="110000"/>
              </a:lnSpc>
            </a:pPr>
            <a:r>
              <a:rPr lang="en-US" altLang="en-US" sz="2400" dirty="0"/>
              <a:t>Normalization: scaled to fall within a small, specified range</a:t>
            </a:r>
          </a:p>
          <a:p>
            <a:pPr lvl="1">
              <a:lnSpc>
                <a:spcPct val="110000"/>
              </a:lnSpc>
            </a:pPr>
            <a:r>
              <a:rPr lang="en-US" altLang="en-US" sz="2000" dirty="0"/>
              <a:t>min-max normalization</a:t>
            </a:r>
          </a:p>
          <a:p>
            <a:pPr lvl="1">
              <a:lnSpc>
                <a:spcPct val="110000"/>
              </a:lnSpc>
            </a:pPr>
            <a:r>
              <a:rPr lang="en-US" altLang="en-US" sz="2000" dirty="0"/>
              <a:t>z-score normalization</a:t>
            </a:r>
          </a:p>
          <a:p>
            <a:pPr lvl="1">
              <a:lnSpc>
                <a:spcPct val="110000"/>
              </a:lnSpc>
            </a:pPr>
            <a:r>
              <a:rPr lang="en-US" altLang="en-US" sz="2000" dirty="0"/>
              <a:t>normalization by decimal scaling</a:t>
            </a:r>
          </a:p>
        </p:txBody>
      </p:sp>
    </p:spTree>
    <p:extLst>
      <p:ext uri="{BB962C8B-B14F-4D97-AF65-F5344CB8AC3E}">
        <p14:creationId xmlns:p14="http://schemas.microsoft.com/office/powerpoint/2010/main" val="7576093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0" dirty="0"/>
              <a:t>Normalization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85800" y="1752600"/>
            <a:ext cx="8077200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>
                <a:latin typeface="+mn-lt"/>
              </a:rPr>
              <a:t>min-max normalization</a:t>
            </a:r>
          </a:p>
          <a:p>
            <a:pPr lvl="1"/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r>
              <a:rPr lang="en-US" altLang="en-US" sz="2400" dirty="0">
                <a:latin typeface="+mn-lt"/>
              </a:rPr>
              <a:t>z-score normalization</a:t>
            </a:r>
          </a:p>
          <a:p>
            <a:pPr lvl="1"/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r>
              <a:rPr lang="en-US" altLang="en-US" sz="2400" dirty="0">
                <a:latin typeface="+mn-lt"/>
              </a:rPr>
              <a:t>normalization by decimal scaling (or log scale)</a:t>
            </a:r>
          </a:p>
          <a:p>
            <a:pPr marL="457200" lvl="1" indent="0">
              <a:buNone/>
            </a:pPr>
            <a:endParaRPr lang="en-US" altLang="en-US" dirty="0"/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7994333"/>
              </p:ext>
            </p:extLst>
          </p:nvPr>
        </p:nvGraphicFramePr>
        <p:xfrm>
          <a:off x="1219200" y="2209800"/>
          <a:ext cx="4908451" cy="5853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40080" imgH="393480" progId="Equation.3">
                  <p:embed/>
                </p:oleObj>
              </mc:Choice>
              <mc:Fallback>
                <p:oleObj name="Equation" r:id="rId2" imgW="3340080" imgH="393480" progId="Equation.3">
                  <p:embed/>
                  <p:pic>
                    <p:nvPicPr>
                      <p:cNvPr id="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209800"/>
                        <a:ext cx="4908451" cy="5853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3182291"/>
              </p:ext>
            </p:extLst>
          </p:nvPr>
        </p:nvGraphicFramePr>
        <p:xfrm>
          <a:off x="1219200" y="3685719"/>
          <a:ext cx="1747850" cy="6295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28520" imgH="419040" progId="Equation.3">
                  <p:embed/>
                </p:oleObj>
              </mc:Choice>
              <mc:Fallback>
                <p:oleObj name="Equation" r:id="rId4" imgW="1028520" imgH="419040" progId="Equation.3">
                  <p:embed/>
                  <p:pic>
                    <p:nvPicPr>
                      <p:cNvPr id="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685719"/>
                        <a:ext cx="1747850" cy="6295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0598120"/>
              </p:ext>
            </p:extLst>
          </p:nvPr>
        </p:nvGraphicFramePr>
        <p:xfrm>
          <a:off x="1219200" y="4997677"/>
          <a:ext cx="715196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95000" imgH="393480" progId="Equation.3">
                  <p:embed/>
                </p:oleObj>
              </mc:Choice>
              <mc:Fallback>
                <p:oleObj name="Equation" r:id="rId6" imgW="495000" imgH="393480" progId="Equation.3">
                  <p:embed/>
                  <p:pic>
                    <p:nvPicPr>
                      <p:cNvPr id="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997677"/>
                        <a:ext cx="715196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2093125" y="5088885"/>
            <a:ext cx="61261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en-US" sz="2000" dirty="0">
                <a:latin typeface="Times New Roman" panose="02020603050405020304" pitchFamily="18" charset="0"/>
              </a:rPr>
              <a:t>Where </a:t>
            </a:r>
            <a:r>
              <a:rPr lang="en-US" altLang="en-US" sz="2000" i="1" dirty="0">
                <a:latin typeface="Times New Roman" panose="02020603050405020304" pitchFamily="18" charset="0"/>
              </a:rPr>
              <a:t>j</a:t>
            </a:r>
            <a:r>
              <a:rPr lang="en-US" altLang="en-US" sz="2000" dirty="0">
                <a:latin typeface="Times New Roman" panose="02020603050405020304" pitchFamily="18" charset="0"/>
              </a:rPr>
              <a:t> is the smallest integer such that Max(|     |)&lt;1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0292437"/>
              </p:ext>
            </p:extLst>
          </p:nvPr>
        </p:nvGraphicFramePr>
        <p:xfrm>
          <a:off x="6932102" y="5143500"/>
          <a:ext cx="244486" cy="3086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9680" imgH="177480" progId="Equation.3">
                  <p:embed/>
                </p:oleObj>
              </mc:Choice>
              <mc:Fallback>
                <p:oleObj name="Equation" r:id="rId8" imgW="139680" imgH="177480" progId="Equation.3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2102" y="5143500"/>
                        <a:ext cx="244486" cy="3086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421078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0" dirty="0"/>
              <a:t>Data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825625"/>
            <a:ext cx="8188779" cy="4351338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Data warehouse may store terabytes of data: </a:t>
            </a:r>
          </a:p>
          <a:p>
            <a:pPr lvl="1"/>
            <a:r>
              <a:rPr lang="en-US" altLang="en-US" sz="2000" dirty="0"/>
              <a:t>analysis can take a long time to run on the full dataset.</a:t>
            </a:r>
          </a:p>
          <a:p>
            <a:r>
              <a:rPr lang="en-US" altLang="en-US" sz="2400" dirty="0"/>
              <a:t>Data reduction </a:t>
            </a:r>
          </a:p>
          <a:p>
            <a:pPr lvl="1"/>
            <a:r>
              <a:rPr lang="en-US" altLang="en-US" sz="2000" dirty="0"/>
              <a:t>Obtains a reduced representation of the </a:t>
            </a:r>
            <a:r>
              <a:rPr lang="en-US" altLang="en-US" sz="2000" dirty="0" err="1"/>
              <a:t>dat</a:t>
            </a:r>
            <a:r>
              <a:rPr lang="en-US" altLang="en-US" sz="2000" dirty="0"/>
              <a:t> that is much smaller in volume but produces the same (or almost the same) results.</a:t>
            </a:r>
          </a:p>
          <a:p>
            <a:r>
              <a:rPr lang="en-US" altLang="en-US" sz="2400" dirty="0"/>
              <a:t>Data reduction strategies</a:t>
            </a:r>
          </a:p>
          <a:p>
            <a:pPr lvl="1"/>
            <a:r>
              <a:rPr lang="en-US" altLang="en-US" sz="2000" dirty="0"/>
              <a:t>Random sampling (stratified vs. non-stratified)</a:t>
            </a:r>
          </a:p>
          <a:p>
            <a:pPr lvl="1"/>
            <a:r>
              <a:rPr lang="en-US" altLang="en-US" sz="2000" dirty="0"/>
              <a:t>Dimensionality reduction</a:t>
            </a:r>
          </a:p>
          <a:p>
            <a:pPr lvl="1"/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000747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0" dirty="0"/>
              <a:t>Data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825625"/>
            <a:ext cx="8139793" cy="4351338"/>
          </a:xfrm>
        </p:spPr>
        <p:txBody>
          <a:bodyPr/>
          <a:lstStyle/>
          <a:p>
            <a:r>
              <a:rPr lang="en-US" altLang="en-US" sz="2400" dirty="0"/>
              <a:t>Feature selection (i.e., selecting subset of attributes):</a:t>
            </a:r>
          </a:p>
          <a:p>
            <a:pPr lvl="1"/>
            <a:r>
              <a:rPr lang="en-US" altLang="en-US" sz="2000" dirty="0"/>
              <a:t>Select a minimum set of features </a:t>
            </a:r>
            <a:r>
              <a:rPr lang="en-US" altLang="en-US" sz="2000" dirty="0">
                <a:sym typeface="Symbol" panose="05050102010706020507" pitchFamily="18" charset="2"/>
              </a:rPr>
              <a:t>such that the probability distribution of different classes given the values for those features is as close as possible to the original distribution given the values of all features</a:t>
            </a:r>
            <a:r>
              <a:rPr lang="en-US" altLang="en-US" dirty="0">
                <a:sym typeface="Symbol" panose="05050102010706020507" pitchFamily="18" charset="2"/>
              </a:rPr>
              <a:t>.</a:t>
            </a:r>
          </a:p>
          <a:p>
            <a:pPr lvl="1"/>
            <a:r>
              <a:rPr lang="en-US" altLang="en-US" sz="2000" dirty="0">
                <a:sym typeface="Symbol" panose="05050102010706020507" pitchFamily="18" charset="2"/>
              </a:rPr>
              <a:t>Reduce # of patterns in the data, easier to understand.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4115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0" dirty="0"/>
              <a:t>Data reduction</a:t>
            </a:r>
          </a:p>
        </p:txBody>
      </p:sp>
      <p:pic>
        <p:nvPicPr>
          <p:cNvPr id="40962" name="Picture 2" descr="Image result for deepwalk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958" y="1892898"/>
            <a:ext cx="4438687" cy="333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624830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0" dirty="0"/>
              <a:t>Discretization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486650" cy="435133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en-US" sz="2400" dirty="0"/>
              <a:t>Discretization </a:t>
            </a:r>
          </a:p>
          <a:p>
            <a:pPr lvl="1">
              <a:lnSpc>
                <a:spcPct val="110000"/>
              </a:lnSpc>
            </a:pPr>
            <a:r>
              <a:rPr lang="en-US" altLang="en-US" sz="2000" dirty="0"/>
              <a:t>reduce the number of values for a given continuous attribute by dividing the range of the attribute into intervals. Interval labels can then be used to replace actual data values.</a:t>
            </a:r>
          </a:p>
          <a:p>
            <a:pPr lvl="1">
              <a:lnSpc>
                <a:spcPct val="110000"/>
              </a:lnSpc>
            </a:pPr>
            <a:r>
              <a:rPr lang="en-US" altLang="en-US" sz="2000" dirty="0"/>
              <a:t>E.g. GPA value -&gt; buckets</a:t>
            </a:r>
          </a:p>
          <a:p>
            <a:pPr>
              <a:lnSpc>
                <a:spcPct val="110000"/>
              </a:lnSpc>
            </a:pPr>
            <a:r>
              <a:rPr lang="en-US" altLang="en-US" sz="2400" dirty="0"/>
              <a:t>Concept hierarchies </a:t>
            </a:r>
          </a:p>
          <a:p>
            <a:pPr lvl="1">
              <a:lnSpc>
                <a:spcPct val="110000"/>
              </a:lnSpc>
            </a:pPr>
            <a:r>
              <a:rPr lang="en-US" altLang="en-US" sz="2000" dirty="0"/>
              <a:t>reduce the data by collecting and replacing low level concepts (such as numeric values for the attribute age) by higher level concepts (such as young, middle-aged, or senior).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48298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zhang" id="{16B57925-4BF1-1F47-9CC9-F9B8FF84AD2B}" vid="{9FDA24BC-AEBA-8448-BDDE-8ACFED393888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zhang" id="{16B57925-4BF1-1F47-9CC9-F9B8FF84AD2B}" vid="{9FDA24BC-AEBA-8448-BDDE-8ACFED39388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4999</TotalTime>
  <Words>4054</Words>
  <Application>Microsoft Macintosh PowerPoint</Application>
  <PresentationFormat>On-screen Show (4:3)</PresentationFormat>
  <Paragraphs>547</Paragraphs>
  <Slides>62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7" baseType="lpstr">
      <vt:lpstr>Franklin Gothic FS</vt:lpstr>
      <vt:lpstr>Google Sans</vt:lpstr>
      <vt:lpstr>LM Sans 12</vt:lpstr>
      <vt:lpstr>Abadi MT Condensed Extra Bold</vt:lpstr>
      <vt:lpstr>Abadi MT Condensed Light</vt:lpstr>
      <vt:lpstr>Arial</vt:lpstr>
      <vt:lpstr>Calibri</vt:lpstr>
      <vt:lpstr>Consolas</vt:lpstr>
      <vt:lpstr>Courier New</vt:lpstr>
      <vt:lpstr>Symbol</vt:lpstr>
      <vt:lpstr>Times New Roman</vt:lpstr>
      <vt:lpstr>Wingdings</vt:lpstr>
      <vt:lpstr>Office Theme</vt:lpstr>
      <vt:lpstr>1_Office Theme</vt:lpstr>
      <vt:lpstr>Equation</vt:lpstr>
      <vt:lpstr>SDSC 2005 - Introduction to Computational Social Science  (Lecture 2)</vt:lpstr>
      <vt:lpstr>Agenda for Week 2</vt:lpstr>
      <vt:lpstr>If you need python material</vt:lpstr>
      <vt:lpstr>Before we can analyze data or make fancy visualizations….</vt:lpstr>
      <vt:lpstr>What are Data?</vt:lpstr>
      <vt:lpstr>Data Tables</vt:lpstr>
      <vt:lpstr>Example from Python</vt:lpstr>
      <vt:lpstr>Data collection methods</vt:lpstr>
      <vt:lpstr>Example of survey design </vt:lpstr>
      <vt:lpstr>Modern social data is ubiquitous</vt:lpstr>
      <vt:lpstr>How to collect big social data?</vt:lpstr>
      <vt:lpstr>What’s an API</vt:lpstr>
      <vt:lpstr>Two basic things that APIs do</vt:lpstr>
      <vt:lpstr>Tweets via 3rd party API wrapper</vt:lpstr>
      <vt:lpstr>Collecting Tweets using Tweepy</vt:lpstr>
      <vt:lpstr>Computationally-oriented APIs</vt:lpstr>
      <vt:lpstr>Computationally-oriented APIs</vt:lpstr>
      <vt:lpstr>Computationally-oriented APIs</vt:lpstr>
      <vt:lpstr>What if there is no API wrapper?</vt:lpstr>
      <vt:lpstr>Interacting with APIs in Python</vt:lpstr>
      <vt:lpstr>Web-based API Basics</vt:lpstr>
      <vt:lpstr>Accessing APIs with requests</vt:lpstr>
      <vt:lpstr>What if there is no API at all?</vt:lpstr>
      <vt:lpstr>Welcome to Web Crawling</vt:lpstr>
      <vt:lpstr>Case study: RottenTomatoes</vt:lpstr>
      <vt:lpstr>Step 1: Inspect your data source</vt:lpstr>
      <vt:lpstr>Step 1: Inspect your data source</vt:lpstr>
      <vt:lpstr>Step 2: Divide your tasks</vt:lpstr>
      <vt:lpstr>Step 3: Get the html content</vt:lpstr>
      <vt:lpstr>Step 4: Process HTML source code</vt:lpstr>
      <vt:lpstr>Step 4: Process HTML source code</vt:lpstr>
      <vt:lpstr>Step 4: Process HTML source code</vt:lpstr>
      <vt:lpstr>Why do most APIs return JSON?</vt:lpstr>
      <vt:lpstr>JSON: JavaScript Object Notation</vt:lpstr>
      <vt:lpstr>Why do most APIs return JSON?</vt:lpstr>
      <vt:lpstr>Why JSON? Persistence</vt:lpstr>
      <vt:lpstr>JSON vs CSV</vt:lpstr>
      <vt:lpstr>JSON and Python</vt:lpstr>
      <vt:lpstr>Decoding string to Json (loads)</vt:lpstr>
      <vt:lpstr>Encoding Json to string (dumps)</vt:lpstr>
      <vt:lpstr>Round-trips may not yield identical results</vt:lpstr>
      <vt:lpstr>Round-trips may not yield identical results</vt:lpstr>
      <vt:lpstr>Round-trips may not yield identical results</vt:lpstr>
      <vt:lpstr>Sorting keys in output</vt:lpstr>
      <vt:lpstr>Indentation in output:</vt:lpstr>
      <vt:lpstr>Data preprocessing pipelines</vt:lpstr>
      <vt:lpstr>Why</vt:lpstr>
      <vt:lpstr>Inconsistency can be disastrous</vt:lpstr>
      <vt:lpstr>Data processing is crucial step</vt:lpstr>
      <vt:lpstr>Data cleaning</vt:lpstr>
      <vt:lpstr>Missing data</vt:lpstr>
      <vt:lpstr>How to handle missing data?</vt:lpstr>
      <vt:lpstr>Noise data</vt:lpstr>
      <vt:lpstr>How to handle noisy data?</vt:lpstr>
      <vt:lpstr>Data binning</vt:lpstr>
      <vt:lpstr>Data binning</vt:lpstr>
      <vt:lpstr>Data transformation</vt:lpstr>
      <vt:lpstr>Normalization</vt:lpstr>
      <vt:lpstr>Data reduction</vt:lpstr>
      <vt:lpstr>Data reduction</vt:lpstr>
      <vt:lpstr>Data reduction</vt:lpstr>
      <vt:lpstr>Discretization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SEEM4112 Computing Methods in Data Analytics 1. Introduction</dc:title>
  <dc:creator>Q Z</dc:creator>
  <cp:lastModifiedBy>Prof. PENG Hao</cp:lastModifiedBy>
  <cp:revision>170</cp:revision>
  <dcterms:created xsi:type="dcterms:W3CDTF">2019-01-16T16:49:18Z</dcterms:created>
  <dcterms:modified xsi:type="dcterms:W3CDTF">2026-01-19T07:02:07Z</dcterms:modified>
</cp:coreProperties>
</file>