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5"/>
  </p:notesMasterIdLst>
  <p:sldIdLst>
    <p:sldId id="598" r:id="rId2"/>
    <p:sldId id="331" r:id="rId3"/>
    <p:sldId id="672" r:id="rId4"/>
    <p:sldId id="673" r:id="rId5"/>
    <p:sldId id="674" r:id="rId6"/>
    <p:sldId id="676" r:id="rId7"/>
    <p:sldId id="677" r:id="rId8"/>
    <p:sldId id="701" r:id="rId9"/>
    <p:sldId id="680" r:id="rId10"/>
    <p:sldId id="681" r:id="rId11"/>
    <p:sldId id="679" r:id="rId12"/>
    <p:sldId id="682" r:id="rId13"/>
    <p:sldId id="683" r:id="rId14"/>
    <p:sldId id="703" r:id="rId15"/>
    <p:sldId id="684" r:id="rId16"/>
    <p:sldId id="686" r:id="rId17"/>
    <p:sldId id="685" r:id="rId18"/>
    <p:sldId id="687" r:id="rId19"/>
    <p:sldId id="704" r:id="rId20"/>
    <p:sldId id="688" r:id="rId21"/>
    <p:sldId id="689" r:id="rId22"/>
    <p:sldId id="690" r:id="rId23"/>
    <p:sldId id="691" r:id="rId24"/>
    <p:sldId id="692" r:id="rId25"/>
    <p:sldId id="693" r:id="rId26"/>
    <p:sldId id="695" r:id="rId27"/>
    <p:sldId id="694" r:id="rId28"/>
    <p:sldId id="696" r:id="rId29"/>
    <p:sldId id="698" r:id="rId30"/>
    <p:sldId id="699" r:id="rId31"/>
    <p:sldId id="700" r:id="rId32"/>
    <p:sldId id="671" r:id="rId33"/>
    <p:sldId id="605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B9"/>
    <a:srgbClr val="0432FF"/>
    <a:srgbClr val="001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36732-C8B6-1247-BB98-8D90FCEB993F}" v="1" dt="2021-01-12T06:42:57.855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08"/>
    <p:restoredTop sz="90753"/>
  </p:normalViewPr>
  <p:slideViewPr>
    <p:cSldViewPr snapToGrid="0" snapToObjects="1">
      <p:cViewPr varScale="1">
        <p:scale>
          <a:sx n="115" d="100"/>
          <a:sy n="115" d="100"/>
        </p:scale>
        <p:origin x="8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 Z" userId="0598117016cd6850" providerId="LiveId" clId="{1E336732-C8B6-1247-BB98-8D90FCEB993F}"/>
    <pc:docChg chg="custSel modSld">
      <pc:chgData name="Q Z" userId="0598117016cd6850" providerId="LiveId" clId="{1E336732-C8B6-1247-BB98-8D90FCEB993F}" dt="2021-01-12T06:42:57.854" v="267"/>
      <pc:docMkLst>
        <pc:docMk/>
      </pc:docMkLst>
      <pc:sldChg chg="addSp">
        <pc:chgData name="Q Z" userId="0598117016cd6850" providerId="LiveId" clId="{1E336732-C8B6-1247-BB98-8D90FCEB993F}" dt="2021-01-12T06:42:57.854" v="267"/>
        <pc:sldMkLst>
          <pc:docMk/>
          <pc:sldMk cId="532418191" sldId="26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532418191" sldId="261"/>
            <ac:inkMk id="3" creationId="{A30FF634-57C9-7447-A2A9-0989AB6EC147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00450022" sldId="262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00450022" sldId="262"/>
            <ac:inkMk id="3" creationId="{60C952EA-9E65-F140-B5F4-DC99132B4E6A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495955489" sldId="26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495955489" sldId="264"/>
            <ac:inkMk id="6" creationId="{32BCD74E-1CC4-E842-8CA9-181800AB9985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318632322" sldId="265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318632322" sldId="265"/>
            <ac:inkMk id="4" creationId="{B8BFEC17-95EF-214A-97B0-07A7611296C6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502340965" sldId="27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502340965" sldId="274"/>
            <ac:inkMk id="5" creationId="{86494887-27ED-4E4F-AE19-1D4461D58E14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678248846" sldId="277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678248846" sldId="277"/>
            <ac:inkMk id="5" creationId="{EF01DF33-D127-9845-9AB3-86A8074B59B4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548179530" sldId="28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548179530" sldId="281"/>
            <ac:inkMk id="5" creationId="{FCF82DE6-E3B1-C24C-8507-9D117A6BDB32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688405579" sldId="283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688405579" sldId="283"/>
            <ac:inkMk id="4" creationId="{1EE2DC9D-3483-374E-9030-025F16FF530B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740026222" sldId="286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740026222" sldId="286"/>
            <ac:inkMk id="5" creationId="{51BFC437-AB53-E04E-B9D7-7F023A3FBEA2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144012446" sldId="295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144012446" sldId="295"/>
            <ac:inkMk id="4" creationId="{3C202D86-3016-534E-83B1-6176C2AE0675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800579994" sldId="298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800579994" sldId="298"/>
            <ac:inkMk id="3" creationId="{B1D23E70-D545-4040-85EB-59B1CFB82A4A}"/>
          </ac:inkMkLst>
        </pc:inkChg>
      </pc:sldChg>
      <pc:sldChg chg="modSp mod">
        <pc:chgData name="Q Z" userId="0598117016cd6850" providerId="LiveId" clId="{1E336732-C8B6-1247-BB98-8D90FCEB993F}" dt="2021-01-12T00:36:45.806" v="176" actId="20577"/>
        <pc:sldMkLst>
          <pc:docMk/>
          <pc:sldMk cId="1668323801" sldId="300"/>
        </pc:sldMkLst>
        <pc:spChg chg="mod">
          <ac:chgData name="Q Z" userId="0598117016cd6850" providerId="LiveId" clId="{1E336732-C8B6-1247-BB98-8D90FCEB993F}" dt="2021-01-12T00:36:45.806" v="176" actId="20577"/>
          <ac:spMkLst>
            <pc:docMk/>
            <pc:sldMk cId="1668323801" sldId="300"/>
            <ac:spMk id="3" creationId="{551CAB00-106C-FD48-80DB-4E60597D50E9}"/>
          </ac:spMkLst>
        </pc:sp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105363865" sldId="302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105363865" sldId="302"/>
            <ac:inkMk id="4" creationId="{8587AAA6-D756-A64B-93AF-74519FE60536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062287952" sldId="30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062287952" sldId="304"/>
            <ac:inkMk id="2" creationId="{7C6ADA49-4D6A-3340-9313-17AFD1137008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989142146" sldId="307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989142146" sldId="307"/>
            <ac:inkMk id="4" creationId="{79E07468-77F3-514C-B80C-802205A48887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545004305" sldId="308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545004305" sldId="308"/>
            <ac:inkMk id="4" creationId="{5C043EB2-8D58-D448-A5A6-EF951083F642}"/>
          </ac:inkMkLst>
        </pc:inkChg>
      </pc:sldChg>
      <pc:sldChg chg="addSp modSp mod">
        <pc:chgData name="Q Z" userId="0598117016cd6850" providerId="LiveId" clId="{1E336732-C8B6-1247-BB98-8D90FCEB993F}" dt="2021-01-12T06:42:57.854" v="267"/>
        <pc:sldMkLst>
          <pc:docMk/>
          <pc:sldMk cId="581332896" sldId="309"/>
        </pc:sldMkLst>
        <pc:spChg chg="mod">
          <ac:chgData name="Q Z" userId="0598117016cd6850" providerId="LiveId" clId="{1E336732-C8B6-1247-BB98-8D90FCEB993F}" dt="2021-01-12T00:40:56.082" v="266" actId="113"/>
          <ac:spMkLst>
            <pc:docMk/>
            <pc:sldMk cId="581332896" sldId="309"/>
            <ac:spMk id="3" creationId="{1B15B996-5952-CA44-90B0-02ABAA4EAC6C}"/>
          </ac:spMkLst>
        </pc:spChg>
        <pc:inkChg chg="add">
          <ac:chgData name="Q Z" userId="0598117016cd6850" providerId="LiveId" clId="{1E336732-C8B6-1247-BB98-8D90FCEB993F}" dt="2021-01-12T06:42:57.854" v="267"/>
          <ac:inkMkLst>
            <pc:docMk/>
            <pc:sldMk cId="581332896" sldId="309"/>
            <ac:inkMk id="4" creationId="{B47DC87F-0A15-2342-BA53-E570C6B9257C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758662977" sldId="313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758662977" sldId="313"/>
            <ac:inkMk id="6" creationId="{236CEAF4-9349-8C43-97FA-E755F87043D3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806699933" sldId="31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806699933" sldId="314"/>
            <ac:inkMk id="4" creationId="{824F5F81-9516-B84B-85A3-183C8C8282B0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690263055" sldId="315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690263055" sldId="315"/>
            <ac:inkMk id="6" creationId="{1D5ABB7D-7DB8-0242-92E5-1AC09ED25904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938421699" sldId="320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938421699" sldId="320"/>
            <ac:inkMk id="4" creationId="{F6C17624-A201-7443-A1EF-5BEF317DC94F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08173595" sldId="32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08173595" sldId="321"/>
            <ac:inkMk id="5" creationId="{50BE96FE-AAC5-B447-9208-F7FE53F6A0B9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82143924" sldId="322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82143924" sldId="322"/>
            <ac:inkMk id="4" creationId="{F0D28E15-1894-8146-8F56-660176DCC755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207180606" sldId="323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207180606" sldId="323"/>
            <ac:inkMk id="5" creationId="{D1CB38B3-DBF0-1043-9BE1-8314B02773AE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223405279" sldId="327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223405279" sldId="327"/>
            <ac:inkMk id="4" creationId="{BFFBAD07-1ABE-7246-BB7B-7B93C6C05F60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580820078" sldId="329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580820078" sldId="329"/>
            <ac:inkMk id="6" creationId="{B5F4D88E-6934-564D-BE81-1340A8E269EB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730086564" sldId="33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730086564" sldId="331"/>
            <ac:inkMk id="4" creationId="{F8ED0622-DF26-A748-84B6-474F576CC577}"/>
          </ac:inkMkLst>
        </pc:inkChg>
      </pc:sldChg>
    </pc:docChg>
  </pc:docChgLst>
  <pc:docChgLst>
    <pc:chgData name="Q Z" userId="0598117016cd6850" providerId="LiveId" clId="{D2FDEEAF-84E1-154D-A946-0BAEA53F7449}"/>
    <pc:docChg chg="undo custSel addSld delSld modSld">
      <pc:chgData name="Q Z" userId="0598117016cd6850" providerId="LiveId" clId="{D2FDEEAF-84E1-154D-A946-0BAEA53F7449}" dt="2019-09-04T18:21:47.967" v="1277" actId="20577"/>
      <pc:docMkLst>
        <pc:docMk/>
      </pc:docMkLst>
      <pc:sldChg chg="modSp">
        <pc:chgData name="Q Z" userId="0598117016cd6850" providerId="LiveId" clId="{D2FDEEAF-84E1-154D-A946-0BAEA53F7449}" dt="2019-09-04T17:50:06.927" v="44" actId="20577"/>
        <pc:sldMkLst>
          <pc:docMk/>
          <pc:sldMk cId="2533019783" sldId="256"/>
        </pc:sldMkLst>
        <pc:spChg chg="mod">
          <ac:chgData name="Q Z" userId="0598117016cd6850" providerId="LiveId" clId="{D2FDEEAF-84E1-154D-A946-0BAEA53F7449}" dt="2019-09-04T17:50:06.927" v="44" actId="20577"/>
          <ac:spMkLst>
            <pc:docMk/>
            <pc:sldMk cId="2533019783" sldId="256"/>
            <ac:spMk id="2" creationId="{4F6B6359-AFC8-5749-ABD8-D22C31534A8C}"/>
          </ac:spMkLst>
        </pc:spChg>
        <pc:spChg chg="mod">
          <ac:chgData name="Q Z" userId="0598117016cd6850" providerId="LiveId" clId="{D2FDEEAF-84E1-154D-A946-0BAEA53F7449}" dt="2019-09-04T14:49:56.657" v="31" actId="20577"/>
          <ac:spMkLst>
            <pc:docMk/>
            <pc:sldMk cId="2533019783" sldId="256"/>
            <ac:spMk id="3" creationId="{03BB8D86-7309-C04C-901B-36514C38109C}"/>
          </ac:spMkLst>
        </pc:spChg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595021793" sldId="25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21927036" sldId="258"/>
        </pc:sldMkLst>
      </pc:sldChg>
      <pc:sldChg chg="modSp">
        <pc:chgData name="Q Z" userId="0598117016cd6850" providerId="LiveId" clId="{D2FDEEAF-84E1-154D-A946-0BAEA53F7449}" dt="2019-09-04T17:51:15.354" v="96" actId="20577"/>
        <pc:sldMkLst>
          <pc:docMk/>
          <pc:sldMk cId="2090911193" sldId="260"/>
        </pc:sldMkLst>
        <pc:spChg chg="mod">
          <ac:chgData name="Q Z" userId="0598117016cd6850" providerId="LiveId" clId="{D2FDEEAF-84E1-154D-A946-0BAEA53F7449}" dt="2019-09-04T17:51:15.354" v="96" actId="20577"/>
          <ac:spMkLst>
            <pc:docMk/>
            <pc:sldMk cId="2090911193" sldId="260"/>
            <ac:spMk id="3" creationId="{858FDFE8-5660-3142-B97F-1D1C17F05F34}"/>
          </ac:spMkLst>
        </pc:spChg>
      </pc:sldChg>
      <pc:sldChg chg="modSp add">
        <pc:chgData name="Q Z" userId="0598117016cd6850" providerId="LiveId" clId="{D2FDEEAF-84E1-154D-A946-0BAEA53F7449}" dt="2019-09-04T18:17:04.095" v="715" actId="27636"/>
        <pc:sldMkLst>
          <pc:docMk/>
          <pc:sldMk cId="532418191" sldId="261"/>
        </pc:sldMkLst>
        <pc:spChg chg="mod">
          <ac:chgData name="Q Z" userId="0598117016cd6850" providerId="LiveId" clId="{D2FDEEAF-84E1-154D-A946-0BAEA53F7449}" dt="2019-09-04T18:17:04.095" v="715" actId="27636"/>
          <ac:spMkLst>
            <pc:docMk/>
            <pc:sldMk cId="532418191" sldId="261"/>
            <ac:spMk id="2" creationId="{A41F1BB6-7C99-144F-B969-F0BD4E7E05F1}"/>
          </ac:spMkLst>
        </pc:spChg>
      </pc:sldChg>
      <pc:sldChg chg="del">
        <pc:chgData name="Q Z" userId="0598117016cd6850" providerId="LiveId" clId="{D2FDEEAF-84E1-154D-A946-0BAEA53F7449}" dt="2019-09-04T14:50:58.821" v="34" actId="2696"/>
        <pc:sldMkLst>
          <pc:docMk/>
          <pc:sldMk cId="783585029" sldId="261"/>
        </pc:sldMkLst>
      </pc:sldChg>
      <pc:sldChg chg="modSp add">
        <pc:chgData name="Q Z" userId="0598117016cd6850" providerId="LiveId" clId="{D2FDEEAF-84E1-154D-A946-0BAEA53F7449}" dt="2019-09-04T18:17:04.108" v="716" actId="27636"/>
        <pc:sldMkLst>
          <pc:docMk/>
          <pc:sldMk cId="200450022" sldId="262"/>
        </pc:sldMkLst>
        <pc:spChg chg="mod">
          <ac:chgData name="Q Z" userId="0598117016cd6850" providerId="LiveId" clId="{D2FDEEAF-84E1-154D-A946-0BAEA53F7449}" dt="2019-09-04T18:17:04.108" v="716" actId="27636"/>
          <ac:spMkLst>
            <pc:docMk/>
            <pc:sldMk cId="200450022" sldId="262"/>
            <ac:spMk id="2" creationId="{A41F1BB6-7C99-144F-B969-F0BD4E7E05F1}"/>
          </ac:spMkLst>
        </pc:spChg>
      </pc:sldChg>
      <pc:sldChg chg="del">
        <pc:chgData name="Q Z" userId="0598117016cd6850" providerId="LiveId" clId="{D2FDEEAF-84E1-154D-A946-0BAEA53F7449}" dt="2019-09-04T14:50:58.824" v="37" actId="2696"/>
        <pc:sldMkLst>
          <pc:docMk/>
          <pc:sldMk cId="2838881580" sldId="262"/>
        </pc:sldMkLst>
      </pc:sldChg>
      <pc:sldChg chg="del">
        <pc:chgData name="Q Z" userId="0598117016cd6850" providerId="LiveId" clId="{D2FDEEAF-84E1-154D-A946-0BAEA53F7449}" dt="2019-09-04T14:50:58.823" v="36" actId="2696"/>
        <pc:sldMkLst>
          <pc:docMk/>
          <pc:sldMk cId="1942777124" sldId="263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048896579" sldId="263"/>
        </pc:sldMkLst>
      </pc:sldChg>
      <pc:sldChg chg="del">
        <pc:chgData name="Q Z" userId="0598117016cd6850" providerId="LiveId" clId="{D2FDEEAF-84E1-154D-A946-0BAEA53F7449}" dt="2019-09-04T14:50:58.825" v="38" actId="2696"/>
        <pc:sldMkLst>
          <pc:docMk/>
          <pc:sldMk cId="2231365434" sldId="264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495955489" sldId="264"/>
        </pc:sldMkLst>
      </pc:sldChg>
      <pc:sldChg chg="del">
        <pc:chgData name="Q Z" userId="0598117016cd6850" providerId="LiveId" clId="{D2FDEEAF-84E1-154D-A946-0BAEA53F7449}" dt="2019-09-04T14:50:58.834" v="42" actId="2696"/>
        <pc:sldMkLst>
          <pc:docMk/>
          <pc:sldMk cId="2283137282" sldId="265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318632322" sldId="265"/>
        </pc:sldMkLst>
      </pc:sldChg>
      <pc:sldChg chg="del">
        <pc:chgData name="Q Z" userId="0598117016cd6850" providerId="LiveId" clId="{D2FDEEAF-84E1-154D-A946-0BAEA53F7449}" dt="2019-09-04T14:50:58.827" v="40" actId="2696"/>
        <pc:sldMkLst>
          <pc:docMk/>
          <pc:sldMk cId="2210613991" sldId="26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492845242" sldId="266"/>
        </pc:sldMkLst>
      </pc:sldChg>
      <pc:sldChg chg="modSp">
        <pc:chgData name="Q Z" userId="0598117016cd6850" providerId="LiveId" clId="{D2FDEEAF-84E1-154D-A946-0BAEA53F7449}" dt="2019-09-04T17:52:07.105" v="112" actId="207"/>
        <pc:sldMkLst>
          <pc:docMk/>
          <pc:sldMk cId="2096993788" sldId="267"/>
        </pc:sldMkLst>
        <pc:spChg chg="mod">
          <ac:chgData name="Q Z" userId="0598117016cd6850" providerId="LiveId" clId="{D2FDEEAF-84E1-154D-A946-0BAEA53F7449}" dt="2019-09-04T17:52:07.105" v="112" actId="207"/>
          <ac:spMkLst>
            <pc:docMk/>
            <pc:sldMk cId="2096993788" sldId="267"/>
            <ac:spMk id="3" creationId="{92C5435D-7C46-D248-89C2-A468B8E05E4B}"/>
          </ac:spMkLst>
        </pc:spChg>
      </pc:sldChg>
      <pc:sldChg chg="del">
        <pc:chgData name="Q Z" userId="0598117016cd6850" providerId="LiveId" clId="{D2FDEEAF-84E1-154D-A946-0BAEA53F7449}" dt="2019-09-04T14:50:58.822" v="35" actId="2696"/>
        <pc:sldMkLst>
          <pc:docMk/>
          <pc:sldMk cId="1861225924" sldId="268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454883529" sldId="268"/>
        </pc:sldMkLst>
      </pc:sldChg>
      <pc:sldChg chg="add del">
        <pc:chgData name="Q Z" userId="0598117016cd6850" providerId="LiveId" clId="{D2FDEEAF-84E1-154D-A946-0BAEA53F7449}" dt="2019-09-04T17:53:35.526" v="120" actId="2696"/>
        <pc:sldMkLst>
          <pc:docMk/>
          <pc:sldMk cId="3305728334" sldId="270"/>
        </pc:sldMkLst>
      </pc:sldChg>
      <pc:sldChg chg="modSp add del">
        <pc:chgData name="Q Z" userId="0598117016cd6850" providerId="LiveId" clId="{D2FDEEAF-84E1-154D-A946-0BAEA53F7449}" dt="2019-09-04T17:55:57.015" v="138" actId="20577"/>
        <pc:sldMkLst>
          <pc:docMk/>
          <pc:sldMk cId="3331877505" sldId="271"/>
        </pc:sldMkLst>
        <pc:spChg chg="mod">
          <ac:chgData name="Q Z" userId="0598117016cd6850" providerId="LiveId" clId="{D2FDEEAF-84E1-154D-A946-0BAEA53F7449}" dt="2019-09-04T17:55:57.015" v="138" actId="20577"/>
          <ac:spMkLst>
            <pc:docMk/>
            <pc:sldMk cId="3331877505" sldId="271"/>
            <ac:spMk id="2" creationId="{6660E2C4-0D9F-6543-92DC-EEC98C67AB17}"/>
          </ac:spMkLst>
        </pc:spChg>
      </pc:sldChg>
      <pc:sldChg chg="add del">
        <pc:chgData name="Q Z" userId="0598117016cd6850" providerId="LiveId" clId="{D2FDEEAF-84E1-154D-A946-0BAEA53F7449}" dt="2019-09-04T17:53:35.482" v="117" actId="2696"/>
        <pc:sldMkLst>
          <pc:docMk/>
          <pc:sldMk cId="3558231805" sldId="272"/>
        </pc:sldMkLst>
      </pc:sldChg>
      <pc:sldChg chg="modSp add">
        <pc:chgData name="Q Z" userId="0598117016cd6850" providerId="LiveId" clId="{D2FDEEAF-84E1-154D-A946-0BAEA53F7449}" dt="2019-09-04T18:17:04.328" v="720" actId="27636"/>
        <pc:sldMkLst>
          <pc:docMk/>
          <pc:sldMk cId="502340965" sldId="274"/>
        </pc:sldMkLst>
        <pc:spChg chg="mod">
          <ac:chgData name="Q Z" userId="0598117016cd6850" providerId="LiveId" clId="{D2FDEEAF-84E1-154D-A946-0BAEA53F7449}" dt="2019-09-04T18:17:04.328" v="720" actId="27636"/>
          <ac:spMkLst>
            <pc:docMk/>
            <pc:sldMk cId="502340965" sldId="274"/>
            <ac:spMk id="3" creationId="{3E183C73-DAEA-B44A-A5FE-7317F31E7B1F}"/>
          </ac:spMkLst>
        </pc:spChg>
      </pc:sldChg>
      <pc:sldChg chg="add del">
        <pc:chgData name="Q Z" userId="0598117016cd6850" providerId="LiveId" clId="{D2FDEEAF-84E1-154D-A946-0BAEA53F7449}" dt="2019-09-04T17:56:05.978" v="139" actId="2696"/>
        <pc:sldMkLst>
          <pc:docMk/>
          <pc:sldMk cId="1213925051" sldId="274"/>
        </pc:sldMkLst>
      </pc:sldChg>
      <pc:sldChg chg="modSp">
        <pc:chgData name="Q Z" userId="0598117016cd6850" providerId="LiveId" clId="{D2FDEEAF-84E1-154D-A946-0BAEA53F7449}" dt="2019-09-04T17:55:32.064" v="121" actId="20577"/>
        <pc:sldMkLst>
          <pc:docMk/>
          <pc:sldMk cId="954695919" sldId="275"/>
        </pc:sldMkLst>
        <pc:spChg chg="mod">
          <ac:chgData name="Q Z" userId="0598117016cd6850" providerId="LiveId" clId="{D2FDEEAF-84E1-154D-A946-0BAEA53F7449}" dt="2019-09-04T17:55:32.064" v="121" actId="20577"/>
          <ac:spMkLst>
            <pc:docMk/>
            <pc:sldMk cId="954695919" sldId="275"/>
            <ac:spMk id="3" creationId="{8156CB1A-BF1B-814F-B131-5A4E9A2B2F55}"/>
          </ac:spMkLst>
        </pc:spChg>
      </pc:sldChg>
      <pc:sldChg chg="del">
        <pc:chgData name="Q Z" userId="0598117016cd6850" providerId="LiveId" clId="{D2FDEEAF-84E1-154D-A946-0BAEA53F7449}" dt="2019-09-04T17:56:38.052" v="144" actId="2696"/>
        <pc:sldMkLst>
          <pc:docMk/>
          <pc:sldMk cId="1065454564" sldId="27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678248846" sldId="27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081087372" sldId="280"/>
        </pc:sldMkLst>
      </pc:sldChg>
      <pc:sldChg chg="del">
        <pc:chgData name="Q Z" userId="0598117016cd6850" providerId="LiveId" clId="{D2FDEEAF-84E1-154D-A946-0BAEA53F7449}" dt="2019-09-04T17:56:34.037" v="142" actId="2696"/>
        <pc:sldMkLst>
          <pc:docMk/>
          <pc:sldMk cId="1143589674" sldId="280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548179530" sldId="281"/>
        </pc:sldMkLst>
      </pc:sldChg>
      <pc:sldChg chg="del">
        <pc:chgData name="Q Z" userId="0598117016cd6850" providerId="LiveId" clId="{D2FDEEAF-84E1-154D-A946-0BAEA53F7449}" dt="2019-09-04T17:56:34.036" v="141" actId="2696"/>
        <pc:sldMkLst>
          <pc:docMk/>
          <pc:sldMk cId="4098453554" sldId="281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494661934" sldId="282"/>
        </pc:sldMkLst>
      </pc:sldChg>
      <pc:sldChg chg="del">
        <pc:chgData name="Q Z" userId="0598117016cd6850" providerId="LiveId" clId="{D2FDEEAF-84E1-154D-A946-0BAEA53F7449}" dt="2019-09-04T17:56:34.038" v="143" actId="2696"/>
        <pc:sldMkLst>
          <pc:docMk/>
          <pc:sldMk cId="4145358547" sldId="282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688405579" sldId="283"/>
        </pc:sldMkLst>
      </pc:sldChg>
      <pc:sldChg chg="del">
        <pc:chgData name="Q Z" userId="0598117016cd6850" providerId="LiveId" clId="{D2FDEEAF-84E1-154D-A946-0BAEA53F7449}" dt="2019-09-04T14:50:58.826" v="39" actId="2696"/>
        <pc:sldMkLst>
          <pc:docMk/>
          <pc:sldMk cId="3749237926" sldId="283"/>
        </pc:sldMkLst>
      </pc:sldChg>
      <pc:sldChg chg="del">
        <pc:chgData name="Q Z" userId="0598117016cd6850" providerId="LiveId" clId="{D2FDEEAF-84E1-154D-A946-0BAEA53F7449}" dt="2019-09-04T17:56:34.035" v="140" actId="2696"/>
        <pc:sldMkLst>
          <pc:docMk/>
          <pc:sldMk cId="1766107003" sldId="284"/>
        </pc:sldMkLst>
      </pc:sldChg>
      <pc:sldChg chg="modSp add">
        <pc:chgData name="Q Z" userId="0598117016cd6850" providerId="LiveId" clId="{D2FDEEAF-84E1-154D-A946-0BAEA53F7449}" dt="2019-09-04T18:17:04.209" v="717" actId="27636"/>
        <pc:sldMkLst>
          <pc:docMk/>
          <pc:sldMk cId="3382824642" sldId="284"/>
        </pc:sldMkLst>
        <pc:spChg chg="mod">
          <ac:chgData name="Q Z" userId="0598117016cd6850" providerId="LiveId" clId="{D2FDEEAF-84E1-154D-A946-0BAEA53F7449}" dt="2019-09-04T18:17:04.209" v="717" actId="27636"/>
          <ac:spMkLst>
            <pc:docMk/>
            <pc:sldMk cId="3382824642" sldId="284"/>
            <ac:spMk id="3" creationId="{C7F9E529-8EAE-E242-ABE3-8FF4C6CFE94E}"/>
          </ac:spMkLst>
        </pc:spChg>
      </pc:sldChg>
      <pc:sldChg chg="modSp">
        <pc:chgData name="Q Z" userId="0598117016cd6850" providerId="LiveId" clId="{D2FDEEAF-84E1-154D-A946-0BAEA53F7449}" dt="2019-09-04T17:57:06.144" v="161" actId="20577"/>
        <pc:sldMkLst>
          <pc:docMk/>
          <pc:sldMk cId="1964004983" sldId="285"/>
        </pc:sldMkLst>
        <pc:spChg chg="mod">
          <ac:chgData name="Q Z" userId="0598117016cd6850" providerId="LiveId" clId="{D2FDEEAF-84E1-154D-A946-0BAEA53F7449}" dt="2019-09-04T17:57:06.144" v="161" actId="20577"/>
          <ac:spMkLst>
            <pc:docMk/>
            <pc:sldMk cId="1964004983" sldId="285"/>
            <ac:spMk id="3" creationId="{5F1D1A32-6966-D74D-BC08-BB6F9D54EB65}"/>
          </ac:spMkLst>
        </pc:spChg>
      </pc:sldChg>
      <pc:sldChg chg="del">
        <pc:chgData name="Q Z" userId="0598117016cd6850" providerId="LiveId" clId="{D2FDEEAF-84E1-154D-A946-0BAEA53F7449}" dt="2019-09-04T17:57:19.396" v="162" actId="2696"/>
        <pc:sldMkLst>
          <pc:docMk/>
          <pc:sldMk cId="1027414483" sldId="28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740026222" sldId="286"/>
        </pc:sldMkLst>
      </pc:sldChg>
      <pc:sldChg chg="del">
        <pc:chgData name="Q Z" userId="0598117016cd6850" providerId="LiveId" clId="{D2FDEEAF-84E1-154D-A946-0BAEA53F7449}" dt="2019-09-04T17:59:18.421" v="163" actId="2696"/>
        <pc:sldMkLst>
          <pc:docMk/>
          <pc:sldMk cId="3061299955" sldId="299"/>
        </pc:sldMkLst>
      </pc:sldChg>
      <pc:sldChg chg="modSp del">
        <pc:chgData name="Q Z" userId="0598117016cd6850" providerId="LiveId" clId="{D2FDEEAF-84E1-154D-A946-0BAEA53F7449}" dt="2019-09-04T18:15:41.903" v="685" actId="2696"/>
        <pc:sldMkLst>
          <pc:docMk/>
          <pc:sldMk cId="485196877" sldId="300"/>
        </pc:sldMkLst>
        <pc:spChg chg="mod">
          <ac:chgData name="Q Z" userId="0598117016cd6850" providerId="LiveId" clId="{D2FDEEAF-84E1-154D-A946-0BAEA53F7449}" dt="2019-09-04T18:13:29.105" v="592" actId="20577"/>
          <ac:spMkLst>
            <pc:docMk/>
            <pc:sldMk cId="485196877" sldId="300"/>
            <ac:spMk id="3" creationId="{551CAB00-106C-FD48-80DB-4E60597D50E9}"/>
          </ac:spMkLst>
        </pc:spChg>
      </pc:sldChg>
      <pc:sldChg chg="modSp add">
        <pc:chgData name="Q Z" userId="0598117016cd6850" providerId="LiveId" clId="{D2FDEEAF-84E1-154D-A946-0BAEA53F7449}" dt="2019-09-04T18:20:13.592" v="1095" actId="15"/>
        <pc:sldMkLst>
          <pc:docMk/>
          <pc:sldMk cId="1668323801" sldId="300"/>
        </pc:sldMkLst>
        <pc:spChg chg="mod">
          <ac:chgData name="Q Z" userId="0598117016cd6850" providerId="LiveId" clId="{D2FDEEAF-84E1-154D-A946-0BAEA53F7449}" dt="2019-09-04T18:20:13.592" v="1095" actId="15"/>
          <ac:spMkLst>
            <pc:docMk/>
            <pc:sldMk cId="1668323801" sldId="300"/>
            <ac:spMk id="3" creationId="{551CAB00-106C-FD48-80DB-4E60597D50E9}"/>
          </ac:spMkLst>
        </pc:spChg>
      </pc:sldChg>
      <pc:sldChg chg="add">
        <pc:chgData name="Q Z" userId="0598117016cd6850" providerId="LiveId" clId="{D2FDEEAF-84E1-154D-A946-0BAEA53F7449}" dt="2019-09-04T18:15:48.786" v="686"/>
        <pc:sldMkLst>
          <pc:docMk/>
          <pc:sldMk cId="164302631" sldId="301"/>
        </pc:sldMkLst>
      </pc:sldChg>
      <pc:sldChg chg="modSp del">
        <pc:chgData name="Q Z" userId="0598117016cd6850" providerId="LiveId" clId="{D2FDEEAF-84E1-154D-A946-0BAEA53F7449}" dt="2019-09-04T18:15:41.898" v="684" actId="2696"/>
        <pc:sldMkLst>
          <pc:docMk/>
          <pc:sldMk cId="3603428551" sldId="301"/>
        </pc:sldMkLst>
        <pc:spChg chg="mod">
          <ac:chgData name="Q Z" userId="0598117016cd6850" providerId="LiveId" clId="{D2FDEEAF-84E1-154D-A946-0BAEA53F7449}" dt="2019-09-04T18:15:28.173" v="683" actId="20577"/>
          <ac:spMkLst>
            <pc:docMk/>
            <pc:sldMk cId="3603428551" sldId="301"/>
            <ac:spMk id="3" creationId="{045F8D64-8F34-2744-8A83-F43DB949F89C}"/>
          </ac:spMkLst>
        </pc:spChg>
      </pc:sldChg>
      <pc:sldChg chg="modSp add">
        <pc:chgData name="Q Z" userId="0598117016cd6850" providerId="LiveId" clId="{D2FDEEAF-84E1-154D-A946-0BAEA53F7449}" dt="2019-09-04T18:21:47.967" v="1277" actId="20577"/>
        <pc:sldMkLst>
          <pc:docMk/>
          <pc:sldMk cId="3105363865" sldId="302"/>
        </pc:sldMkLst>
        <pc:spChg chg="mod">
          <ac:chgData name="Q Z" userId="0598117016cd6850" providerId="LiveId" clId="{D2FDEEAF-84E1-154D-A946-0BAEA53F7449}" dt="2019-09-04T18:21:47.967" v="1277" actId="20577"/>
          <ac:spMkLst>
            <pc:docMk/>
            <pc:sldMk cId="3105363865" sldId="302"/>
            <ac:spMk id="2" creationId="{284F9CDD-41B2-3041-9CA4-BA9DAE607F54}"/>
          </ac:spMkLst>
        </pc:spChg>
        <pc:spChg chg="mod">
          <ac:chgData name="Q Z" userId="0598117016cd6850" providerId="LiveId" clId="{D2FDEEAF-84E1-154D-A946-0BAEA53F7449}" dt="2019-09-04T18:17:52.749" v="841" actId="20577"/>
          <ac:spMkLst>
            <pc:docMk/>
            <pc:sldMk cId="3105363865" sldId="302"/>
            <ac:spMk id="3" creationId="{524CCAD7-23D9-E84C-8DAC-C00F9425778D}"/>
          </ac:spMkLst>
        </pc:spChg>
      </pc:sldChg>
      <pc:sldChg chg="del">
        <pc:chgData name="Q Z" userId="0598117016cd6850" providerId="LiveId" clId="{D2FDEEAF-84E1-154D-A946-0BAEA53F7449}" dt="2019-09-04T14:50:58.827" v="41" actId="2696"/>
        <pc:sldMkLst>
          <pc:docMk/>
          <pc:sldMk cId="3428064723" sldId="302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657279489" sldId="303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062287952" sldId="304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590203373" sldId="305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71758653" sldId="30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989142146" sldId="30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545004305" sldId="308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581332896" sldId="309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4283312347" sldId="310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278548823" sldId="311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187985168" sldId="312"/>
        </pc:sldMkLst>
      </pc:sldChg>
      <pc:sldChg chg="modSp add">
        <pc:chgData name="Q Z" userId="0598117016cd6850" providerId="LiveId" clId="{D2FDEEAF-84E1-154D-A946-0BAEA53F7449}" dt="2019-09-04T18:17:04.231" v="718" actId="27636"/>
        <pc:sldMkLst>
          <pc:docMk/>
          <pc:sldMk cId="758662977" sldId="313"/>
        </pc:sldMkLst>
        <pc:spChg chg="mod">
          <ac:chgData name="Q Z" userId="0598117016cd6850" providerId="LiveId" clId="{D2FDEEAF-84E1-154D-A946-0BAEA53F7449}" dt="2019-09-04T18:17:04.231" v="718" actId="27636"/>
          <ac:spMkLst>
            <pc:docMk/>
            <pc:sldMk cId="758662977" sldId="313"/>
            <ac:spMk id="3" creationId="{ECDE4A1C-2F14-8F49-8E66-0CAD7BB35774}"/>
          </ac:spMkLst>
        </pc:spChg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806699933" sldId="314"/>
        </pc:sldMkLst>
      </pc:sldChg>
      <pc:sldChg chg="modSp add">
        <pc:chgData name="Q Z" userId="0598117016cd6850" providerId="LiveId" clId="{D2FDEEAF-84E1-154D-A946-0BAEA53F7449}" dt="2019-09-04T18:17:04.304" v="719" actId="27636"/>
        <pc:sldMkLst>
          <pc:docMk/>
          <pc:sldMk cId="690263055" sldId="315"/>
        </pc:sldMkLst>
        <pc:spChg chg="mod">
          <ac:chgData name="Q Z" userId="0598117016cd6850" providerId="LiveId" clId="{D2FDEEAF-84E1-154D-A946-0BAEA53F7449}" dt="2019-09-04T18:17:04.304" v="719" actId="27636"/>
          <ac:spMkLst>
            <pc:docMk/>
            <pc:sldMk cId="690263055" sldId="315"/>
            <ac:spMk id="3" creationId="{833E0AB9-AE05-854F-B0E8-CCE667980C18}"/>
          </ac:spMkLst>
        </pc:spChg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334250750" sldId="31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607632866" sldId="31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608597354" sldId="318"/>
        </pc:sldMkLst>
      </pc:sldChg>
      <pc:sldChg chg="modSp add">
        <pc:chgData name="Q Z" userId="0598117016cd6850" providerId="LiveId" clId="{D2FDEEAF-84E1-154D-A946-0BAEA53F7449}" dt="2019-09-04T18:21:23.153" v="1262" actId="20577"/>
        <pc:sldMkLst>
          <pc:docMk/>
          <pc:sldMk cId="2458459384" sldId="319"/>
        </pc:sldMkLst>
        <pc:spChg chg="mod">
          <ac:chgData name="Q Z" userId="0598117016cd6850" providerId="LiveId" clId="{D2FDEEAF-84E1-154D-A946-0BAEA53F7449}" dt="2019-09-04T18:18:07.927" v="853" actId="20577"/>
          <ac:spMkLst>
            <pc:docMk/>
            <pc:sldMk cId="2458459384" sldId="319"/>
            <ac:spMk id="2" creationId="{0AEC5667-D50F-3E47-A4DA-BC797509AD6B}"/>
          </ac:spMkLst>
        </pc:spChg>
        <pc:spChg chg="mod">
          <ac:chgData name="Q Z" userId="0598117016cd6850" providerId="LiveId" clId="{D2FDEEAF-84E1-154D-A946-0BAEA53F7449}" dt="2019-09-04T18:21:23.153" v="1262" actId="20577"/>
          <ac:spMkLst>
            <pc:docMk/>
            <pc:sldMk cId="2458459384" sldId="319"/>
            <ac:spMk id="3" creationId="{8232105E-677A-EF4D-B7AC-71CF68479263}"/>
          </ac:spMkLst>
        </pc:spChg>
      </pc:sldChg>
    </pc:docChg>
  </pc:docChgLst>
  <pc:docChgLst>
    <pc:chgData name="Q Z" userId="0598117016cd6850" providerId="LiveId" clId="{2BA66019-4591-C846-9028-2CD292E1765D}"/>
    <pc:docChg chg="undo custSel addSld delSld modSld">
      <pc:chgData name="Q Z" userId="0598117016cd6850" providerId="LiveId" clId="{2BA66019-4591-C846-9028-2CD292E1765D}" dt="2020-09-02T18:14:30.582" v="379" actId="2696"/>
      <pc:docMkLst>
        <pc:docMk/>
      </pc:docMkLst>
      <pc:sldChg chg="modSp mod">
        <pc:chgData name="Q Z" userId="0598117016cd6850" providerId="LiveId" clId="{2BA66019-4591-C846-9028-2CD292E1765D}" dt="2020-09-02T17:54:00.188" v="147" actId="404"/>
        <pc:sldMkLst>
          <pc:docMk/>
          <pc:sldMk cId="2090911193" sldId="260"/>
        </pc:sldMkLst>
        <pc:spChg chg="mod">
          <ac:chgData name="Q Z" userId="0598117016cd6850" providerId="LiveId" clId="{2BA66019-4591-C846-9028-2CD292E1765D}" dt="2020-09-02T17:54:00.188" v="147" actId="404"/>
          <ac:spMkLst>
            <pc:docMk/>
            <pc:sldMk cId="2090911193" sldId="260"/>
            <ac:spMk id="3" creationId="{858FDFE8-5660-3142-B97F-1D1C17F05F34}"/>
          </ac:spMkLst>
        </pc:spChg>
      </pc:sldChg>
      <pc:sldChg chg="modSp mod">
        <pc:chgData name="Q Z" userId="0598117016cd6850" providerId="LiveId" clId="{2BA66019-4591-C846-9028-2CD292E1765D}" dt="2020-09-02T18:06:08.458" v="310" actId="1076"/>
        <pc:sldMkLst>
          <pc:docMk/>
          <pc:sldMk cId="3690723403" sldId="279"/>
        </pc:sldMkLst>
        <pc:picChg chg="mod">
          <ac:chgData name="Q Z" userId="0598117016cd6850" providerId="LiveId" clId="{2BA66019-4591-C846-9028-2CD292E1765D}" dt="2020-09-02T18:06:08.458" v="310" actId="1076"/>
          <ac:picMkLst>
            <pc:docMk/>
            <pc:sldMk cId="3690723403" sldId="279"/>
            <ac:picMk id="4" creationId="{2B40250E-5C73-B04A-BBCC-724D95A16E1D}"/>
          </ac:picMkLst>
        </pc:picChg>
      </pc:sldChg>
      <pc:sldChg chg="modSp mod">
        <pc:chgData name="Q Z" userId="0598117016cd6850" providerId="LiveId" clId="{2BA66019-4591-C846-9028-2CD292E1765D}" dt="2020-09-02T17:57:35.733" v="206" actId="20577"/>
        <pc:sldMkLst>
          <pc:docMk/>
          <pc:sldMk cId="1668323801" sldId="300"/>
        </pc:sldMkLst>
        <pc:spChg chg="mod">
          <ac:chgData name="Q Z" userId="0598117016cd6850" providerId="LiveId" clId="{2BA66019-4591-C846-9028-2CD292E1765D}" dt="2020-09-02T17:57:35.733" v="206" actId="20577"/>
          <ac:spMkLst>
            <pc:docMk/>
            <pc:sldMk cId="1668323801" sldId="300"/>
            <ac:spMk id="3" creationId="{551CAB00-106C-FD48-80DB-4E60597D50E9}"/>
          </ac:spMkLst>
        </pc:spChg>
      </pc:sldChg>
      <pc:sldChg chg="modSp mod">
        <pc:chgData name="Q Z" userId="0598117016cd6850" providerId="LiveId" clId="{2BA66019-4591-C846-9028-2CD292E1765D}" dt="2020-09-02T18:04:21" v="307" actId="20577"/>
        <pc:sldMkLst>
          <pc:docMk/>
          <pc:sldMk cId="2458459384" sldId="319"/>
        </pc:sldMkLst>
        <pc:spChg chg="mod">
          <ac:chgData name="Q Z" userId="0598117016cd6850" providerId="LiveId" clId="{2BA66019-4591-C846-9028-2CD292E1765D}" dt="2020-09-02T18:04:21" v="307" actId="20577"/>
          <ac:spMkLst>
            <pc:docMk/>
            <pc:sldMk cId="2458459384" sldId="319"/>
            <ac:spMk id="3" creationId="{8232105E-677A-EF4D-B7AC-71CF68479263}"/>
          </ac:spMkLst>
        </pc:spChg>
      </pc:sldChg>
      <pc:sldChg chg="del">
        <pc:chgData name="Q Z" userId="0598117016cd6850" providerId="LiveId" clId="{2BA66019-4591-C846-9028-2CD292E1765D}" dt="2020-09-02T18:14:30.582" v="379" actId="2696"/>
        <pc:sldMkLst>
          <pc:docMk/>
          <pc:sldMk cId="1315374295" sldId="324"/>
        </pc:sldMkLst>
      </pc:sldChg>
      <pc:sldChg chg="addSp modSp add mod">
        <pc:chgData name="Q Z" userId="0598117016cd6850" providerId="LiveId" clId="{2BA66019-4591-C846-9028-2CD292E1765D}" dt="2020-09-02T18:10:24.651" v="378" actId="1076"/>
        <pc:sldMkLst>
          <pc:docMk/>
          <pc:sldMk cId="1771734156" sldId="326"/>
        </pc:sldMkLst>
        <pc:spChg chg="mod">
          <ac:chgData name="Q Z" userId="0598117016cd6850" providerId="LiveId" clId="{2BA66019-4591-C846-9028-2CD292E1765D}" dt="2020-09-02T18:07:38.347" v="353" actId="20577"/>
          <ac:spMkLst>
            <pc:docMk/>
            <pc:sldMk cId="1771734156" sldId="326"/>
            <ac:spMk id="2" creationId="{B9E0B195-2247-F141-ACF4-E4A1A8DA7C76}"/>
          </ac:spMkLst>
        </pc:spChg>
        <pc:spChg chg="mod">
          <ac:chgData name="Q Z" userId="0598117016cd6850" providerId="LiveId" clId="{2BA66019-4591-C846-9028-2CD292E1765D}" dt="2020-09-02T18:09:33.994" v="372" actId="404"/>
          <ac:spMkLst>
            <pc:docMk/>
            <pc:sldMk cId="1771734156" sldId="326"/>
            <ac:spMk id="3" creationId="{3541D7D8-FD16-F344-A89A-0C487F5F535C}"/>
          </ac:spMkLst>
        </pc:spChg>
        <pc:picChg chg="add mod">
          <ac:chgData name="Q Z" userId="0598117016cd6850" providerId="LiveId" clId="{2BA66019-4591-C846-9028-2CD292E1765D}" dt="2020-09-02T18:09:14.362" v="355" actId="1076"/>
          <ac:picMkLst>
            <pc:docMk/>
            <pc:sldMk cId="1771734156" sldId="326"/>
            <ac:picMk id="4" creationId="{28A2F7EC-1506-584F-9F84-478CF2DAE9A0}"/>
          </ac:picMkLst>
        </pc:picChg>
        <pc:picChg chg="add mod">
          <ac:chgData name="Q Z" userId="0598117016cd6850" providerId="LiveId" clId="{2BA66019-4591-C846-9028-2CD292E1765D}" dt="2020-09-02T18:10:24.651" v="378" actId="1076"/>
          <ac:picMkLst>
            <pc:docMk/>
            <pc:sldMk cId="1771734156" sldId="326"/>
            <ac:picMk id="1026" creationId="{06B1BA0E-569A-9645-9A7C-B513FF505C70}"/>
          </ac:picMkLst>
        </pc:picChg>
      </pc:sldChg>
    </pc:docChg>
  </pc:docChgLst>
  <pc:docChgLst>
    <pc:chgData name="Q Z" userId="0598117016cd6850" providerId="LiveId" clId="{3351F81B-803C-2C49-B9B7-94669ACAE3A8}"/>
    <pc:docChg chg="addSld modSld">
      <pc:chgData name="Q Z" userId="0598117016cd6850" providerId="LiveId" clId="{3351F81B-803C-2C49-B9B7-94669ACAE3A8}" dt="2020-09-03T09:04:41.933" v="55" actId="207"/>
      <pc:docMkLst>
        <pc:docMk/>
      </pc:docMkLst>
      <pc:sldChg chg="modSp">
        <pc:chgData name="Q Z" userId="0598117016cd6850" providerId="LiveId" clId="{3351F81B-803C-2C49-B9B7-94669ACAE3A8}" dt="2020-09-03T09:04:41.933" v="55" actId="207"/>
        <pc:sldMkLst>
          <pc:docMk/>
          <pc:sldMk cId="581332896" sldId="309"/>
        </pc:sldMkLst>
        <pc:spChg chg="mod">
          <ac:chgData name="Q Z" userId="0598117016cd6850" providerId="LiveId" clId="{3351F81B-803C-2C49-B9B7-94669ACAE3A8}" dt="2020-09-03T09:04:41.933" v="55" actId="207"/>
          <ac:spMkLst>
            <pc:docMk/>
            <pc:sldMk cId="581332896" sldId="309"/>
            <ac:spMk id="3" creationId="{1B15B996-5952-CA44-90B0-02ABAA4EAC6C}"/>
          </ac:spMkLst>
        </pc:spChg>
      </pc:sldChg>
      <pc:sldChg chg="addSp delSp modSp add">
        <pc:chgData name="Q Z" userId="0598117016cd6850" providerId="LiveId" clId="{3351F81B-803C-2C49-B9B7-94669ACAE3A8}" dt="2020-09-03T07:22:19.689" v="50" actId="1076"/>
        <pc:sldMkLst>
          <pc:docMk/>
          <pc:sldMk cId="2223405279" sldId="327"/>
        </pc:sldMkLst>
        <pc:spChg chg="mod">
          <ac:chgData name="Q Z" userId="0598117016cd6850" providerId="LiveId" clId="{3351F81B-803C-2C49-B9B7-94669ACAE3A8}" dt="2020-09-03T06:59:39.432" v="3"/>
          <ac:spMkLst>
            <pc:docMk/>
            <pc:sldMk cId="2223405279" sldId="327"/>
            <ac:spMk id="2" creationId="{1387362F-A24A-6342-BAAE-FACB800A3028}"/>
          </ac:spMkLst>
        </pc:spChg>
        <pc:spChg chg="mod">
          <ac:chgData name="Q Z" userId="0598117016cd6850" providerId="LiveId" clId="{3351F81B-803C-2C49-B9B7-94669ACAE3A8}" dt="2020-09-03T07:01:37.255" v="17" actId="14100"/>
          <ac:spMkLst>
            <pc:docMk/>
            <pc:sldMk cId="2223405279" sldId="327"/>
            <ac:spMk id="3" creationId="{09CB959C-A4EF-9742-8A17-1FEE29A4E276}"/>
          </ac:spMkLst>
        </pc:spChg>
        <pc:picChg chg="add del mod">
          <ac:chgData name="Q Z" userId="0598117016cd6850" providerId="LiveId" clId="{3351F81B-803C-2C49-B9B7-94669ACAE3A8}" dt="2020-09-03T07:03:47.855" v="32" actId="21"/>
          <ac:picMkLst>
            <pc:docMk/>
            <pc:sldMk cId="2223405279" sldId="327"/>
            <ac:picMk id="1026" creationId="{2CC0705B-C583-EB44-A6F0-3D7914EA4F67}"/>
          </ac:picMkLst>
        </pc:picChg>
        <pc:picChg chg="add del mod">
          <ac:chgData name="Q Z" userId="0598117016cd6850" providerId="LiveId" clId="{3351F81B-803C-2C49-B9B7-94669ACAE3A8}" dt="2020-09-03T07:03:47.855" v="32" actId="21"/>
          <ac:picMkLst>
            <pc:docMk/>
            <pc:sldMk cId="2223405279" sldId="327"/>
            <ac:picMk id="1028" creationId="{3C27A4E4-1D03-A64E-AD97-BCA56FBF8CD3}"/>
          </ac:picMkLst>
        </pc:picChg>
        <pc:picChg chg="add del mod">
          <ac:chgData name="Q Z" userId="0598117016cd6850" providerId="LiveId" clId="{3351F81B-803C-2C49-B9B7-94669ACAE3A8}" dt="2020-09-03T07:01:38.281" v="18"/>
          <ac:picMkLst>
            <pc:docMk/>
            <pc:sldMk cId="2223405279" sldId="327"/>
            <ac:picMk id="1030" creationId="{342F3586-D385-E742-A2C2-22F776B620DD}"/>
          </ac:picMkLst>
        </pc:picChg>
        <pc:picChg chg="add mod">
          <ac:chgData name="Q Z" userId="0598117016cd6850" providerId="LiveId" clId="{3351F81B-803C-2C49-B9B7-94669ACAE3A8}" dt="2020-09-03T07:22:19.689" v="50" actId="1076"/>
          <ac:picMkLst>
            <pc:docMk/>
            <pc:sldMk cId="2223405279" sldId="327"/>
            <ac:picMk id="1032" creationId="{51408161-DC70-BF41-B4E9-3A5ED79BA1B9}"/>
          </ac:picMkLst>
        </pc:picChg>
      </pc:sldChg>
      <pc:sldChg chg="addSp modSp add">
        <pc:chgData name="Q Z" userId="0598117016cd6850" providerId="LiveId" clId="{3351F81B-803C-2C49-B9B7-94669ACAE3A8}" dt="2020-09-03T07:04:16.074" v="38" actId="1076"/>
        <pc:sldMkLst>
          <pc:docMk/>
          <pc:sldMk cId="2711338742" sldId="328"/>
        </pc:sldMkLst>
        <pc:spChg chg="mod">
          <ac:chgData name="Q Z" userId="0598117016cd6850" providerId="LiveId" clId="{3351F81B-803C-2C49-B9B7-94669ACAE3A8}" dt="2020-09-03T07:03:29.915" v="31"/>
          <ac:spMkLst>
            <pc:docMk/>
            <pc:sldMk cId="2711338742" sldId="328"/>
            <ac:spMk id="2" creationId="{AC25ADB1-CF40-D540-82AD-CA29789D7DDA}"/>
          </ac:spMkLst>
        </pc:spChg>
        <pc:spChg chg="mod">
          <ac:chgData name="Q Z" userId="0598117016cd6850" providerId="LiveId" clId="{3351F81B-803C-2C49-B9B7-94669ACAE3A8}" dt="2020-09-03T07:02:22.768" v="26"/>
          <ac:spMkLst>
            <pc:docMk/>
            <pc:sldMk cId="2711338742" sldId="328"/>
            <ac:spMk id="3" creationId="{932B9BCA-7B9C-DF45-B6F8-04054E4A03F1}"/>
          </ac:spMkLst>
        </pc:spChg>
        <pc:picChg chg="add mod">
          <ac:chgData name="Q Z" userId="0598117016cd6850" providerId="LiveId" clId="{3351F81B-803C-2C49-B9B7-94669ACAE3A8}" dt="2020-09-03T07:04:16.074" v="38" actId="1076"/>
          <ac:picMkLst>
            <pc:docMk/>
            <pc:sldMk cId="2711338742" sldId="328"/>
            <ac:picMk id="4" creationId="{C25F8C83-F8D4-DD42-A362-8C519A77A271}"/>
          </ac:picMkLst>
        </pc:picChg>
      </pc:sldChg>
      <pc:sldChg chg="addSp delSp modSp add">
        <pc:chgData name="Q Z" userId="0598117016cd6850" providerId="LiveId" clId="{3351F81B-803C-2C49-B9B7-94669ACAE3A8}" dt="2020-09-03T07:05:16.381" v="42" actId="1076"/>
        <pc:sldMkLst>
          <pc:docMk/>
          <pc:sldMk cId="2580820078" sldId="329"/>
        </pc:sldMkLst>
        <pc:picChg chg="add mod">
          <ac:chgData name="Q Z" userId="0598117016cd6850" providerId="LiveId" clId="{3351F81B-803C-2C49-B9B7-94669ACAE3A8}" dt="2020-09-03T07:04:03.759" v="34"/>
          <ac:picMkLst>
            <pc:docMk/>
            <pc:sldMk cId="2580820078" sldId="329"/>
            <ac:picMk id="4" creationId="{23E38AF4-EE30-9748-8A9A-36C60CF5EA36}"/>
          </ac:picMkLst>
        </pc:picChg>
        <pc:picChg chg="add del mod">
          <ac:chgData name="Q Z" userId="0598117016cd6850" providerId="LiveId" clId="{3351F81B-803C-2C49-B9B7-94669ACAE3A8}" dt="2020-09-03T07:05:06.740" v="39" actId="1076"/>
          <ac:picMkLst>
            <pc:docMk/>
            <pc:sldMk cId="2580820078" sldId="329"/>
            <ac:picMk id="5" creationId="{E736130E-66FA-2E44-A00B-1FC5AD39B6DF}"/>
          </ac:picMkLst>
        </pc:picChg>
        <pc:picChg chg="add mod">
          <ac:chgData name="Q Z" userId="0598117016cd6850" providerId="LiveId" clId="{3351F81B-803C-2C49-B9B7-94669ACAE3A8}" dt="2020-09-03T07:05:16.381" v="42" actId="1076"/>
          <ac:picMkLst>
            <pc:docMk/>
            <pc:sldMk cId="2580820078" sldId="329"/>
            <ac:picMk id="2050" creationId="{885110A3-036A-974F-915C-551E62C9FA11}"/>
          </ac:picMkLst>
        </pc:picChg>
      </pc:sldChg>
      <pc:sldChg chg="addSp modSp add">
        <pc:chgData name="Q Z" userId="0598117016cd6850" providerId="LiveId" clId="{3351F81B-803C-2C49-B9B7-94669ACAE3A8}" dt="2020-09-03T07:23:27.125" v="54" actId="1076"/>
        <pc:sldMkLst>
          <pc:docMk/>
          <pc:sldMk cId="2355989735" sldId="330"/>
        </pc:sldMkLst>
        <pc:picChg chg="add mod">
          <ac:chgData name="Q Z" userId="0598117016cd6850" providerId="LiveId" clId="{3351F81B-803C-2C49-B9B7-94669ACAE3A8}" dt="2020-09-03T07:23:27.125" v="54" actId="1076"/>
          <ac:picMkLst>
            <pc:docMk/>
            <pc:sldMk cId="2355989735" sldId="330"/>
            <ac:picMk id="4098" creationId="{7CFFEB50-B1F5-4D46-8D41-1D790CF5C271}"/>
          </ac:picMkLst>
        </pc:picChg>
      </pc:sldChg>
      <pc:sldChg chg="modSp add">
        <pc:chgData name="Q Z" userId="0598117016cd6850" providerId="LiveId" clId="{3351F81B-803C-2C49-B9B7-94669ACAE3A8}" dt="2020-09-03T07:20:48.810" v="47" actId="20577"/>
        <pc:sldMkLst>
          <pc:docMk/>
          <pc:sldMk cId="3730086564" sldId="331"/>
        </pc:sldMkLst>
        <pc:spChg chg="mod">
          <ac:chgData name="Q Z" userId="0598117016cd6850" providerId="LiveId" clId="{3351F81B-803C-2C49-B9B7-94669ACAE3A8}" dt="2020-09-03T07:20:48.810" v="47" actId="20577"/>
          <ac:spMkLst>
            <pc:docMk/>
            <pc:sldMk cId="3730086564" sldId="331"/>
            <ac:spMk id="3" creationId="{52F30828-5CE0-BC4B-9D54-707C0B699C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2524C-7966-684C-BDC9-CFD451BFAD4B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06C42A-5AA1-B144-8688-E824ABDD9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54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experimental data, the treatment and control groups are often balanced, but are imbalanced in </a:t>
            </a:r>
            <a:r>
              <a:rPr lang="en-US" dirty="0" err="1"/>
              <a:t>obs</a:t>
            </a:r>
            <a:r>
              <a:rPr lang="en-US" dirty="0"/>
              <a:t>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17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factors are driving customer churn?</a:t>
            </a:r>
          </a:p>
          <a:p>
            <a:r>
              <a:rPr lang="en-US" dirty="0"/>
              <a:t>How can we boost user engagement on our platform?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680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038EF-1823-3AE5-7468-DC3AF5D7D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6C117-D2C4-371B-2F5F-20D83B5AD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86E29-8683-7190-6D2A-9D1592FE0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first issue, the found correlation may be purely driven by samples selection bias in the minority category (e.g., only a few Women are observed in the data and they happen to have low acceptance).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BBE41-3E5C-0BF7-5873-1E489F363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63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F73C6-6595-9D37-913A-BCB4DED9F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F5972-7EE2-F288-908D-0ED96B065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A051E-2CF7-8F29-9AC8-7A77723C5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Often use matching without replacement in CEM.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58211-A98F-98FE-FE37-2762DBC70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50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D28CA-5298-E0B0-1E98-04EEF1B5E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176AE-6AEE-B7D4-E0EF-8C24C2E7D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6998F-FE5F-1041-590A-7B2DF5735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Often use matching without replacement in CEM.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00241-F189-F8FE-6589-CA19AE586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26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79FF6-8E68-22EC-B424-33D74E4B5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1FF3E-AE01-DF78-21B9-C5F4B3DDF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07BE6-8799-6263-E662-71255A168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code? Students should also be matched on the same class.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6D27A-6BEA-21C9-4C1E-268601E5B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92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0D437-4243-DCB9-50F2-3877D9591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28D20-1908-8D36-284A-53A02F180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C6F5D-5A88-85C5-B8E5-034AC70CB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Scientific misinformation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3991E-B95C-DA82-DDA5-6CA162C76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73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41B3D-5546-55B8-6E9E-DF20C2577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3D1DC-2DEB-A811-DE2E-93443227B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12F882-2A93-3B72-1BF0-F38DC01E8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2CA22-827E-C87C-F15F-B30FE909C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683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D928C-C7EC-CD76-5DE5-2AF711154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AC14FE-26C7-7267-E744-544B57872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FB4EC-5882-8D21-B63B-01B0BA46A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F581-0A97-7E3D-809A-83699D40C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49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15B78-02AA-09AA-55C6-01815E973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FEA54-671A-2C2C-CFE6-BA079A63B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0CA7D-8F08-FC09-A310-39F74FDF8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8E0E6-2382-D518-CFB5-A8E1EC891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458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343BE-0B68-A289-2020-9A7CB0F96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51922-37A5-0000-49B6-04128F912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9A063-11C5-6442-EB3C-2274A475F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4B4D7-1354-300B-787C-589409D04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491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FB235-161B-BAEC-CD83-40B2FB636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7F678-F7C5-1DC1-4D2C-D219A2E97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1FE4EE-2729-89EE-FD9A-71D292146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168AE-0EC9-00AC-6ADF-BF390051A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56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A0488-0451-1297-41BC-E76D9E7B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E77FB-C9F7-1549-B50D-1A89C2C4F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070E8-62F1-7D30-7565-9E514ED59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2C7C8-173A-CAC1-1199-416F78378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2158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5AF97-169D-596E-B86D-71B5E168B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78A5AF-63F9-3A17-4C0A-8662CDCD7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ADDF6-7016-E304-3F4B-B2CD05CCB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distribution of marriage is balanced across different groups after matching.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DF817-6989-78E4-D3A5-66C5D7FB05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097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35376-E4FB-FDD4-FFA4-6A9B82C4D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46964-E5AD-57B0-FDEF-DDF14CA47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62A5F-4883-9DAF-1510-A7B0EED2D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B8F0B-60A8-A282-54BE-46E926B76A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9041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44968-9EE2-B78A-AC2E-AA4ED3B4F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4B4DE1-2E08-062E-CE30-34943D6C9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C160A-13B8-678F-DAF7-BD07FFE01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Compare treated states to states without implementing the law.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C00000"/>
                </a:solidFill>
              </a:rPr>
              <a:t>B2 is the pre-treatment diff between two states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C00000"/>
                </a:solidFill>
              </a:rPr>
              <a:t>Change for treatment group: B1+ B3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55B6A-A64B-5FDE-FEA7-831AD7104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11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A36A6-9ADD-F464-57A0-8EC1CF024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364EB-03A4-2162-7875-9101D5F50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6B83D-13E3-638B-DD38-5A0FD8B6E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Treatment: classes implemented the policy in the middle of the semester</a:t>
            </a:r>
          </a:p>
          <a:p>
            <a:r>
              <a:rPr lang="en-US" dirty="0"/>
              <a:t>Control: classes that never implemented the policy</a:t>
            </a:r>
          </a:p>
          <a:p>
            <a:endParaRPr lang="en-US" dirty="0"/>
          </a:p>
          <a:p>
            <a:r>
              <a:rPr lang="en-US" dirty="0"/>
              <a:t>Attendance naturally decreases over time.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D9C1D-A098-1D06-3838-8CBA6381C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480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FD545-6F5E-DF01-3FF1-FF0C5A5C3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87547-6C27-D3CE-AB26-81A5EE6B7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5637F6-E09A-7CE9-4982-178D1AAFF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class is an observation that contributes two datapoints in the regression.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0C7BB-9D5B-55C5-CD41-1CC2E12BA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273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CFAF-BB19-EA81-B8AC-071743F31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7096E-C69A-3F6B-8CBE-B90029685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5BBCC-0188-82AB-5501-E81079839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Reviewer Qs naturally decrease over time.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F420F-581C-0D34-0FB4-CF9019A8F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252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4EA9D-85AF-243B-CAF0-E04400443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BC8990-0AEF-FDCC-B0C4-1C446340D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AB7147-0F09-9027-9DD6-C804F79F0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CA67D-816B-F8FF-87EC-783C4F1EB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953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63439-3AB1-1688-41AC-7A4A69926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E4225-FF58-2955-C403-4CB2BDB51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04B8E-864B-1A5C-9820-E04780392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A3D7B-2C92-0080-2830-88E62AE5C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402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2DDC5-AF24-7F54-E051-9C37680F6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C87F8-236A-B607-BC11-7648E6C99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EED9D-E6E8-69E8-F778-2835715C3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D7331-E52A-2FF6-8143-8DE67C449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947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9AB4A-A827-FF70-D8CB-D921ABF88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2155A-832C-D7A5-103A-4068945BA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C1261-3FA2-4910-3C12-F57312BA1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DiD</a:t>
            </a:r>
            <a:r>
              <a:rPr lang="en-US" dirty="0"/>
              <a:t> is appropriate for cases when you can measure the outcome for the same unit at two time points.</a:t>
            </a:r>
          </a:p>
          <a:p>
            <a:endParaRPr lang="en-US" dirty="0"/>
          </a:p>
          <a:p>
            <a:r>
              <a:rPr lang="en-US" dirty="0"/>
              <a:t>In this case, you can’t do that for each post. So better using matching-based approaches.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8C2A5-4B6C-6EFF-A8AC-41ECBE3DC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977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8256-6909-44B0-6A9B-F06D3C8E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62984-5903-B890-8EEC-E1A15EAA7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4D968F-055A-6E1D-E382-8C12C17A5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835B-E5E4-1EF1-9643-9110E71BB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567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87264-A18E-35F1-CE75-C2F34381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7E9CC5-E641-ABFE-C16F-A71B6329F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76125-3541-06AD-CCCC-233A728C4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54A0E-6950-7619-23F5-82911BD1A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22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6CFB3-1740-383E-D2F1-36CB94DBF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31953-D8E1-65A2-6ACB-58628DA79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650C1-DBB4-8CD5-987A-BFC751C45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Indirect / total effect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BBCC8-9513-B1DF-DD02-9D5D1A0CB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343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F3AB1-B177-444F-0543-A37E06331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D0CAB-C76C-4F9A-1F12-7AAA94731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73FB13-0752-FAA4-D8D0-0E6DF84D4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B51AE-CF3D-205E-93EB-4D0E22B3F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099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6449-3985-49BF-80E2-D60B6BAFD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2FFA17-C998-CE64-5786-B8FA24C45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9014B-2909-CB52-8B19-F3D827CA4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03B04-59BB-D3C7-024E-E073A60B1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52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LM Sans 12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C79BAC38-34E9-4242-BB0A-BE2DDD9404B1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5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  <a:lvl2pPr>
              <a:defRPr>
                <a:latin typeface="LM Sans 12" panose="00000500000000000000" pitchFamily="50" charset="0"/>
              </a:defRPr>
            </a:lvl2pPr>
            <a:lvl3pPr>
              <a:defRPr>
                <a:latin typeface="LM Sans 12" panose="00000500000000000000" pitchFamily="50" charset="0"/>
              </a:defRPr>
            </a:lvl3pPr>
            <a:lvl4pPr>
              <a:defRPr>
                <a:latin typeface="LM Sans 12" panose="00000500000000000000" pitchFamily="50" charset="0"/>
              </a:defRPr>
            </a:lvl4pPr>
            <a:lvl5pPr>
              <a:defRPr>
                <a:latin typeface="LM Sans 12" panose="00000500000000000000" pitchFamily="50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7FB79824-1599-2D45-A02C-28CD09FD7E14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3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4C929-4B2D-344A-9EF2-AB3A1E2C9CD2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5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Abadi MT Condensed Extra Bold" panose="020B03060301010101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A4374B65-6519-484E-9C47-1615B510C388}" type="datetime1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1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67E8-81BB-D44F-BCB5-3D37BB91F17C}" type="datetime1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5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B1A99-7612-EB4B-AEAB-054269ECF55E}" type="datetime1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2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28C00-98BB-0A4C-9B7A-E0C9A0D6114B}" type="datetime1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B20C-F5DC-D045-90B5-4CACA0C6E147}" type="datetime1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2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FE27-42F5-B748-8D36-C704C35B5F61}" type="datetime1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10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DF0BD-E983-D747-A8CF-D828D6BC397B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05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D53B-9D60-AB4F-90EE-829E25AB6707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1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0FB34C5D-9801-E548-9066-35D6B7BD067D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4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badi MT Condensed Extra Bold" panose="020B03060301010101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aopeng@cityu.edu.h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data-science-at-microsoft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nas.org/doi/10.1073/pnas.2119086119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6359-AFC8-5749-ABD8-D22C3153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602" y="1413845"/>
            <a:ext cx="7746794" cy="1729289"/>
          </a:xfrm>
        </p:spPr>
        <p:txBody>
          <a:bodyPr>
            <a:normAutofit fontScale="90000"/>
          </a:bodyPr>
          <a:lstStyle/>
          <a:p>
            <a:r>
              <a:rPr lang="en-HK" sz="5300" dirty="0">
                <a:latin typeface="+mn-lt"/>
              </a:rPr>
              <a:t>SDSC 2005 - Introduction to Computational Social Science </a:t>
            </a:r>
            <a:br>
              <a:rPr lang="en-HK" sz="5300" dirty="0">
                <a:latin typeface="+mn-lt"/>
              </a:rPr>
            </a:br>
            <a:r>
              <a:rPr lang="en-HK" sz="5300" dirty="0">
                <a:latin typeface="+mn-lt"/>
              </a:rPr>
              <a:t>(Lecture 8)</a:t>
            </a:r>
            <a:endParaRPr lang="en-US" b="1" dirty="0">
              <a:latin typeface="+mn-lt"/>
              <a:cs typeface="Al Nile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B8D86-7309-C04C-901B-36514C381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230220"/>
            <a:ext cx="6858000" cy="2653748"/>
          </a:xfrm>
        </p:spPr>
        <p:txBody>
          <a:bodyPr>
            <a:normAutofit lnSpcReduction="10000"/>
          </a:bodyPr>
          <a:lstStyle/>
          <a:p>
            <a:endParaRPr lang="en-US" dirty="0">
              <a:latin typeface="LM Sans 12" panose="00000500000000000000" pitchFamily="50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Hao PENG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(</a:t>
            </a:r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  <a:hlinkClick r:id="rId3"/>
              </a:rPr>
              <a:t>haopeng@cityu.edu.hk</a:t>
            </a:r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)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Department of Data Science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City University of Hong Kong</a:t>
            </a:r>
          </a:p>
          <a:p>
            <a:r>
              <a:rPr lang="en-US" dirty="0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https://</a:t>
            </a:r>
            <a:r>
              <a:rPr lang="en-US" dirty="0" err="1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haoopeng.github.io</a:t>
            </a:r>
            <a:r>
              <a:rPr lang="en-US" dirty="0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852969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E3BA-AE12-3F45-86DC-CA082AD8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/>
              <a:t>Agenda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30828-5CE0-BC4B-9D54-707C0B699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7" y="1690689"/>
            <a:ext cx="78867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Overview of Causal Inference</a:t>
            </a:r>
          </a:p>
          <a:p>
            <a:r>
              <a:rPr lang="en-US" sz="2400" dirty="0"/>
              <a:t>Coarsened Exact Matching (CEM)</a:t>
            </a:r>
          </a:p>
          <a:p>
            <a:r>
              <a:rPr lang="en-US" sz="2400" dirty="0"/>
              <a:t>Propensity Score Matching (PSM)</a:t>
            </a:r>
          </a:p>
          <a:p>
            <a:r>
              <a:rPr lang="en-US" sz="2400" dirty="0"/>
              <a:t>Difference-in-Differences (</a:t>
            </a:r>
            <a:r>
              <a:rPr lang="en-US" sz="2400" dirty="0" err="1"/>
              <a:t>DiD</a:t>
            </a:r>
            <a:r>
              <a:rPr lang="en-US" sz="2400" dirty="0"/>
              <a:t>)</a:t>
            </a:r>
          </a:p>
          <a:p>
            <a:r>
              <a:rPr lang="en-US" sz="2400" dirty="0"/>
              <a:t>Mediation Analysis</a:t>
            </a:r>
          </a:p>
          <a:p>
            <a:r>
              <a:rPr lang="en-US" sz="2400" dirty="0"/>
              <a:t>Conclusion and Applications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3FE41-E95E-7938-30B6-42F6F09B5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3EAAB8-E79E-937C-A03A-F7EBDDB89BD7}"/>
              </a:ext>
            </a:extLst>
          </p:cNvPr>
          <p:cNvSpPr txBox="1"/>
          <p:nvPr/>
        </p:nvSpPr>
        <p:spPr>
          <a:xfrm>
            <a:off x="1030897" y="4751812"/>
            <a:ext cx="7238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8B9"/>
                </a:solidFill>
              </a:rPr>
              <a:t>This lecture focuses on practical methods for estimating and quantifying causal effects in observational data.</a:t>
            </a:r>
          </a:p>
        </p:txBody>
      </p:sp>
    </p:spTree>
    <p:extLst>
      <p:ext uri="{BB962C8B-B14F-4D97-AF65-F5344CB8AC3E}">
        <p14:creationId xmlns:p14="http://schemas.microsoft.com/office/powerpoint/2010/main" val="3730086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9A869-1914-E606-4311-3FE5CC129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5867-1D76-9F23-0978-7691C5E9E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/>
              <a:t>What is Causal Inference?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B1553-585D-7927-18ED-E25F52A28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260" y="1536914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Goal: Testing and quantifying the causal effect of one variable (treatment) on an outcome variable, beyond correlation.</a:t>
            </a:r>
          </a:p>
          <a:p>
            <a:r>
              <a:rPr lang="en-US" sz="2400" dirty="0"/>
              <a:t>Challenges in observational data: Confounding</a:t>
            </a:r>
            <a:endParaRPr lang="en-US" sz="2000" dirty="0"/>
          </a:p>
          <a:p>
            <a:r>
              <a:rPr lang="en-US" sz="2400" dirty="0"/>
              <a:t>Key methods: matching, difference-in-difference, mediation</a:t>
            </a:r>
          </a:p>
          <a:p>
            <a:pPr lvl="1"/>
            <a:r>
              <a:rPr lang="en-US" sz="2000" dirty="0"/>
              <a:t> Counterfactuals – what would happen without treatment?</a:t>
            </a:r>
          </a:p>
          <a:p>
            <a:r>
              <a:rPr lang="en-US" sz="2400" dirty="0"/>
              <a:t>Key Assumption: no unmeasured confounders.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7F794-20E1-6E2C-16B5-736D0817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EC79119-D3B0-1D11-2117-B70CF2E52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810" y="4170928"/>
            <a:ext cx="4834741" cy="2133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9071C4-E6C0-B389-3406-E68C2EF26DA0}"/>
              </a:ext>
            </a:extLst>
          </p:cNvPr>
          <p:cNvSpPr txBox="1"/>
          <p:nvPr/>
        </p:nvSpPr>
        <p:spPr>
          <a:xfrm>
            <a:off x="3284133" y="6459866"/>
            <a:ext cx="685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Credit: </a:t>
            </a:r>
            <a:r>
              <a:rPr lang="en-US" sz="1400" dirty="0">
                <a:hlinkClick r:id="rId4"/>
              </a:rPr>
              <a:t>https://medium.com/data-science-at-microsoft/</a:t>
            </a: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26572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5D0B6-0685-303F-9B9F-66BB6E712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36F7A-11F3-79DD-3150-99CF4E6EE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/>
              <a:t>Applications of causal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140C9-8E41-1556-17E4-710FF4314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7" y="1690689"/>
            <a:ext cx="7886700" cy="4351338"/>
          </a:xfrm>
        </p:spPr>
        <p:txBody>
          <a:bodyPr>
            <a:normAutofit/>
          </a:bodyPr>
          <a:lstStyle/>
          <a:p>
            <a:r>
              <a:rPr lang="en-US" sz="2000" b="1" dirty="0"/>
              <a:t>Healthcare</a:t>
            </a:r>
            <a:r>
              <a:rPr lang="en-US" sz="2000" dirty="0"/>
              <a:t>: Determining which treatments improve patient outcomes.</a:t>
            </a:r>
          </a:p>
          <a:p>
            <a:r>
              <a:rPr lang="en-US" sz="2000" b="1" dirty="0"/>
              <a:t>Economics</a:t>
            </a:r>
            <a:r>
              <a:rPr lang="en-US" sz="2000" dirty="0"/>
              <a:t>: Assessing the effect of economic policies on employment.</a:t>
            </a:r>
          </a:p>
          <a:p>
            <a:r>
              <a:rPr lang="en-US" sz="2000" b="1" dirty="0"/>
              <a:t>Education</a:t>
            </a:r>
            <a:r>
              <a:rPr lang="en-US" sz="2000" dirty="0"/>
              <a:t>: Evaluating the effect of learning tools on performance.</a:t>
            </a:r>
          </a:p>
          <a:p>
            <a:r>
              <a:rPr lang="en-US" sz="2000" b="1" dirty="0"/>
              <a:t>Marketing</a:t>
            </a:r>
            <a:r>
              <a:rPr lang="en-US" sz="2000" dirty="0"/>
              <a:t>: Measuring the impact of marketing campaigns on sales.</a:t>
            </a:r>
          </a:p>
          <a:p>
            <a:r>
              <a:rPr lang="en-US" sz="2000" b="1" dirty="0"/>
              <a:t>Environmental policy</a:t>
            </a:r>
            <a:r>
              <a:rPr lang="en-US" sz="2000" dirty="0"/>
              <a:t>: Assessing the impact of implementing pollution control measures on outdoor air quality.</a:t>
            </a:r>
          </a:p>
          <a:p>
            <a:r>
              <a:rPr lang="en-US" sz="2000" b="1" dirty="0"/>
              <a:t>Science policy</a:t>
            </a:r>
            <a:r>
              <a:rPr lang="en-US" sz="2000" dirty="0"/>
              <a:t>: Examining the impact of GenAI on paper quality.</a:t>
            </a:r>
          </a:p>
          <a:p>
            <a:r>
              <a:rPr lang="en-US" sz="2000" dirty="0"/>
              <a:t>…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</a:rPr>
              <a:t>     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Running experiment is unethical or unrealistic in many cases.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A8955-03A5-A15D-8285-7DD770FD8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1550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D7313-D5BB-0213-5AA4-D3B8DD0A7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D44E-38FA-3987-0BB1-0B4133855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/>
              <a:t>Daily causal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5DCC0-5615-3192-A183-5242C2136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7" y="1690689"/>
            <a:ext cx="78867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Does drinking coffee improve work performance?</a:t>
            </a:r>
          </a:p>
          <a:p>
            <a:r>
              <a:rPr lang="en-US" sz="2400" dirty="0"/>
              <a:t>Does regular exercise lead to better sleep?</a:t>
            </a:r>
          </a:p>
          <a:p>
            <a:r>
              <a:rPr lang="en-US" sz="2400" dirty="0"/>
              <a:t>Does class attendance improve final grade?</a:t>
            </a:r>
          </a:p>
          <a:p>
            <a:r>
              <a:rPr lang="en-US" sz="2400" dirty="0"/>
              <a:t>How much does the new icon increase user engagement?</a:t>
            </a:r>
          </a:p>
          <a:p>
            <a:r>
              <a:rPr lang="en-US" sz="2400" dirty="0"/>
              <a:t>Does gender/age/ethnicity impact admission acceptance?</a:t>
            </a:r>
          </a:p>
          <a:p>
            <a:r>
              <a:rPr lang="en-US" sz="2400" dirty="0"/>
              <a:t>…</a:t>
            </a:r>
          </a:p>
          <a:p>
            <a:r>
              <a:rPr lang="en-US" sz="2400" dirty="0"/>
              <a:t>Can “WE” words increase the perceived paper quality?</a:t>
            </a:r>
          </a:p>
          <a:p>
            <a:r>
              <a:rPr lang="en-US" sz="2400" dirty="0">
                <a:solidFill>
                  <a:srgbClr val="C00000"/>
                </a:solidFill>
              </a:rPr>
              <a:t>Other examples?</a:t>
            </a:r>
          </a:p>
          <a:p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2066A-DDA7-1A8A-2372-F7BBD9CBA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5475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43733-255B-2619-ED00-8B810DF72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914B7-575A-D1EA-30EF-66789A643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/>
              <a:t>Why these methods?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0DA2A-3C64-EDB1-FBA5-3745A6DBE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7" y="1601479"/>
            <a:ext cx="8212006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Observational data can suffer from two issues:</a:t>
            </a:r>
          </a:p>
          <a:p>
            <a:pPr lvl="1"/>
            <a:r>
              <a:rPr lang="en-US" sz="2000" dirty="0"/>
              <a:t>Data imbalance across groups in IV (or skewed continuous IV).</a:t>
            </a:r>
          </a:p>
          <a:p>
            <a:pPr lvl="1"/>
            <a:r>
              <a:rPr lang="en-US" sz="2000" dirty="0"/>
              <a:t>Lack randomization to balance confounds across groups (unlike RCTs).</a:t>
            </a:r>
          </a:p>
          <a:p>
            <a:r>
              <a:rPr lang="en-US" sz="2400" dirty="0">
                <a:solidFill>
                  <a:srgbClr val="0078B9"/>
                </a:solidFill>
              </a:rPr>
              <a:t>Matching methods </a:t>
            </a:r>
            <a:r>
              <a:rPr lang="en-US" sz="2400" dirty="0"/>
              <a:t>can help to balance covariates between the treatment group and the control group:</a:t>
            </a:r>
          </a:p>
          <a:p>
            <a:pPr lvl="1"/>
            <a:r>
              <a:rPr lang="en-US" sz="2000" dirty="0"/>
              <a:t>Coarsened Exact Matching (CEM)</a:t>
            </a:r>
          </a:p>
          <a:p>
            <a:pPr lvl="1"/>
            <a:r>
              <a:rPr lang="en-US" sz="2000" dirty="0"/>
              <a:t>Propensity Score Matching (PSM)</a:t>
            </a:r>
            <a:endParaRPr lang="en-US" sz="1600" dirty="0"/>
          </a:p>
          <a:p>
            <a:r>
              <a:rPr lang="en-US" sz="2400" dirty="0" err="1">
                <a:solidFill>
                  <a:srgbClr val="0078B9"/>
                </a:solidFill>
              </a:rPr>
              <a:t>DiD</a:t>
            </a:r>
            <a:r>
              <a:rPr lang="en-US" sz="2400" dirty="0"/>
              <a:t>: Accounts for temporal and group self-differences.</a:t>
            </a:r>
          </a:p>
          <a:p>
            <a:r>
              <a:rPr lang="en-US" sz="2400" dirty="0">
                <a:solidFill>
                  <a:srgbClr val="0078B9"/>
                </a:solidFill>
              </a:rPr>
              <a:t>Mediation analysis</a:t>
            </a:r>
            <a:r>
              <a:rPr lang="en-US" sz="2400" dirty="0"/>
              <a:t>: Unpack mechanisms behind causal effects.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Psychological factors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Cognitive factors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Behavioral factors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DEE8F-8BD1-D12A-FB9E-85EFC1C34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1479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3D285-8FB5-7A60-038E-E8D60853A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60B3D-CF68-A078-F60B-1809D2493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/>
              <a:t>Coarsened exact matching (CEM)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E8C22-D47E-B1A5-F673-758636604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009" y="1690689"/>
            <a:ext cx="821200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78B9"/>
                </a:solidFill>
              </a:rPr>
              <a:t>A non-parametric method to reduce imbalance in covariates.</a:t>
            </a:r>
          </a:p>
          <a:p>
            <a:pPr marL="0" indent="0">
              <a:buNone/>
            </a:pPr>
            <a:r>
              <a:rPr lang="en-US" sz="2400" dirty="0"/>
              <a:t>Three steps:</a:t>
            </a:r>
          </a:p>
          <a:p>
            <a:r>
              <a:rPr lang="en-US" sz="2000" dirty="0"/>
              <a:t>"Coarsen" continuous variables into bins</a:t>
            </a:r>
          </a:p>
          <a:p>
            <a:pPr lvl="1"/>
            <a:r>
              <a:rPr lang="en-US" sz="1800" dirty="0"/>
              <a:t>e.g., age: 18-30, 31-50, etc.</a:t>
            </a:r>
          </a:p>
          <a:p>
            <a:pPr lvl="1"/>
            <a:r>
              <a:rPr lang="en-US" sz="1800" dirty="0"/>
              <a:t>Categorical vars remain the same.</a:t>
            </a:r>
          </a:p>
          <a:p>
            <a:r>
              <a:rPr lang="en-US" sz="2000" dirty="0"/>
              <a:t>Do exact matches on coarsened variables</a:t>
            </a:r>
          </a:p>
          <a:p>
            <a:pPr lvl="1"/>
            <a:r>
              <a:rPr lang="en-US" sz="1800" dirty="0"/>
              <a:t>1-to-1 or 1-to-many</a:t>
            </a:r>
          </a:p>
          <a:p>
            <a:pPr lvl="1"/>
            <a:r>
              <a:rPr lang="en-US" sz="1800" dirty="0"/>
              <a:t>Discard unmatched units</a:t>
            </a:r>
          </a:p>
          <a:p>
            <a:pPr lvl="1"/>
            <a:r>
              <a:rPr lang="en-US" sz="1800" dirty="0"/>
              <a:t>Results in matched samples with identical distributions</a:t>
            </a:r>
            <a:endParaRPr lang="en-US" sz="1600" dirty="0"/>
          </a:p>
          <a:p>
            <a:r>
              <a:rPr lang="en-US" sz="2000" dirty="0"/>
              <a:t>Compare the average DV across two matched groups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1A392-4CE1-4495-55E6-F105AFE8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388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03512-A299-F0CA-168C-F63FE1440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CBC75-71A0-8AD6-544E-1B91D7DD9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/>
              <a:t>Coarsened exact matching (CEM)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FA58F-6D7C-7D1E-CCA4-6A7262B89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pic>
        <p:nvPicPr>
          <p:cNvPr id="1026" name="Picture 2" descr="CEM: Coarsened Exact Matching Explained | by Alan Huffman | Medium">
            <a:extLst>
              <a:ext uri="{FF2B5EF4-FFF2-40B4-BE49-F238E27FC236}">
                <a16:creationId xmlns:a16="http://schemas.microsoft.com/office/drawing/2014/main" id="{CE186C3C-5928-7CA6-4A67-5C759C04E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54" y="2873699"/>
            <a:ext cx="7783553" cy="320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3006CA-AA18-0EE6-F57C-F3C3DA663BCC}"/>
              </a:ext>
            </a:extLst>
          </p:cNvPr>
          <p:cNvSpPr txBox="1"/>
          <p:nvPr/>
        </p:nvSpPr>
        <p:spPr>
          <a:xfrm>
            <a:off x="706707" y="1690689"/>
            <a:ext cx="76567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CEM logic is quite straightforward as it requires no statistical modeling for matching/pruning (a.k.a., non-parametric).</a:t>
            </a:r>
          </a:p>
        </p:txBody>
      </p:sp>
    </p:spTree>
    <p:extLst>
      <p:ext uri="{BB962C8B-B14F-4D97-AF65-F5344CB8AC3E}">
        <p14:creationId xmlns:p14="http://schemas.microsoft.com/office/powerpoint/2010/main" val="2904769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EB2AF-FB2F-53E7-7764-13FC04231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D30C6-A7D4-8736-02B8-709E7ADC9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/>
              <a:t>CEM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A00B1-59FF-7FA9-D2E5-0BB663D66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7" y="1690689"/>
            <a:ext cx="8212006" cy="43513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Question: The effect of LLM usage on students’ course grade?</a:t>
            </a:r>
            <a:endParaRPr lang="en-US" sz="2000" dirty="0">
              <a:solidFill>
                <a:srgbClr val="C00000"/>
              </a:solidFill>
            </a:endParaRPr>
          </a:p>
          <a:p>
            <a:r>
              <a:rPr lang="en-US" sz="2000" b="1" dirty="0"/>
              <a:t>What’s the treatment?</a:t>
            </a:r>
          </a:p>
          <a:p>
            <a:r>
              <a:rPr lang="en-US" sz="2000" b="1" dirty="0"/>
              <a:t>Covariates</a:t>
            </a:r>
            <a:r>
              <a:rPr lang="en-US" sz="2000" dirty="0"/>
              <a:t>: gender, major, track, age, prior GPA, ethnicity</a:t>
            </a:r>
          </a:p>
          <a:p>
            <a:pPr lvl="1"/>
            <a:r>
              <a:rPr lang="en-US" sz="2000" dirty="0"/>
              <a:t>What else should we match on?</a:t>
            </a:r>
          </a:p>
          <a:p>
            <a:pPr lvl="1"/>
            <a:r>
              <a:rPr lang="en-US" sz="2000" dirty="0"/>
              <a:t>How do we coarsen each variable?</a:t>
            </a:r>
          </a:p>
          <a:p>
            <a:pPr lvl="1"/>
            <a:r>
              <a:rPr lang="en-US" sz="2000" dirty="0"/>
              <a:t>Trials and iterations are often needed.</a:t>
            </a:r>
          </a:p>
          <a:p>
            <a:r>
              <a:rPr lang="en-US" sz="2000" dirty="0"/>
              <a:t>Result: Matched sample shows a 0.7 boost in GPA.</a:t>
            </a:r>
          </a:p>
          <a:p>
            <a:pPr lvl="1"/>
            <a:r>
              <a:rPr lang="en-US" sz="2000" u="sng" dirty="0"/>
              <a:t>Empirical evidence from last year’s data.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362C4-FE8C-6FDD-0BC5-5082B6BB4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1777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C894D-AD46-9BC9-2C82-E4BE7575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5A9AB-2C7D-69D5-FC3A-8D0292BE1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/>
              <a:t>CEM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512D6-788F-83CF-AD46-2D611D82B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7" y="1505159"/>
            <a:ext cx="8212006" cy="4351338"/>
          </a:xfrm>
        </p:spPr>
        <p:txBody>
          <a:bodyPr>
            <a:normAutofit/>
          </a:bodyPr>
          <a:lstStyle/>
          <a:p>
            <a:r>
              <a:rPr lang="en-US" sz="2400" dirty="0"/>
              <a:t>Q: Do retracted papers receive more online attention?</a:t>
            </a:r>
          </a:p>
          <a:p>
            <a:r>
              <a:rPr lang="en-US" sz="2400" dirty="0"/>
              <a:t>Covariates used in matching:</a:t>
            </a:r>
          </a:p>
          <a:p>
            <a:pPr lvl="1"/>
            <a:r>
              <a:rPr lang="en-US" sz="2000" dirty="0"/>
              <a:t>Year, Journal</a:t>
            </a:r>
          </a:p>
          <a:p>
            <a:pPr lvl="1"/>
            <a:r>
              <a:rPr lang="en-US" sz="2000" dirty="0"/>
              <a:t>Team size, Author citation percentile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0D3CC-F987-65DF-2B06-052B8928D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47E150-0867-5682-714E-8C4805591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048" y="3174021"/>
            <a:ext cx="5877280" cy="2958907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CEA050-59DC-0476-2C51-AFAD16D9D078}"/>
              </a:ext>
            </a:extLst>
          </p:cNvPr>
          <p:cNvSpPr txBox="1"/>
          <p:nvPr/>
        </p:nvSpPr>
        <p:spPr>
          <a:xfrm>
            <a:off x="3685229" y="6323053"/>
            <a:ext cx="411545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https://www.pnas.org/doi/10.1073/pnas.2119086119</a:t>
            </a:r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35552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26516-6BBC-E3B6-6A0A-4711B510B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1648-4C1B-FA9B-1A5D-C1877843B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/>
              <a:t>CEM (dis)advantages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90924-A60B-D3F8-576D-30F381C0B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916" y="1708695"/>
            <a:ext cx="821200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Advantages</a:t>
            </a:r>
            <a:r>
              <a:rPr lang="en-US" sz="2000" dirty="0"/>
              <a:t>: </a:t>
            </a:r>
          </a:p>
          <a:p>
            <a:r>
              <a:rPr lang="en-US" sz="2000" dirty="0"/>
              <a:t>Easy to understand and implement (e.g., R package 'cem’).</a:t>
            </a:r>
          </a:p>
          <a:p>
            <a:r>
              <a:rPr lang="en-US" sz="2000" dirty="0"/>
              <a:t>Compare to PSM: CEM is more transparent, less model-dependent.</a:t>
            </a:r>
          </a:p>
          <a:p>
            <a:pPr marL="0" indent="0">
              <a:buNone/>
            </a:pPr>
            <a:r>
              <a:rPr lang="en-US" sz="2400" dirty="0"/>
              <a:t>Limitations:</a:t>
            </a:r>
            <a:r>
              <a:rPr lang="en-US" sz="2000" dirty="0"/>
              <a:t> </a:t>
            </a:r>
          </a:p>
          <a:p>
            <a:r>
              <a:rPr lang="en-US" sz="2000" dirty="0"/>
              <a:t>Data loss from pruning.</a:t>
            </a:r>
          </a:p>
          <a:p>
            <a:r>
              <a:rPr lang="en-US" sz="2000" dirty="0"/>
              <a:t>Assumes that coarsening fully captures confounders.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</a:rPr>
              <a:t>Coarsening level: trades offs between sample size and accuracy – coarser means more matches, but at the cost of quality (biased estimation of ATE).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3C11C-B36E-A01F-174A-401945B8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2770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E0808-9C27-CC29-BC52-60F1D3283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C1204-C5F4-9448-4552-97134BEBC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/>
              <a:t>Propensity Score Matching (PSM)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8A2CA-ED1D-E0B2-C3A5-1D24F3671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311" y="1690689"/>
            <a:ext cx="821200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78B9"/>
                </a:solidFill>
              </a:rPr>
              <a:t>PSM: Match units based on probability of treatment.</a:t>
            </a:r>
          </a:p>
          <a:p>
            <a:r>
              <a:rPr lang="en-US" sz="2000" dirty="0"/>
              <a:t>Propensity score: P(T=1 | X) estimated via a logistic regression.</a:t>
            </a:r>
          </a:p>
          <a:p>
            <a:r>
              <a:rPr lang="en-US" sz="2000" dirty="0"/>
              <a:t>Reduces multidimensional matching in CEM to one dimension.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Key difference:</a:t>
            </a:r>
          </a:p>
          <a:p>
            <a:r>
              <a:rPr lang="en-US" sz="2000" u="sng" dirty="0"/>
              <a:t>Now DV is the treatment (IV), not the original DV of interest.</a:t>
            </a:r>
          </a:p>
          <a:p>
            <a:pPr lvl="1"/>
            <a:r>
              <a:rPr lang="en-US" sz="1800" dirty="0"/>
              <a:t>Gender, Retraction Status, LLM Usage, etc.</a:t>
            </a:r>
          </a:p>
          <a:p>
            <a:r>
              <a:rPr lang="en-US" sz="2000" dirty="0">
                <a:solidFill>
                  <a:srgbClr val="C00000"/>
                </a:solidFill>
              </a:rPr>
              <a:t>How to deal with continuous IV in PSM?</a:t>
            </a:r>
          </a:p>
          <a:p>
            <a:pPr lvl="1"/>
            <a:r>
              <a:rPr lang="en-US" sz="1800" dirty="0"/>
              <a:t>Frequency of LLM usage</a:t>
            </a:r>
          </a:p>
          <a:p>
            <a:pPr lvl="1"/>
            <a:r>
              <a:rPr lang="en-US" sz="1800" dirty="0"/>
              <a:t>Percentage of </a:t>
            </a:r>
            <a:r>
              <a:rPr lang="en-US" sz="1800" dirty="0" err="1"/>
              <a:t>Pwords</a:t>
            </a:r>
            <a:r>
              <a:rPr lang="en-US" sz="1800" dirty="0"/>
              <a:t>, Perc. of WE, etc.</a:t>
            </a:r>
            <a:endParaRPr lang="en-US" sz="12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7D26A-0937-7CA9-8D80-09C49492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524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B7EF5-44F7-16B8-263D-31E85B3A5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1874-1DC3-F880-A925-F28C7093F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59" y="1544915"/>
            <a:ext cx="8212006" cy="4351338"/>
          </a:xfrm>
        </p:spPr>
        <p:txBody>
          <a:bodyPr>
            <a:normAutofit/>
          </a:bodyPr>
          <a:lstStyle/>
          <a:p>
            <a:r>
              <a:rPr lang="en-US" sz="2000" dirty="0"/>
              <a:t>Model </a:t>
            </a:r>
            <a:r>
              <a:rPr lang="en-US" sz="2000" b="1" dirty="0">
                <a:solidFill>
                  <a:srgbClr val="C00000"/>
                </a:solidFill>
              </a:rPr>
              <a:t>treatment</a:t>
            </a:r>
            <a:r>
              <a:rPr lang="en-US" sz="2000" dirty="0"/>
              <a:t> (original IV) as a function of covariates:</a:t>
            </a:r>
          </a:p>
          <a:p>
            <a:pPr lvl="1"/>
            <a:r>
              <a:rPr lang="en-US" sz="1800" dirty="0"/>
              <a:t>logit(T) = </a:t>
            </a:r>
            <a:r>
              <a:rPr lang="el-GR" sz="1800" dirty="0"/>
              <a:t>β0 + β</a:t>
            </a:r>
            <a:r>
              <a:rPr lang="en-US" sz="1800" dirty="0"/>
              <a:t>X.</a:t>
            </a:r>
          </a:p>
          <a:p>
            <a:pPr lvl="1"/>
            <a:r>
              <a:rPr lang="en-US" sz="1800" dirty="0"/>
              <a:t>Controls in X are the same as in the observational regression model.</a:t>
            </a:r>
            <a:endParaRPr lang="en-US" sz="1600" dirty="0"/>
          </a:p>
          <a:p>
            <a:r>
              <a:rPr lang="en-US" sz="2000" dirty="0"/>
              <a:t>Use the fitted model to predict propensity scores for all units.</a:t>
            </a:r>
          </a:p>
          <a:p>
            <a:r>
              <a:rPr lang="en-US" sz="2000" dirty="0"/>
              <a:t>Check overlap: Histograms of scores for treated vs. control.</a:t>
            </a:r>
            <a:endParaRPr lang="en-US" sz="12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111FAF-77EF-55F9-F020-94EF15A6E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b="0" dirty="0"/>
              <a:t>Step 1: Predict propensity scores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9AF9D-257D-BAF4-7CF9-3D47A04A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pic>
        <p:nvPicPr>
          <p:cNvPr id="8" name="Picture 4" descr="Optimizing matching and analysis combinations for estimating causal effects  | Scientific Reports">
            <a:extLst>
              <a:ext uri="{FF2B5EF4-FFF2-40B4-BE49-F238E27FC236}">
                <a16:creationId xmlns:a16="http://schemas.microsoft.com/office/drawing/2014/main" id="{D9000A1E-C571-9568-E51D-FC984A2A2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084" y="3556304"/>
            <a:ext cx="5829300" cy="2569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9602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E0AEE-E487-D13A-02F7-1919FBD4D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79DBB-0568-F6EF-C849-EB060C8EB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59" y="1544915"/>
            <a:ext cx="8212006" cy="4351338"/>
          </a:xfrm>
        </p:spPr>
        <p:txBody>
          <a:bodyPr>
            <a:normAutofit/>
          </a:bodyPr>
          <a:lstStyle/>
          <a:p>
            <a:r>
              <a:rPr lang="en-US" sz="2000" dirty="0"/>
              <a:t>Matching methods:</a:t>
            </a:r>
          </a:p>
          <a:p>
            <a:pPr lvl="1"/>
            <a:r>
              <a:rPr lang="en-US" sz="1800" dirty="0"/>
              <a:t>Nearest neighbor (1:1 or 1:k): commonly used approach</a:t>
            </a:r>
          </a:p>
          <a:p>
            <a:pPr lvl="1"/>
            <a:r>
              <a:rPr lang="en-US" sz="1800" dirty="0"/>
              <a:t>Caliper (discard if difference &gt; threshold): can prevent bad matches</a:t>
            </a:r>
            <a:endParaRPr lang="en-US" sz="1600" dirty="0"/>
          </a:p>
          <a:p>
            <a:r>
              <a:rPr lang="en-US" sz="2000" dirty="0"/>
              <a:t>With/without replacement:</a:t>
            </a:r>
          </a:p>
          <a:p>
            <a:pPr lvl="1"/>
            <a:r>
              <a:rPr lang="en-US" sz="1800" dirty="0"/>
              <a:t>Often with replacement if control units are limited, or hard to find matches.</a:t>
            </a:r>
          </a:p>
          <a:p>
            <a:r>
              <a:rPr lang="en-US" sz="2000" dirty="0">
                <a:solidFill>
                  <a:srgbClr val="C00000"/>
                </a:solidFill>
              </a:rPr>
              <a:t>Balance diagnostics</a:t>
            </a:r>
            <a:r>
              <a:rPr lang="en-US" sz="2000" dirty="0"/>
              <a:t>: standardized mean differences (SMD &lt; 0.1 ideal).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2867B7-B50F-712D-387B-25B992451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b="0" dirty="0"/>
              <a:t>Step 2: Matching on scores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77FEC-A9B0-5F87-4BEB-072A2B76A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2ADDD1E-5B2C-FDD5-4E11-F74918AF3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579" y="3720584"/>
            <a:ext cx="4392945" cy="2635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7671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F0202-5941-EC75-D4FE-BC606E5A5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2EECA-B779-B2D8-7790-B0C8DE6A1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59" y="1544915"/>
            <a:ext cx="8212006" cy="4351338"/>
          </a:xfrm>
        </p:spPr>
        <p:txBody>
          <a:bodyPr>
            <a:normAutofit/>
          </a:bodyPr>
          <a:lstStyle/>
          <a:p>
            <a:r>
              <a:rPr lang="en-US" sz="2000" dirty="0"/>
              <a:t>Post-matching analysis:</a:t>
            </a:r>
          </a:p>
          <a:p>
            <a:pPr lvl="1"/>
            <a:r>
              <a:rPr lang="en-US" sz="1800" dirty="0"/>
              <a:t>Direct comparison in the mean of DV between treatment and control</a:t>
            </a:r>
          </a:p>
          <a:p>
            <a:pPr lvl="1"/>
            <a:r>
              <a:rPr lang="en-US" sz="1800" dirty="0"/>
              <a:t>Further regression analysis with control variables, on matched units</a:t>
            </a:r>
            <a:endParaRPr lang="en-US" sz="1600" dirty="0"/>
          </a:p>
          <a:p>
            <a:r>
              <a:rPr lang="en-US" sz="2000" dirty="0"/>
              <a:t>R package: </a:t>
            </a:r>
            <a:r>
              <a:rPr lang="en-US" sz="2000" dirty="0" err="1"/>
              <a:t>MatchIt</a:t>
            </a:r>
            <a:endParaRPr lang="en-US" sz="2000" dirty="0"/>
          </a:p>
          <a:p>
            <a:r>
              <a:rPr lang="en-US" sz="2000" dirty="0">
                <a:solidFill>
                  <a:srgbClr val="0078B9"/>
                </a:solidFill>
              </a:rPr>
              <a:t>Example</a:t>
            </a:r>
            <a:r>
              <a:rPr lang="en-US" sz="2000" dirty="0"/>
              <a:t>: </a:t>
            </a:r>
            <a:r>
              <a:rPr lang="en-US" sz="2000" u="sng" dirty="0"/>
              <a:t>Estimating the effect of </a:t>
            </a:r>
            <a:r>
              <a:rPr lang="en-US" sz="2000" u="sng" dirty="0" err="1"/>
              <a:t>Pwords</a:t>
            </a:r>
            <a:r>
              <a:rPr lang="en-US" sz="2000" u="sng" dirty="0"/>
              <a:t> on patent success</a:t>
            </a:r>
          </a:p>
          <a:p>
            <a:pPr lvl="1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E69C8B-DD13-9B5B-3DE4-14E9788A2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b="0"/>
              <a:t>Step 3: Quantify ATE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77737-BAB6-126E-CF2B-FAC8C55B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3E81B2-EDBE-C6B4-A603-6DBF7D028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515" y="3512740"/>
            <a:ext cx="5425998" cy="266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532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B3D11-EA54-4407-F001-2DF5C1C65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F6BD1-BE4F-C53E-65E7-396C321B7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/>
              <a:t>PSM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7BFA0-C5AA-896D-7A4C-D6217F417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7" y="1452153"/>
            <a:ext cx="821200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Recall the observational study of the gender gap in online self-promotion.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</a:rPr>
              <a:t>How to use PSM for causal inference? (imbalance: more men than women)</a:t>
            </a:r>
          </a:p>
          <a:p>
            <a:r>
              <a:rPr lang="en-US" sz="2000" dirty="0"/>
              <a:t>Predict author gender (IV) using all covariates (journal, affiliation, etc.)</a:t>
            </a:r>
          </a:p>
          <a:p>
            <a:r>
              <a:rPr lang="en-US" sz="2000" dirty="0"/>
              <a:t>Matching on propensity scores. Calculate ATE by comparing diff in mean.</a:t>
            </a: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16618-C6A5-27DA-91DC-F8A866A97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pic>
        <p:nvPicPr>
          <p:cNvPr id="6" name="Picture 5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7999C3A1-388F-5F17-54D5-3E414B443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700" y="3162031"/>
            <a:ext cx="6811154" cy="311136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56086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892D0-7C56-D89A-7CFC-1BD5A6F32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F490C-EE58-C485-423C-43B40C49C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/>
              <a:t>PSM (dis)advantages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8F39A-C880-0B78-D925-C23EED06F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7" y="1489967"/>
            <a:ext cx="8212006" cy="4351338"/>
          </a:xfrm>
        </p:spPr>
        <p:txBody>
          <a:bodyPr>
            <a:normAutofit/>
          </a:bodyPr>
          <a:lstStyle/>
          <a:p>
            <a:r>
              <a:rPr lang="en-US" sz="2400" dirty="0"/>
              <a:t>Advantages: </a:t>
            </a:r>
          </a:p>
          <a:p>
            <a:pPr lvl="1"/>
            <a:r>
              <a:rPr lang="en-US" sz="2000" dirty="0"/>
              <a:t>Flexible</a:t>
            </a:r>
          </a:p>
          <a:p>
            <a:pPr lvl="1"/>
            <a:r>
              <a:rPr lang="en-US" sz="2000" dirty="0"/>
              <a:t>Can handle many covariates (unlike CEM)</a:t>
            </a:r>
          </a:p>
          <a:p>
            <a:r>
              <a:rPr lang="en-US" sz="2400" dirty="0"/>
              <a:t>Limitations: </a:t>
            </a:r>
          </a:p>
          <a:p>
            <a:pPr lvl="1"/>
            <a:r>
              <a:rPr lang="en-US" sz="2000" dirty="0"/>
              <a:t>Model misspecification bias.</a:t>
            </a:r>
          </a:p>
          <a:p>
            <a:pPr lvl="1"/>
            <a:r>
              <a:rPr lang="en-US" sz="2000" dirty="0"/>
              <a:t>Hidden bias from unobserved confounds.</a:t>
            </a:r>
          </a:p>
          <a:p>
            <a:r>
              <a:rPr lang="en-US" sz="2400" dirty="0"/>
              <a:t>Note: need to show covariate balance pre/post matching.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B5647-64F2-F808-8FE9-CA46FA6D4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9995EB6-9E5F-018C-B405-75E27D636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222" y="4284562"/>
            <a:ext cx="4430753" cy="243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0056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C9A77-76EB-FF40-012C-AF58F4532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BB97-675D-9669-CD17-7C950015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/>
              <a:t>Difference-in-Differences (</a:t>
            </a:r>
            <a:r>
              <a:rPr lang="en-US" b="0" dirty="0" err="1"/>
              <a:t>DiD</a:t>
            </a:r>
            <a:r>
              <a:rPr lang="en-US" b="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DE196-A250-DD0D-F545-B38168C1A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78654"/>
            <a:ext cx="8212006" cy="4351338"/>
          </a:xfrm>
        </p:spPr>
        <p:txBody>
          <a:bodyPr>
            <a:normAutofit/>
          </a:bodyPr>
          <a:lstStyle/>
          <a:p>
            <a:r>
              <a:rPr lang="en-US" sz="2000" dirty="0"/>
              <a:t>Typically used to estimate the impact of a policy intervention or treatment (such as a passage of law or drug usage) </a:t>
            </a:r>
            <a:r>
              <a:rPr lang="en-US" sz="2000" u="sng" dirty="0">
                <a:solidFill>
                  <a:srgbClr val="0078B9"/>
                </a:solidFill>
              </a:rPr>
              <a:t>that would take effect over time</a:t>
            </a:r>
            <a:r>
              <a:rPr lang="en-US" sz="2000" dirty="0"/>
              <a:t>.</a:t>
            </a:r>
          </a:p>
          <a:p>
            <a:r>
              <a:rPr lang="en-US" sz="2000" dirty="0">
                <a:solidFill>
                  <a:srgbClr val="C00000"/>
                </a:solidFill>
              </a:rPr>
              <a:t>Key challenge: </a:t>
            </a:r>
            <a:r>
              <a:rPr lang="en-US" sz="2000" dirty="0"/>
              <a:t>the treatment effect usually needs a clear time window to happen, but the outcome also naturally changes over time.</a:t>
            </a:r>
          </a:p>
          <a:p>
            <a:r>
              <a:rPr lang="en-US" sz="2000" dirty="0"/>
              <a:t>For example:</a:t>
            </a:r>
          </a:p>
          <a:p>
            <a:pPr lvl="1"/>
            <a:r>
              <a:rPr lang="en-US" sz="1800" dirty="0"/>
              <a:t>Treatment: minimal wage law implementation</a:t>
            </a:r>
          </a:p>
          <a:p>
            <a:pPr lvl="1"/>
            <a:r>
              <a:rPr lang="en-US" sz="1800" dirty="0"/>
              <a:t>Outcome: avg salary in a city / state</a:t>
            </a:r>
          </a:p>
          <a:p>
            <a:pPr lvl="1"/>
            <a:r>
              <a:rPr lang="en-US" sz="1800" dirty="0"/>
              <a:t>But wage naturally changes over time (inflation or unemployment crisis)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319AE-C034-CF7B-45B6-3DB3D7DA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2199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91FBD-F048-5CCB-0D92-7049A501C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B70BF-232A-E76C-37EC-982E7D18E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/>
              <a:t>How does </a:t>
            </a:r>
            <a:r>
              <a:rPr lang="en-US" b="0" dirty="0" err="1"/>
              <a:t>DiD</a:t>
            </a:r>
            <a:r>
              <a:rPr lang="en-US" b="0" dirty="0"/>
              <a:t>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A50A1-C482-A9C5-6221-3B03E1AFC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78654"/>
            <a:ext cx="8212006" cy="4351338"/>
          </a:xfrm>
        </p:spPr>
        <p:txBody>
          <a:bodyPr>
            <a:normAutofit/>
          </a:bodyPr>
          <a:lstStyle/>
          <a:p>
            <a:r>
              <a:rPr lang="en-US" sz="2000" dirty="0" err="1"/>
              <a:t>DiD</a:t>
            </a:r>
            <a:r>
              <a:rPr lang="en-US" sz="2000" dirty="0"/>
              <a:t> estimates the ATE by </a:t>
            </a:r>
            <a:r>
              <a:rPr lang="en-US" sz="2000" dirty="0">
                <a:solidFill>
                  <a:srgbClr val="0078B9"/>
                </a:solidFill>
              </a:rPr>
              <a:t>comparing the change</a:t>
            </a:r>
            <a:r>
              <a:rPr lang="en-US" sz="2000" dirty="0"/>
              <a:t> in the outcome over time between a population that is enrolled in the program/policy (intervention or treatment group) and a population that is not (control group).</a:t>
            </a:r>
          </a:p>
          <a:p>
            <a:pPr lvl="1"/>
            <a:r>
              <a:rPr lang="en-US" sz="1800" dirty="0"/>
              <a:t>Difference between two changes (a.k.a., </a:t>
            </a:r>
            <a:r>
              <a:rPr lang="en-US" sz="1800" dirty="0" err="1"/>
              <a:t>DiD</a:t>
            </a:r>
            <a:r>
              <a:rPr lang="en-US" sz="1800" dirty="0"/>
              <a:t>)</a:t>
            </a:r>
          </a:p>
          <a:p>
            <a:r>
              <a:rPr lang="en-US" sz="2000" dirty="0">
                <a:solidFill>
                  <a:srgbClr val="C00000"/>
                </a:solidFill>
              </a:rPr>
              <a:t>What is the change in outcome (wage) for treatment group (law)?</a:t>
            </a:r>
          </a:p>
          <a:p>
            <a:r>
              <a:rPr lang="en-US" sz="2000" dirty="0">
                <a:solidFill>
                  <a:srgbClr val="C00000"/>
                </a:solidFill>
              </a:rPr>
              <a:t>What is the ATE? What does B</a:t>
            </a:r>
            <a:r>
              <a:rPr lang="en-US" sz="2000" baseline="-25000" dirty="0">
                <a:solidFill>
                  <a:srgbClr val="C00000"/>
                </a:solidFill>
              </a:rPr>
              <a:t>2 </a:t>
            </a:r>
            <a:r>
              <a:rPr lang="en-US" sz="2000" dirty="0">
                <a:solidFill>
                  <a:srgbClr val="C00000"/>
                </a:solidFill>
              </a:rPr>
              <a:t>represent?</a:t>
            </a:r>
            <a:endParaRPr lang="en-US" sz="2000" baseline="-250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D8817-D216-60FC-AD3D-D01131DA4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9D3D92F6-8B36-E787-17B4-163ABA725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734" y="3826127"/>
            <a:ext cx="3334919" cy="25302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A357E9-01B2-3373-5737-B919F47AA536}"/>
              </a:ext>
            </a:extLst>
          </p:cNvPr>
          <p:cNvSpPr txBox="1"/>
          <p:nvPr/>
        </p:nvSpPr>
        <p:spPr>
          <a:xfrm>
            <a:off x="5098638" y="4088438"/>
            <a:ext cx="30524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8B9"/>
                </a:solidFill>
              </a:rPr>
              <a:t>Why is the matching /pruning unnecessary?</a:t>
            </a:r>
          </a:p>
        </p:txBody>
      </p:sp>
    </p:spTree>
    <p:extLst>
      <p:ext uri="{BB962C8B-B14F-4D97-AF65-F5344CB8AC3E}">
        <p14:creationId xmlns:p14="http://schemas.microsoft.com/office/powerpoint/2010/main" val="1760067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9C23B-2A79-8A75-2937-0AB576022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80857-8A2D-FE64-BF8B-163AC2E2B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/>
              <a:t>Difference-in-Differences (</a:t>
            </a:r>
            <a:r>
              <a:rPr lang="en-US" b="0" dirty="0" err="1"/>
              <a:t>DiD</a:t>
            </a:r>
            <a:r>
              <a:rPr lang="en-US" b="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E3652-AD12-EFC6-70BD-3D0025B75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7" y="1475537"/>
            <a:ext cx="8212006" cy="4351338"/>
          </a:xfrm>
        </p:spPr>
        <p:txBody>
          <a:bodyPr>
            <a:normAutofit/>
          </a:bodyPr>
          <a:lstStyle/>
          <a:p>
            <a:r>
              <a:rPr lang="en-US" sz="2000" dirty="0"/>
              <a:t>Assumes parallel trends:</a:t>
            </a:r>
          </a:p>
          <a:p>
            <a:pPr lvl="1"/>
            <a:r>
              <a:rPr lang="en-US" sz="1800" dirty="0"/>
              <a:t>Without treatment, trends would be the same (diff is stable)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Common in policy evaluation</a:t>
            </a:r>
            <a:endParaRPr lang="en-US" sz="20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</a:rPr>
              <a:t>How to design the following study? (Exercise time)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78B9"/>
                </a:solidFill>
              </a:rPr>
              <a:t>Does implementing attendance check increase class attendance</a:t>
            </a:r>
            <a:r>
              <a:rPr lang="en-US" sz="2000" dirty="0"/>
              <a:t>?</a:t>
            </a:r>
          </a:p>
          <a:p>
            <a:r>
              <a:rPr lang="en-US" sz="1800" dirty="0"/>
              <a:t>Can we just look at change in class attendance before and after?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3473D-22E1-0542-316E-D182CD439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pic>
        <p:nvPicPr>
          <p:cNvPr id="19458" name="Picture 2" descr="An example of the causal inference method using a DiD model showing the...  | Download Scientific Diagram">
            <a:extLst>
              <a:ext uri="{FF2B5EF4-FFF2-40B4-BE49-F238E27FC236}">
                <a16:creationId xmlns:a16="http://schemas.microsoft.com/office/drawing/2014/main" id="{089A2C1E-1AC1-92D4-63B9-734923CC6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838" y="4217170"/>
            <a:ext cx="4046111" cy="2208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6756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CC972-1373-4CB0-1DE2-5816397CF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68D2D-3CDF-D3D6-6DED-D9CFFA519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 err="1"/>
              <a:t>DiD</a:t>
            </a:r>
            <a:r>
              <a:rPr lang="en-US" b="0" dirty="0"/>
              <a:t> - Basic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7F74F-E844-313E-9407-2B2B625BB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99677"/>
            <a:ext cx="8212006" cy="4351338"/>
          </a:xfrm>
        </p:spPr>
        <p:txBody>
          <a:bodyPr>
            <a:normAutofit/>
          </a:bodyPr>
          <a:lstStyle/>
          <a:p>
            <a:r>
              <a:rPr lang="en-US" sz="2000" dirty="0"/>
              <a:t>Equation: Y = </a:t>
            </a:r>
            <a:r>
              <a:rPr lang="el-GR" sz="2000" dirty="0"/>
              <a:t>β0 + β1</a:t>
            </a:r>
            <a:r>
              <a:rPr lang="en-US" sz="2000" dirty="0"/>
              <a:t>*Treat + </a:t>
            </a:r>
            <a:r>
              <a:rPr lang="el-GR" sz="2000" dirty="0"/>
              <a:t>β2</a:t>
            </a:r>
            <a:r>
              <a:rPr lang="en-US" sz="2000" dirty="0"/>
              <a:t>*Post + </a:t>
            </a:r>
            <a:r>
              <a:rPr lang="el-GR" sz="2000" dirty="0"/>
              <a:t>β3*(</a:t>
            </a:r>
            <a:r>
              <a:rPr lang="en-US" sz="2000" dirty="0"/>
              <a:t>Treat*Post) + X + </a:t>
            </a:r>
            <a:r>
              <a:rPr lang="el-GR" sz="2000" dirty="0"/>
              <a:t>ε</a:t>
            </a:r>
          </a:p>
          <a:p>
            <a:r>
              <a:rPr lang="en-US" sz="2000" dirty="0">
                <a:solidFill>
                  <a:srgbClr val="0078B9"/>
                </a:solidFill>
              </a:rPr>
              <a:t>Each unit contributes two datapoints in the regression setup.</a:t>
            </a:r>
          </a:p>
          <a:p>
            <a:pPr lvl="1"/>
            <a:r>
              <a:rPr lang="en-US" sz="1600" dirty="0"/>
              <a:t>Regardless of treatment or control status</a:t>
            </a:r>
          </a:p>
          <a:p>
            <a:pPr lvl="1"/>
            <a:r>
              <a:rPr lang="en-US" sz="1600" dirty="0"/>
              <a:t>One measurement for the pre-treatment period</a:t>
            </a:r>
          </a:p>
          <a:p>
            <a:pPr lvl="1"/>
            <a:r>
              <a:rPr lang="en-US" sz="1600" dirty="0"/>
              <a:t>Another measurement for the post-treatment period</a:t>
            </a:r>
          </a:p>
          <a:p>
            <a:r>
              <a:rPr lang="en-US" sz="2000" dirty="0"/>
              <a:t>Notes: Treat=1 for treatment group, Post=1 after intervention.</a:t>
            </a:r>
          </a:p>
          <a:p>
            <a:r>
              <a:rPr lang="el-GR" sz="2000" dirty="0"/>
              <a:t>β3 </a:t>
            </a:r>
            <a:r>
              <a:rPr lang="en-US" sz="2000" dirty="0"/>
              <a:t>is the </a:t>
            </a:r>
            <a:r>
              <a:rPr lang="en-US" sz="2000" dirty="0" err="1"/>
              <a:t>DiD</a:t>
            </a:r>
            <a:r>
              <a:rPr lang="en-US" sz="2000" dirty="0"/>
              <a:t> estimator (the causal effect).</a:t>
            </a:r>
          </a:p>
          <a:p>
            <a:r>
              <a:rPr lang="en-US" sz="2000" dirty="0"/>
              <a:t>Add all covariates / controls in X.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What are values for these variables in the attendance study?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B7A0A-89A2-BD30-DDED-72B67D505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03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128E6-CA37-5D10-FDB5-171FF785B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076DD-A455-A7D4-B617-3DA2DFC26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6" y="365126"/>
            <a:ext cx="8133949" cy="1325563"/>
          </a:xfrm>
        </p:spPr>
        <p:txBody>
          <a:bodyPr/>
          <a:lstStyle/>
          <a:p>
            <a:r>
              <a:rPr lang="en-US" b="0" dirty="0" err="1"/>
              <a:t>DiD</a:t>
            </a:r>
            <a:r>
              <a:rPr lang="en-US" b="0" dirty="0"/>
              <a:t> in action – the effect of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61796-3B26-71C4-8080-2593A6FED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pic>
        <p:nvPicPr>
          <p:cNvPr id="8" name="Picture 7" descr="A diagram of a diagram of a person's response&#10;&#10;AI-generated content may be incorrect.">
            <a:extLst>
              <a:ext uri="{FF2B5EF4-FFF2-40B4-BE49-F238E27FC236}">
                <a16:creationId xmlns:a16="http://schemas.microsoft.com/office/drawing/2014/main" id="{A64DD3FE-3E7A-4120-BB33-DA25D461F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70" y="2938254"/>
            <a:ext cx="7572660" cy="28784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D32AC1-5A87-E772-84C5-5E4031678C8A}"/>
              </a:ext>
            </a:extLst>
          </p:cNvPr>
          <p:cNvSpPr txBox="1"/>
          <p:nvPr/>
        </p:nvSpPr>
        <p:spPr>
          <a:xfrm>
            <a:off x="706705" y="1690689"/>
            <a:ext cx="8033883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078B9"/>
                </a:solidFill>
              </a:rPr>
              <a:t>Does addressing reviewers with “you” lead to more positive feedback?</a:t>
            </a:r>
          </a:p>
          <a:p>
            <a:pPr marL="400050" lvl="1" indent="-227013">
              <a:buFont typeface="Arial" panose="020B0604020202020204" pitchFamily="34" charset="0"/>
              <a:buChar char="•"/>
            </a:pPr>
            <a:r>
              <a:rPr lang="en-US" sz="2000" dirty="0"/>
              <a:t>“Thanks for your comments.”</a:t>
            </a:r>
          </a:p>
          <a:p>
            <a:pPr marL="400050" lvl="1" indent="-227013">
              <a:buFont typeface="Arial" panose="020B0604020202020204" pitchFamily="34" charset="0"/>
              <a:buChar char="•"/>
            </a:pPr>
            <a:r>
              <a:rPr lang="en-US" sz="2000" dirty="0"/>
              <a:t>“Thanks for this reviewer’s comments.”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EFAC86-74B2-05E6-08B2-7CDAEAD43F61}"/>
              </a:ext>
            </a:extLst>
          </p:cNvPr>
          <p:cNvSpPr txBox="1"/>
          <p:nvPr/>
        </p:nvSpPr>
        <p:spPr>
          <a:xfrm>
            <a:off x="3991149" y="6154320"/>
            <a:ext cx="42653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/>
              <a:t>Sun et al. </a:t>
            </a:r>
            <a:r>
              <a:rPr lang="en-US" sz="1600" i="1" dirty="0"/>
              <a:t>Nature Communications</a:t>
            </a:r>
            <a:r>
              <a:rPr lang="en-US" sz="1600" dirty="0"/>
              <a:t>, 2025.</a:t>
            </a:r>
          </a:p>
        </p:txBody>
      </p:sp>
    </p:spTree>
    <p:extLst>
      <p:ext uri="{BB962C8B-B14F-4D97-AF65-F5344CB8AC3E}">
        <p14:creationId xmlns:p14="http://schemas.microsoft.com/office/powerpoint/2010/main" val="1847087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E0C12-AD8B-DD1A-5D5A-B7CFC6BED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review&#10;&#10;AI-generated content may be incorrect.">
            <a:extLst>
              <a:ext uri="{FF2B5EF4-FFF2-40B4-BE49-F238E27FC236}">
                <a16:creationId xmlns:a16="http://schemas.microsoft.com/office/drawing/2014/main" id="{C19BA0C0-F1E6-A3BB-A923-1E3CEB84F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523" y="2902871"/>
            <a:ext cx="4685940" cy="32619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EE237A-EDA5-3F10-C397-E6C869A1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6" y="365126"/>
            <a:ext cx="8133949" cy="1325563"/>
          </a:xfrm>
        </p:spPr>
        <p:txBody>
          <a:bodyPr/>
          <a:lstStyle/>
          <a:p>
            <a:r>
              <a:rPr lang="en-US" b="0" dirty="0" err="1"/>
              <a:t>DiD</a:t>
            </a:r>
            <a:r>
              <a:rPr lang="en-US" b="0" dirty="0"/>
              <a:t> in action – the effect of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85DB7-6B2A-1210-196D-A182E6A57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0642B-63A6-4EC4-F0CC-0D64DC0A0977}"/>
              </a:ext>
            </a:extLst>
          </p:cNvPr>
          <p:cNvSpPr txBox="1"/>
          <p:nvPr/>
        </p:nvSpPr>
        <p:spPr>
          <a:xfrm>
            <a:off x="706705" y="1469035"/>
            <a:ext cx="8133949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078B9"/>
                </a:solidFill>
              </a:rPr>
              <a:t>Does addressing reviewers with “you” lead to more positive feedback?</a:t>
            </a:r>
          </a:p>
          <a:p>
            <a:pPr marL="400050" lvl="1" indent="-227013">
              <a:buFont typeface="Arial" panose="020B0604020202020204" pitchFamily="34" charset="0"/>
              <a:buChar char="•"/>
            </a:pPr>
            <a:r>
              <a:rPr lang="en-US" sz="2000" dirty="0"/>
              <a:t>Papers across two groups have different numbers of issues initially.</a:t>
            </a:r>
          </a:p>
          <a:p>
            <a:pPr marL="400050" lvl="1" indent="-227013">
              <a:buFont typeface="Arial" panose="020B0604020202020204" pitchFamily="34" charset="0"/>
              <a:buChar char="•"/>
            </a:pPr>
            <a:r>
              <a:rPr lang="en-US" sz="2000" dirty="0"/>
              <a:t>The num. of questions naturally drops over time.</a:t>
            </a:r>
          </a:p>
          <a:p>
            <a:pPr marL="400050" lvl="1" indent="-227013">
              <a:buFont typeface="Arial" panose="020B0604020202020204" pitchFamily="34" charset="0"/>
              <a:buChar char="•"/>
            </a:pPr>
            <a:r>
              <a:rPr lang="en-US" sz="2000" dirty="0"/>
              <a:t>How to visualize B1, B2, and B3 in the plot?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BB0262-D7D2-8C9B-FD9A-DAF185D65769}"/>
              </a:ext>
            </a:extLst>
          </p:cNvPr>
          <p:cNvSpPr txBox="1"/>
          <p:nvPr/>
        </p:nvSpPr>
        <p:spPr>
          <a:xfrm>
            <a:off x="844537" y="6187074"/>
            <a:ext cx="42653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/>
              <a:t>Sun et al. </a:t>
            </a:r>
            <a:r>
              <a:rPr lang="en-US" sz="1600" i="1" dirty="0"/>
              <a:t>Nature Communications</a:t>
            </a:r>
            <a:r>
              <a:rPr lang="en-US" sz="1600" dirty="0"/>
              <a:t>, 2025.</a:t>
            </a:r>
          </a:p>
        </p:txBody>
      </p:sp>
    </p:spTree>
    <p:extLst>
      <p:ext uri="{BB962C8B-B14F-4D97-AF65-F5344CB8AC3E}">
        <p14:creationId xmlns:p14="http://schemas.microsoft.com/office/powerpoint/2010/main" val="3732243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9F6F-6AEB-3551-A4E4-15B6E4928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AC54-BA3E-DD30-7C2B-9D5ED0A05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6" y="365126"/>
            <a:ext cx="8133949" cy="1325563"/>
          </a:xfrm>
        </p:spPr>
        <p:txBody>
          <a:bodyPr/>
          <a:lstStyle/>
          <a:p>
            <a:r>
              <a:rPr lang="en-US" b="0" dirty="0" err="1"/>
              <a:t>DiD</a:t>
            </a:r>
            <a:r>
              <a:rPr lang="en-US" b="0" dirty="0"/>
              <a:t> in action – the effect of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BEB69-129A-FE4A-7D37-E58966C72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040AB8-7A43-DE5C-866E-DEF80A2A4153}"/>
              </a:ext>
            </a:extLst>
          </p:cNvPr>
          <p:cNvSpPr txBox="1"/>
          <p:nvPr/>
        </p:nvSpPr>
        <p:spPr>
          <a:xfrm>
            <a:off x="706705" y="1690689"/>
            <a:ext cx="81339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78B9"/>
                </a:solidFill>
              </a:rPr>
              <a:t>Does addressing reviewers with “you” lead to more positive feedback?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25D00A-495E-E73B-57C1-F6703319E2B3}"/>
              </a:ext>
            </a:extLst>
          </p:cNvPr>
          <p:cNvSpPr txBox="1"/>
          <p:nvPr/>
        </p:nvSpPr>
        <p:spPr>
          <a:xfrm>
            <a:off x="3991149" y="6154320"/>
            <a:ext cx="42653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/>
              <a:t>Sun et al. </a:t>
            </a:r>
            <a:r>
              <a:rPr lang="en-US" sz="1600" i="1" dirty="0"/>
              <a:t>Nature Communications</a:t>
            </a:r>
            <a:r>
              <a:rPr lang="en-US" sz="1600" dirty="0"/>
              <a:t>, 2025.</a:t>
            </a:r>
          </a:p>
        </p:txBody>
      </p:sp>
      <p:pic>
        <p:nvPicPr>
          <p:cNvPr id="7" name="Picture 6" descr="A table with numbers and a number of questions&#10;&#10;AI-generated content may be incorrect.">
            <a:extLst>
              <a:ext uri="{FF2B5EF4-FFF2-40B4-BE49-F238E27FC236}">
                <a16:creationId xmlns:a16="http://schemas.microsoft.com/office/drawing/2014/main" id="{470235CB-5A5A-4991-F515-605F035BF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292830"/>
            <a:ext cx="5626100" cy="3378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7C3AFBC-77AD-B41F-6569-47CEC57AC435}"/>
              </a:ext>
            </a:extLst>
          </p:cNvPr>
          <p:cNvSpPr/>
          <p:nvPr/>
        </p:nvSpPr>
        <p:spPr>
          <a:xfrm>
            <a:off x="1473947" y="3223033"/>
            <a:ext cx="5626100" cy="54214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E85E54-E630-636E-B7BD-01DCF9C18539}"/>
              </a:ext>
            </a:extLst>
          </p:cNvPr>
          <p:cNvSpPr/>
          <p:nvPr/>
        </p:nvSpPr>
        <p:spPr>
          <a:xfrm>
            <a:off x="4990990" y="2691642"/>
            <a:ext cx="2223849" cy="3062568"/>
          </a:xfrm>
          <a:prstGeom prst="rect">
            <a:avLst/>
          </a:prstGeom>
          <a:noFill/>
          <a:ln w="38100">
            <a:solidFill>
              <a:srgbClr val="0078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17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117F1-63E6-C917-1F7D-8E2344229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EDE24-F680-4BDD-56B4-66379B508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 err="1"/>
              <a:t>DiD</a:t>
            </a:r>
            <a:r>
              <a:rPr lang="en-US" b="0" dirty="0"/>
              <a:t> (dis)advantages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5DE10-16CD-680E-BF2F-BD4D4E65E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7" y="1460659"/>
            <a:ext cx="8212006" cy="5278823"/>
          </a:xfrm>
        </p:spPr>
        <p:txBody>
          <a:bodyPr>
            <a:normAutofit/>
          </a:bodyPr>
          <a:lstStyle/>
          <a:p>
            <a:r>
              <a:rPr lang="en-US" sz="2400" dirty="0"/>
              <a:t>Advantages: </a:t>
            </a:r>
          </a:p>
          <a:p>
            <a:pPr lvl="1"/>
            <a:r>
              <a:rPr lang="en-US" sz="2000" dirty="0"/>
              <a:t>Controls for selection bias: It accounts for permanent, unobserved differences between groups that might otherwise skew results in a simple one-time comparison. Because it focuses on change not the absolute level, the groups do not need to be identical at the start.</a:t>
            </a:r>
          </a:p>
          <a:p>
            <a:pPr lvl="1"/>
            <a:r>
              <a:rPr lang="en-US" sz="2000" dirty="0"/>
              <a:t>Handles external shocks: By using a control group, it cancels out the effect of "common shocks" (e.g., a nationwide economic downturn) that affect both groups simultaneously.</a:t>
            </a:r>
          </a:p>
          <a:p>
            <a:r>
              <a:rPr lang="en-US" sz="2400" dirty="0"/>
              <a:t>Limitations:</a:t>
            </a:r>
          </a:p>
          <a:p>
            <a:pPr lvl="1"/>
            <a:r>
              <a:rPr lang="en-US" sz="2000" dirty="0"/>
              <a:t>Strict parallel trends assumption: The validity rests entirely on the assumption that, without the treatment, both groups would have followed the same trend over time. This is often difficult to prove.</a:t>
            </a:r>
          </a:p>
          <a:p>
            <a:pPr lvl="1"/>
            <a:r>
              <a:rPr lang="en-US" sz="2000" dirty="0"/>
              <a:t>While it handles fixed differences, it cannot account for unobserved factors that may affect only one group (e.g., a local factory closing in just the treatment city).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0368D-F129-5FD8-7A69-16A97E532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0180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FB6B5-E227-FE3B-FFEC-CA510FF6F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C7C5C-97F8-A183-1BF8-060DBC0D1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7886700" cy="1325563"/>
          </a:xfrm>
        </p:spPr>
        <p:txBody>
          <a:bodyPr/>
          <a:lstStyle/>
          <a:p>
            <a:r>
              <a:rPr lang="en-US" b="0" dirty="0"/>
              <a:t>Design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96DBB-806E-1126-6B32-4864D5683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7" y="1690689"/>
            <a:ext cx="821200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Which method could be used to estimate the causal effect of AI-generated posts on user engagement metrics on </a:t>
            </a:r>
            <a:r>
              <a:rPr lang="en-US" sz="2400" dirty="0" err="1"/>
              <a:t>RedNote</a:t>
            </a:r>
            <a:r>
              <a:rPr lang="en-US" sz="2400" dirty="0"/>
              <a:t>?</a:t>
            </a:r>
          </a:p>
          <a:p>
            <a:r>
              <a:rPr lang="en-US" sz="2400" dirty="0" err="1"/>
              <a:t>DiD</a:t>
            </a:r>
            <a:endParaRPr lang="en-US" sz="2400" dirty="0"/>
          </a:p>
          <a:p>
            <a:r>
              <a:rPr lang="en-US" sz="2400" dirty="0"/>
              <a:t>PSM</a:t>
            </a:r>
          </a:p>
          <a:p>
            <a:r>
              <a:rPr lang="en-US" sz="2400" dirty="0"/>
              <a:t>CEM</a:t>
            </a:r>
          </a:p>
          <a:p>
            <a:r>
              <a:rPr lang="en-US" sz="2400" dirty="0">
                <a:solidFill>
                  <a:srgbClr val="C00000"/>
                </a:solidFill>
              </a:rPr>
              <a:t>Why?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F25BA-D0C1-252A-5E61-832518035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85917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1825A-B3E7-AD6B-5F12-47FF3688C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76321-1C89-EE6A-18B5-EEB8254C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8212006" cy="1325563"/>
          </a:xfrm>
        </p:spPr>
        <p:txBody>
          <a:bodyPr/>
          <a:lstStyle/>
          <a:p>
            <a:r>
              <a:rPr lang="en-US" b="0" dirty="0"/>
              <a:t>Mediation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0B527-C7B8-6008-8698-5FA69A9E5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7" y="1690689"/>
            <a:ext cx="8212006" cy="43513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8B9"/>
                </a:solidFill>
              </a:rPr>
              <a:t>Mediation: examines how the treatment affects the outcome through an intermediate variable (called “mediator”).</a:t>
            </a:r>
          </a:p>
          <a:p>
            <a:r>
              <a:rPr lang="en-US" sz="2400" dirty="0"/>
              <a:t>It helps to answer "why" or "how" questions.</a:t>
            </a:r>
          </a:p>
          <a:p>
            <a:pPr lvl="1"/>
            <a:r>
              <a:rPr lang="en-US" sz="2000" dirty="0"/>
              <a:t>e.g., education → job via “skills”</a:t>
            </a:r>
          </a:p>
          <a:p>
            <a:pPr lvl="1"/>
            <a:r>
              <a:rPr lang="en-US" sz="2000" dirty="0"/>
              <a:t>WE → Paper Rating via “perceived credibility”</a:t>
            </a:r>
            <a:endParaRPr lang="en-US" sz="2400" dirty="0"/>
          </a:p>
          <a:p>
            <a:r>
              <a:rPr lang="en-US" sz="2400" dirty="0"/>
              <a:t>What factors could be considered as mediators (M)?</a:t>
            </a:r>
          </a:p>
          <a:p>
            <a:pPr lvl="1"/>
            <a:r>
              <a:rPr lang="en-US" sz="2000" dirty="0"/>
              <a:t>Hidden variables not directly observable</a:t>
            </a:r>
          </a:p>
          <a:p>
            <a:r>
              <a:rPr lang="en-US" sz="2400" dirty="0"/>
              <a:t>Decomposes total effect into direct and indirect effects.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0B89B-0AF0-1F77-0606-EE02D1400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3162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71F47-8026-AB5A-96C1-84461FB16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Mediation (statistics) - Wikipedia">
            <a:extLst>
              <a:ext uri="{FF2B5EF4-FFF2-40B4-BE49-F238E27FC236}">
                <a16:creationId xmlns:a16="http://schemas.microsoft.com/office/drawing/2014/main" id="{3B20151C-1DF6-D3EB-892A-F761351E2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713" y="4201320"/>
            <a:ext cx="4572000" cy="199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31FFD8-AF9A-EEF7-00BD-240F3F6B2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8212006" cy="1325563"/>
          </a:xfrm>
        </p:spPr>
        <p:txBody>
          <a:bodyPr/>
          <a:lstStyle/>
          <a:p>
            <a:r>
              <a:rPr lang="en-US" b="0" dirty="0"/>
              <a:t>How mediation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099D7-9C82-B69D-9AC0-1F5F91D2E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160" y="1423065"/>
            <a:ext cx="8212006" cy="4351338"/>
          </a:xfrm>
        </p:spPr>
        <p:txBody>
          <a:bodyPr>
            <a:normAutofit/>
          </a:bodyPr>
          <a:lstStyle/>
          <a:p>
            <a:r>
              <a:rPr lang="en-US" sz="2400" dirty="0"/>
              <a:t>Step 1: X (or IV) on Y (</a:t>
            </a:r>
            <a:r>
              <a:rPr lang="en-US" sz="2400" dirty="0">
                <a:solidFill>
                  <a:srgbClr val="0078B9"/>
                </a:solidFill>
              </a:rPr>
              <a:t>Y = </a:t>
            </a:r>
            <a:r>
              <a:rPr lang="en-US" sz="2400" dirty="0" err="1">
                <a:solidFill>
                  <a:srgbClr val="0078B9"/>
                </a:solidFill>
              </a:rPr>
              <a:t>cX</a:t>
            </a:r>
            <a:r>
              <a:rPr lang="en-US" sz="2400" dirty="0">
                <a:solidFill>
                  <a:srgbClr val="0078B9"/>
                </a:solidFill>
              </a:rPr>
              <a:t> + e</a:t>
            </a:r>
            <a:r>
              <a:rPr lang="en-US" sz="2400" dirty="0"/>
              <a:t>)</a:t>
            </a:r>
          </a:p>
          <a:p>
            <a:r>
              <a:rPr lang="en-US" sz="2400" dirty="0"/>
              <a:t>Step 2: X on M (</a:t>
            </a:r>
            <a:r>
              <a:rPr lang="en-US" sz="2400" dirty="0">
                <a:solidFill>
                  <a:srgbClr val="0078B9"/>
                </a:solidFill>
              </a:rPr>
              <a:t>M = </a:t>
            </a:r>
            <a:r>
              <a:rPr lang="en-US" sz="2400" dirty="0" err="1">
                <a:solidFill>
                  <a:srgbClr val="0078B9"/>
                </a:solidFill>
              </a:rPr>
              <a:t>aX</a:t>
            </a:r>
            <a:r>
              <a:rPr lang="en-US" sz="2400" dirty="0">
                <a:solidFill>
                  <a:srgbClr val="0078B9"/>
                </a:solidFill>
              </a:rPr>
              <a:t> + e</a:t>
            </a:r>
            <a:r>
              <a:rPr lang="en-US" sz="2400" dirty="0"/>
              <a:t>)</a:t>
            </a:r>
          </a:p>
          <a:p>
            <a:r>
              <a:rPr lang="en-US" sz="2400" dirty="0"/>
              <a:t>Step 3: M on Y controlling for X (</a:t>
            </a:r>
            <a:r>
              <a:rPr lang="en-US" sz="2400" dirty="0">
                <a:solidFill>
                  <a:srgbClr val="0078B9"/>
                </a:solidFill>
              </a:rPr>
              <a:t>Y = </a:t>
            </a:r>
            <a:r>
              <a:rPr lang="en-US" sz="2400" dirty="0" err="1">
                <a:solidFill>
                  <a:srgbClr val="0078B9"/>
                </a:solidFill>
              </a:rPr>
              <a:t>c'X</a:t>
            </a:r>
            <a:r>
              <a:rPr lang="en-US" sz="2400" dirty="0">
                <a:solidFill>
                  <a:srgbClr val="0078B9"/>
                </a:solidFill>
              </a:rPr>
              <a:t> + </a:t>
            </a:r>
            <a:r>
              <a:rPr lang="en-US" sz="2400" dirty="0" err="1">
                <a:solidFill>
                  <a:srgbClr val="0078B9"/>
                </a:solidFill>
              </a:rPr>
              <a:t>bM</a:t>
            </a:r>
            <a:r>
              <a:rPr lang="en-US" sz="2400" dirty="0">
                <a:solidFill>
                  <a:srgbClr val="0078B9"/>
                </a:solidFill>
              </a:rPr>
              <a:t> + e</a:t>
            </a:r>
            <a:r>
              <a:rPr lang="en-US" sz="2400" dirty="0"/>
              <a:t>).</a:t>
            </a:r>
          </a:p>
          <a:p>
            <a:r>
              <a:rPr lang="en-US" sz="2400" dirty="0">
                <a:solidFill>
                  <a:srgbClr val="0078B9"/>
                </a:solidFill>
              </a:rPr>
              <a:t>Total effect = c, which can be decomposed into two parts:</a:t>
            </a:r>
          </a:p>
          <a:p>
            <a:pPr lvl="1"/>
            <a:r>
              <a:rPr lang="en-US" sz="2000" dirty="0"/>
              <a:t>Direct effect = c’ (or net effect)</a:t>
            </a:r>
          </a:p>
          <a:p>
            <a:pPr lvl="1"/>
            <a:r>
              <a:rPr lang="en-US" sz="2000" dirty="0"/>
              <a:t>Indirect effect = a*b (Product of two paths)</a:t>
            </a:r>
          </a:p>
          <a:p>
            <a:r>
              <a:rPr lang="en-US" sz="2400" u="sng" dirty="0"/>
              <a:t>Add control variables in all three models.</a:t>
            </a:r>
          </a:p>
          <a:p>
            <a:r>
              <a:rPr lang="en-US" sz="2400" dirty="0"/>
              <a:t>R package: </a:t>
            </a:r>
            <a:r>
              <a:rPr lang="en-US" sz="2400" i="1" dirty="0"/>
              <a:t>Process()</a:t>
            </a:r>
            <a:r>
              <a:rPr lang="en-US" sz="2400" dirty="0"/>
              <a:t> or </a:t>
            </a:r>
            <a:r>
              <a:rPr lang="en-US" sz="2400" i="1" dirty="0"/>
              <a:t>mediation()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9E4C9-1769-6F9C-FFF8-5E05C359B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72803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FC05D-E512-8ABB-3DAA-53CAE1DB4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Partial and complete mediation in path analysis in Jamovi">
            <a:extLst>
              <a:ext uri="{FF2B5EF4-FFF2-40B4-BE49-F238E27FC236}">
                <a16:creationId xmlns:a16="http://schemas.microsoft.com/office/drawing/2014/main" id="{F2EE964A-78FB-3122-988A-4BF25A10C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820" y="3310058"/>
            <a:ext cx="6134473" cy="3451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883FF0-AC91-6DA8-A990-F575C2AAB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8212006" cy="1325563"/>
          </a:xfrm>
        </p:spPr>
        <p:txBody>
          <a:bodyPr/>
          <a:lstStyle/>
          <a:p>
            <a:r>
              <a:rPr lang="en-US" b="0" dirty="0"/>
              <a:t>Quantifying explainability of 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49107-8E28-0826-B4E7-D782E0549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0060BB0-28E7-0934-027B-AFB6B95E7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7" y="1650348"/>
            <a:ext cx="8212006" cy="4351338"/>
          </a:xfrm>
        </p:spPr>
        <p:txBody>
          <a:bodyPr>
            <a:normAutofit/>
          </a:bodyPr>
          <a:lstStyle/>
          <a:p>
            <a:r>
              <a:rPr lang="en-US" sz="2400" dirty="0"/>
              <a:t>A mediator may fully explain the total effect</a:t>
            </a:r>
          </a:p>
          <a:p>
            <a:pPr lvl="1"/>
            <a:r>
              <a:rPr lang="en-US" sz="2000" dirty="0"/>
              <a:t>What does the coefficient and p-value look like?</a:t>
            </a:r>
            <a:endParaRPr lang="en-US" sz="2400" dirty="0"/>
          </a:p>
          <a:p>
            <a:r>
              <a:rPr lang="en-US" sz="2400" dirty="0"/>
              <a:t>A mediator may only partly explain the total effect</a:t>
            </a:r>
          </a:p>
          <a:p>
            <a:pPr lvl="1"/>
            <a:r>
              <a:rPr lang="en-US" sz="2000" dirty="0"/>
              <a:t>How to quantify the size of its contribution?</a:t>
            </a:r>
          </a:p>
        </p:txBody>
      </p:sp>
    </p:spTree>
    <p:extLst>
      <p:ext uri="{BB962C8B-B14F-4D97-AF65-F5344CB8AC3E}">
        <p14:creationId xmlns:p14="http://schemas.microsoft.com/office/powerpoint/2010/main" val="29974963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CA0E0-6DF7-84B4-6BDB-F240976E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9609C-816A-C36A-E9E7-332CD8AD0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8212006" cy="1325563"/>
          </a:xfrm>
        </p:spPr>
        <p:txBody>
          <a:bodyPr/>
          <a:lstStyle/>
          <a:p>
            <a:r>
              <a:rPr lang="en-US" b="0" dirty="0"/>
              <a:t>Mediation exercise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F5F9E-2E3A-31A1-AE80-AF9C3B43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E1EE2D-2A8A-C542-23E9-A6B787CA8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7" y="1465405"/>
            <a:ext cx="8212006" cy="4351338"/>
          </a:xfrm>
        </p:spPr>
        <p:txBody>
          <a:bodyPr>
            <a:normAutofit/>
          </a:bodyPr>
          <a:lstStyle/>
          <a:p>
            <a:r>
              <a:rPr lang="en-US" sz="2400" dirty="0"/>
              <a:t>What are the three effect sizes?</a:t>
            </a:r>
          </a:p>
          <a:p>
            <a:r>
              <a:rPr lang="en-US" sz="2400" dirty="0"/>
              <a:t>Is the mediation effect full or partial?</a:t>
            </a:r>
          </a:p>
          <a:p>
            <a:r>
              <a:rPr lang="en-US" sz="2400" dirty="0"/>
              <a:t>What proportion of total effect can be explained by M?</a:t>
            </a:r>
          </a:p>
          <a:p>
            <a:r>
              <a:rPr lang="en-US" sz="2400" dirty="0">
                <a:solidFill>
                  <a:srgbClr val="C00000"/>
                </a:solidFill>
              </a:rPr>
              <a:t>What if we want to test multiple mediators at the same time?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802A5DE-2459-B0F5-651A-0C2D5B4AD28C}"/>
              </a:ext>
            </a:extLst>
          </p:cNvPr>
          <p:cNvGrpSpPr/>
          <p:nvPr/>
        </p:nvGrpSpPr>
        <p:grpSpPr>
          <a:xfrm>
            <a:off x="1033670" y="3359052"/>
            <a:ext cx="6738730" cy="2803382"/>
            <a:chOff x="1033670" y="2895228"/>
            <a:chExt cx="6738730" cy="2803382"/>
          </a:xfrm>
        </p:grpSpPr>
        <p:pic>
          <p:nvPicPr>
            <p:cNvPr id="31750" name="Picture 6" descr="Different Effects of Perceived Social Support on the Relationship between  Perceived Stress and Depression among University Students with Borderline  Personality Disorder Symptoms: A Multigroup Mediation Analysis">
              <a:extLst>
                <a:ext uri="{FF2B5EF4-FFF2-40B4-BE49-F238E27FC236}">
                  <a16:creationId xmlns:a16="http://schemas.microsoft.com/office/drawing/2014/main" id="{544A23EE-2E53-939D-E052-B3BB63F137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539" y="2895228"/>
              <a:ext cx="6636861" cy="28033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83DC07-B296-2E63-F0DF-1CFD9329E688}"/>
                </a:ext>
              </a:extLst>
            </p:cNvPr>
            <p:cNvSpPr/>
            <p:nvPr/>
          </p:nvSpPr>
          <p:spPr>
            <a:xfrm>
              <a:off x="1033670" y="2895228"/>
              <a:ext cx="1524000" cy="2455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532538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6FC13-1894-C9A2-E6A6-ED2CD348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BEFAF-4C64-4E6B-4366-5A1607C4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8212006" cy="1325563"/>
          </a:xfrm>
        </p:spPr>
        <p:txBody>
          <a:bodyPr/>
          <a:lstStyle/>
          <a:p>
            <a:r>
              <a:rPr lang="en-US" b="0" dirty="0"/>
              <a:t>Mediation exercise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C51B0-2372-EC3B-6E7F-0F58E4F2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F36E4BE-8828-ACF9-FFBC-9D0C386EB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7" y="1385893"/>
            <a:ext cx="7730586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If we find that men PI have received larger amounts of funding than women PI in research grant applications.</a:t>
            </a:r>
          </a:p>
          <a:p>
            <a:r>
              <a:rPr lang="en-US" sz="2400" dirty="0"/>
              <a:t>What could be potential mediators? How to test it?</a:t>
            </a:r>
          </a:p>
          <a:p>
            <a:r>
              <a:rPr lang="en-US" sz="2400" dirty="0">
                <a:solidFill>
                  <a:srgbClr val="C00000"/>
                </a:solidFill>
              </a:rPr>
              <a:t>Plot the path diagram with </a:t>
            </a:r>
            <a:r>
              <a:rPr lang="en-US" sz="2400" dirty="0" err="1">
                <a:solidFill>
                  <a:srgbClr val="C00000"/>
                </a:solidFill>
              </a:rPr>
              <a:t>coeff</a:t>
            </a:r>
            <a:r>
              <a:rPr lang="en-US" sz="2400" dirty="0">
                <a:solidFill>
                  <a:srgbClr val="C00000"/>
                </a:solidFill>
              </a:rPr>
              <a:t> and p-value.</a:t>
            </a:r>
          </a:p>
        </p:txBody>
      </p:sp>
      <p:pic>
        <p:nvPicPr>
          <p:cNvPr id="5" name="Picture 4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8639B905-BFBE-3F24-C21A-35D88A9A9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704" y="3165362"/>
            <a:ext cx="5973694" cy="318174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8C07A3-8554-45DD-D202-79ECED42684F}"/>
              </a:ext>
            </a:extLst>
          </p:cNvPr>
          <p:cNvSpPr/>
          <p:nvPr/>
        </p:nvSpPr>
        <p:spPr>
          <a:xfrm>
            <a:off x="1467225" y="3765700"/>
            <a:ext cx="6006172" cy="54214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D4E340-CEB8-18F9-D215-048D6BC26770}"/>
              </a:ext>
            </a:extLst>
          </p:cNvPr>
          <p:cNvSpPr/>
          <p:nvPr/>
        </p:nvSpPr>
        <p:spPr>
          <a:xfrm>
            <a:off x="1467224" y="4317093"/>
            <a:ext cx="6006172" cy="2020476"/>
          </a:xfrm>
          <a:prstGeom prst="rect">
            <a:avLst/>
          </a:prstGeom>
          <a:noFill/>
          <a:ln w="38100">
            <a:solidFill>
              <a:srgbClr val="0078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836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0A70E-85A8-B635-0679-41820973F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3F8F9-F4BF-4E7B-88B8-9EB2136C2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7" y="365126"/>
            <a:ext cx="8259872" cy="1325563"/>
          </a:xfrm>
        </p:spPr>
        <p:txBody>
          <a:bodyPr>
            <a:normAutofit/>
          </a:bodyPr>
          <a:lstStyle/>
          <a:p>
            <a:r>
              <a:rPr lang="en-US" b="0" dirty="0">
                <a:effectLst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CB1B6-3072-C0F4-B4AF-22BC9218A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06" y="1613686"/>
            <a:ext cx="8259871" cy="4665662"/>
          </a:xfrm>
        </p:spPr>
        <p:txBody>
          <a:bodyPr>
            <a:normAutofit/>
          </a:bodyPr>
          <a:lstStyle/>
          <a:p>
            <a:r>
              <a:rPr lang="en-US" sz="2400" dirty="0"/>
              <a:t>CEM/PSM for matching</a:t>
            </a:r>
          </a:p>
          <a:p>
            <a:r>
              <a:rPr lang="en-US" sz="2400" dirty="0" err="1"/>
              <a:t>DiD</a:t>
            </a:r>
            <a:r>
              <a:rPr lang="en-US" sz="2400" dirty="0"/>
              <a:t> for treatment effect with a temporal change</a:t>
            </a:r>
          </a:p>
          <a:p>
            <a:r>
              <a:rPr lang="en-US" sz="2400" dirty="0"/>
              <a:t>Mediation for exploring underlying mechanisms</a:t>
            </a:r>
          </a:p>
          <a:p>
            <a:r>
              <a:rPr lang="en-US" sz="2400" dirty="0"/>
              <a:t>Applications: Policy, health, economics, etc.</a:t>
            </a:r>
          </a:p>
          <a:p>
            <a:r>
              <a:rPr lang="en-US" sz="2400" dirty="0"/>
              <a:t>Tutorial: Practice with the ICLR dataset</a:t>
            </a:r>
          </a:p>
          <a:p>
            <a:pPr lvl="1"/>
            <a:r>
              <a:rPr lang="en-US" sz="2000" dirty="0"/>
              <a:t>Causal mediation analysis of WE on perceived paper quality</a:t>
            </a:r>
          </a:p>
          <a:p>
            <a:pPr lvl="1"/>
            <a:r>
              <a:rPr lang="en-US" sz="2000" dirty="0"/>
              <a:t>LLM quality rating: Original abstracts vs. “Without-WE” replicas</a:t>
            </a:r>
          </a:p>
          <a:p>
            <a:pPr lvl="1"/>
            <a:r>
              <a:rPr lang="en-US" sz="2000" dirty="0"/>
              <a:t>LLM ratings on four psychological dimensions (mediators)</a:t>
            </a:r>
          </a:p>
          <a:p>
            <a:pPr lvl="1"/>
            <a:r>
              <a:rPr lang="en-US" sz="2000" dirty="0"/>
              <a:t>How to do parallel mediation analysis in R?</a:t>
            </a: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C28B1-CD83-578F-A7FC-A85302C6B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FA791-3060-7643-8677-86D470F575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12410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FB86EBA-A005-0E17-7EC8-8B9FCC142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Course note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978717-5A6B-4A08-A1BC-E854F83FB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623782"/>
            <a:ext cx="8303477" cy="480218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HW2 due on Mar 16</a:t>
            </a:r>
          </a:p>
          <a:p>
            <a:pPr lvl="1"/>
            <a:r>
              <a:rPr lang="en-US" sz="2000" b="1" dirty="0">
                <a:solidFill>
                  <a:srgbClr val="C00000"/>
                </a:solidFill>
              </a:rPr>
              <a:t>Print out results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by executing your code</a:t>
            </a:r>
          </a:p>
          <a:p>
            <a:pPr lvl="1"/>
            <a:r>
              <a:rPr lang="en-US" sz="2000" b="1" dirty="0">
                <a:solidFill>
                  <a:srgbClr val="C00000"/>
                </a:solidFill>
              </a:rPr>
              <a:t>Export / submit your homework as a html file</a:t>
            </a:r>
          </a:p>
          <a:p>
            <a:r>
              <a:rPr lang="en-US" sz="2400" dirty="0">
                <a:solidFill>
                  <a:srgbClr val="0078B9"/>
                </a:solidFill>
              </a:rPr>
              <a:t>Algorithmic society </a:t>
            </a:r>
            <a:r>
              <a:rPr lang="en-US" altLang="zh-CN" sz="2400" dirty="0">
                <a:solidFill>
                  <a:srgbClr val="0078B9"/>
                </a:solidFill>
              </a:rPr>
              <a:t>next</a:t>
            </a:r>
            <a:r>
              <a:rPr lang="zh-CN" altLang="en-US" sz="2400" dirty="0">
                <a:solidFill>
                  <a:srgbClr val="0078B9"/>
                </a:solidFill>
              </a:rPr>
              <a:t> </a:t>
            </a:r>
            <a:r>
              <a:rPr lang="en-US" altLang="zh-CN" sz="2400" dirty="0">
                <a:solidFill>
                  <a:srgbClr val="0078B9"/>
                </a:solidFill>
              </a:rPr>
              <a:t>wee</a:t>
            </a:r>
            <a:r>
              <a:rPr lang="en-US" sz="2400" dirty="0">
                <a:solidFill>
                  <a:srgbClr val="0078B9"/>
                </a:solidFill>
              </a:rPr>
              <a:t>k</a:t>
            </a:r>
          </a:p>
          <a:p>
            <a:pPr lvl="1"/>
            <a:r>
              <a:rPr lang="en-US" sz="2000" dirty="0"/>
              <a:t>Agent based modeling</a:t>
            </a:r>
          </a:p>
          <a:p>
            <a:pPr lvl="1"/>
            <a:r>
              <a:rPr lang="en-US" sz="2000" dirty="0"/>
              <a:t>Social simulation / computing</a:t>
            </a:r>
          </a:p>
          <a:p>
            <a:pPr lvl="1"/>
            <a:r>
              <a:rPr lang="en-US" sz="2000" dirty="0"/>
              <a:t>HW3 will be released next week</a:t>
            </a:r>
            <a:endParaRPr lang="en-US" sz="2000" dirty="0">
              <a:solidFill>
                <a:srgbClr val="C00000"/>
              </a:solidFill>
            </a:endParaRPr>
          </a:p>
          <a:p>
            <a:r>
              <a:rPr lang="en-US" sz="2400" dirty="0"/>
              <a:t>No free-rider for group project</a:t>
            </a:r>
          </a:p>
          <a:p>
            <a:pPr lvl="1"/>
            <a:r>
              <a:rPr lang="en-US" sz="2000" dirty="0">
                <a:solidFill>
                  <a:srgbClr val="0078B9"/>
                </a:solidFill>
              </a:rPr>
              <a:t>Can’t replace it with an individual one</a:t>
            </a:r>
          </a:p>
          <a:p>
            <a:pPr lvl="1"/>
            <a:r>
              <a:rPr lang="en-US" sz="2000" dirty="0"/>
              <a:t>Contributions are not limited to coding</a:t>
            </a:r>
            <a:r>
              <a:rPr lang="en-US" sz="2000" dirty="0">
                <a:solidFill>
                  <a:srgbClr val="0078B9"/>
                </a:solidFill>
              </a:rPr>
              <a:t>: writing, presentation, etc.</a:t>
            </a:r>
          </a:p>
          <a:p>
            <a:pPr lvl="1"/>
            <a:endParaRPr lang="en-US" sz="2000" dirty="0">
              <a:solidFill>
                <a:srgbClr val="0078B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hang" id="{16B57925-4BF1-1F47-9CC9-F9B8FF84AD2B}" vid="{9FDA24BC-AEBA-8448-BDDE-8ACFED3938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5582</TotalTime>
  <Words>2440</Words>
  <Application>Microsoft Macintosh PowerPoint</Application>
  <PresentationFormat>On-screen Show (4:3)</PresentationFormat>
  <Paragraphs>325</Paragraphs>
  <Slides>33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LM Sans 12</vt:lpstr>
      <vt:lpstr>Abadi MT Condensed Extra Bold</vt:lpstr>
      <vt:lpstr>Abadi MT Condensed Light</vt:lpstr>
      <vt:lpstr>Arial</vt:lpstr>
      <vt:lpstr>Calibri</vt:lpstr>
      <vt:lpstr>Office Theme</vt:lpstr>
      <vt:lpstr>SDSC 2005 - Introduction to Computational Social Science  (Lecture 8)</vt:lpstr>
      <vt:lpstr>Agenda today</vt:lpstr>
      <vt:lpstr>What is Causal Inference?</vt:lpstr>
      <vt:lpstr>Applications of causal analysis</vt:lpstr>
      <vt:lpstr>Daily causal questions</vt:lpstr>
      <vt:lpstr>Why these methods?</vt:lpstr>
      <vt:lpstr>Coarsened exact matching (CEM)</vt:lpstr>
      <vt:lpstr>Coarsened exact matching (CEM)</vt:lpstr>
      <vt:lpstr>CEM Example</vt:lpstr>
      <vt:lpstr>CEM in practice</vt:lpstr>
      <vt:lpstr>CEM (dis)advantages</vt:lpstr>
      <vt:lpstr>Propensity Score Matching (PSM)</vt:lpstr>
      <vt:lpstr>Step 1: Predict propensity scores</vt:lpstr>
      <vt:lpstr>Step 2: Matching on scores</vt:lpstr>
      <vt:lpstr>Step 3: Quantify ATE</vt:lpstr>
      <vt:lpstr>PSM in practice</vt:lpstr>
      <vt:lpstr>PSM (dis)advantages</vt:lpstr>
      <vt:lpstr>Difference-in-Differences (DiD)</vt:lpstr>
      <vt:lpstr>How does DiD work?</vt:lpstr>
      <vt:lpstr>Difference-in-Differences (DiD)</vt:lpstr>
      <vt:lpstr>DiD - Basic model</vt:lpstr>
      <vt:lpstr>DiD in action – the effect of YOU</vt:lpstr>
      <vt:lpstr>DiD in action – the effect of YOU</vt:lpstr>
      <vt:lpstr>DiD in action – the effect of YOU</vt:lpstr>
      <vt:lpstr>DiD (dis)advantages</vt:lpstr>
      <vt:lpstr>Design exercise</vt:lpstr>
      <vt:lpstr>Mediation Analysis</vt:lpstr>
      <vt:lpstr>How mediation works</vt:lpstr>
      <vt:lpstr>Quantifying explainability of M</vt:lpstr>
      <vt:lpstr>Mediation exercise 1</vt:lpstr>
      <vt:lpstr>Mediation exercise 2</vt:lpstr>
      <vt:lpstr>Summary</vt:lpstr>
      <vt:lpstr>Course note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SEEM4112 Computing Methods in Data Analytics 1. Introduction</dc:title>
  <dc:creator>Q Z</dc:creator>
  <cp:lastModifiedBy>Prof. PENG Hao</cp:lastModifiedBy>
  <cp:revision>262</cp:revision>
  <dcterms:created xsi:type="dcterms:W3CDTF">2019-01-16T16:49:18Z</dcterms:created>
  <dcterms:modified xsi:type="dcterms:W3CDTF">2026-03-09T04:39:11Z</dcterms:modified>
</cp:coreProperties>
</file>